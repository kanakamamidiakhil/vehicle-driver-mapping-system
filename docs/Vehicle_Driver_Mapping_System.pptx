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complete web platform for mapping drivers to vehicles over time, built with Spring Boot, Angular and PostgreSQL, plus an AI assistant that runs on our own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parts: problem, solution, design, the AI layer, quality, deployment and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pain points. Each one maps to a feature: overlap rules, the AI assistant, and the driver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The rest of the talk shows how each was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kinds of user. Admins manage the fleet, drivers respond to requests, and anyone can ask the AI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only talks to the Spring Boot API. The API owns all data access through JPA. For AI questions, the API sends the question and tool definitions to Ollama; the model replies with tool calls, which the API executes and sends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open source and free to run. Java 21 and Spring Boot 4 for a robust API; Angular for a typed single-page app; PostgreSQL for integrity; Ollama to host the language model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assignment links one driver and one vehicle for a time window. Uniqueness, the time-window check and the allowed statuses are enforced by PostgreSQL itself, not just by Java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Overlap is checked with a query: start &lt; other.end and end &gt; other.start, against accepted assignments only. A clash returns HTTP 409 with a clear message, e.g. 'Vehicle TS 09 AB 1234 is already assigned between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three layers. Services are transactional; read operations run read-only. Errors are mapped centrally so the frontend can show exact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endpoints speak JSON. Request bodies are validated with Bean Validation annotations; dates use ISO-8601 local date-times.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UI is a single-page app. During development the Angular dev server proxies /api to Spring Boot; in production nginx does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deliberately did not use a hosted chatbot API. The model (Llama 3.2 or Qwen 2.5) runs inside our deployment through Ollama.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pattern is called tool or function calling. The model never writes SQL. It can only choose one of our five tools, and the Java code decides what data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tool is a Java method with a JSON schema description. The same tools also power the rule-based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are exactly the questions from the brief. Note the fleet has two Altos; giving the plate picks the right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Resilience matters for a demo and in production: the page never shows a blank error because the model is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 one open item: admin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run on an in-memory H2 database in PostgreSQL mode with a fixed clock, so time-based answers are deterministic. GitHub Actions runs the backend tests and a production frontend build on every pull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containers run everywhere. On the free Oracle VM, the database password is generated on the server and never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same app works on a phone: open the deployed link during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most interesting problems we hit and the decisions they led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from the codebase. Everything runs on free, open-source software and free cloud hosting.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authentication is the first priority before any public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repository and live link on screen during questions. Demo logins: ravi@fleet.com / driver123.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3A"/>
        </a:solidFill>
      </p:bgPr>
    </p:bg>
    <p:spTree>
      <p:nvGrpSpPr>
        <p:cNvPr id="1" name=""/>
        <p:cNvGrpSpPr/>
        <p:nvPr/>
      </p:nvGrpSpPr>
      <p:grpSpPr>
        <a:xfrm>
          <a:off x="0" y="0"/>
          <a:ext cx="0" cy="0"/>
          <a:chOff x="0" y="0"/>
          <a:chExt cx="0" cy="0"/>
        </a:xfrm>
      </p:grpSpPr>
      <p:sp>
        <p:nvSpPr>
          <p:cNvPr id="2" name="Shape 0"/>
          <p:cNvSpPr/>
          <p:nvPr/>
        </p:nvSpPr>
        <p:spPr>
          <a:xfrm>
            <a:off x="548640" y="731520"/>
            <a:ext cx="822960" cy="822960"/>
          </a:xfrm>
          <a:prstGeom prst="ellipse">
            <a:avLst/>
          </a:prstGeom>
          <a:solidFill>
            <a:srgbClr val="F2A541"/>
          </a:solidFill>
          <a:ln w="12700">
            <a:solidFill>
              <a:srgbClr val="F2A541"/>
            </a:solidFill>
            <a:prstDash val="solid"/>
          </a:ln>
        </p:spPr>
      </p:sp>
      <p:pic>
        <p:nvPicPr>
          <p:cNvPr id="3" name="Image 0" descr="preencoded.png">    </p:cNvPr>
          <p:cNvPicPr>
            <a:picLocks noChangeAspect="1"/>
          </p:cNvPicPr>
          <p:nvPr/>
        </p:nvPicPr>
        <p:blipFill>
          <a:blip r:embed="rId1"/>
          <a:stretch>
            <a:fillRect/>
          </a:stretch>
        </p:blipFill>
        <p:spPr>
          <a:xfrm>
            <a:off x="754380" y="937260"/>
            <a:ext cx="411480" cy="411480"/>
          </a:xfrm>
          <a:prstGeom prst="rect">
            <a:avLst/>
          </a:prstGeom>
        </p:spPr>
      </p:pic>
      <p:sp>
        <p:nvSpPr>
          <p:cNvPr id="4" name="Text 1"/>
          <p:cNvSpPr txBox="1"/>
          <p:nvPr/>
        </p:nvSpPr>
        <p:spPr>
          <a:xfrm>
            <a:off x="1600200" y="960120"/>
            <a:ext cx="5486400" cy="365760"/>
          </a:xfrm>
          <a:prstGeom prst="rect">
            <a:avLst/>
          </a:prstGeom>
          <a:noFill/>
          <a:ln/>
        </p:spPr>
        <p:txBody>
          <a:bodyPr wrap="square" lIns="0" tIns="0" rIns="0" bIns="0" rtlCol="0" anchor="ctr"/>
          <a:lstStyle/>
          <a:p>
            <a:pPr indent="0" marL="0">
              <a:buNone/>
            </a:pPr>
            <a:r>
              <a:rPr lang="en-US" sz="1400" b="1" spc="400" kern="0" dirty="0">
                <a:solidFill>
                  <a:srgbClr val="F2A541"/>
                </a:solidFill>
                <a:latin typeface="Calibri" pitchFamily="34" charset="0"/>
                <a:ea typeface="Calibri" pitchFamily="34" charset="-122"/>
                <a:cs typeface="Calibri" pitchFamily="34" charset="-120"/>
              </a:rPr>
              <a:t>FULL-STACK PROJECT</a:t>
            </a:r>
            <a:endParaRPr lang="en-US" sz="1400" dirty="0"/>
          </a:p>
        </p:txBody>
      </p:sp>
      <p:sp>
        <p:nvSpPr>
          <p:cNvPr id="5" name="Text 2"/>
          <p:cNvSpPr txBox="1"/>
          <p:nvPr/>
        </p:nvSpPr>
        <p:spPr>
          <a:xfrm>
            <a:off x="548640" y="1783080"/>
            <a:ext cx="10972800" cy="17373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Vehicle Driver Mapping System</a:t>
            </a:r>
            <a:endParaRPr lang="en-US" sz="5400" dirty="0"/>
          </a:p>
        </p:txBody>
      </p:sp>
      <p:sp>
        <p:nvSpPr>
          <p:cNvPr id="6" name="Text 3"/>
          <p:cNvSpPr txBox="1"/>
          <p:nvPr/>
        </p:nvSpPr>
        <p:spPr>
          <a:xfrm>
            <a:off x="548640" y="3657600"/>
            <a:ext cx="9601200" cy="822960"/>
          </a:xfrm>
          <a:prstGeom prst="rect">
            <a:avLst/>
          </a:prstGeom>
          <a:noFill/>
          <a:ln/>
        </p:spPr>
        <p:txBody>
          <a:bodyPr wrap="square" lIns="0" tIns="0" rIns="0" bIns="0" rtlCol="0" anchor="t"/>
          <a:lstStyle/>
          <a:p>
            <a:pPr indent="0" marL="0">
              <a:buNone/>
            </a:pPr>
            <a:r>
              <a:rPr lang="en-US" sz="2200" dirty="0">
                <a:solidFill>
                  <a:srgbClr val="B8C4D9"/>
                </a:solidFill>
                <a:latin typeface="Calibri" pitchFamily="34" charset="0"/>
                <a:ea typeface="Calibri" pitchFamily="34" charset="-122"/>
                <a:cs typeface="Calibri" pitchFamily="34" charset="-120"/>
              </a:rPr>
              <a:t>A fleet assignment platform with an on-premise AI assistant that answers questions in plain English</a:t>
            </a:r>
            <a:endParaRPr lang="en-US" sz="2200" dirty="0"/>
          </a:p>
        </p:txBody>
      </p:sp>
      <p:sp>
        <p:nvSpPr>
          <p:cNvPr id="7" name="Shape 4"/>
          <p:cNvSpPr/>
          <p:nvPr/>
        </p:nvSpPr>
        <p:spPr>
          <a:xfrm>
            <a:off x="548640" y="4754880"/>
            <a:ext cx="1522476" cy="384048"/>
          </a:xfrm>
          <a:prstGeom prst="roundRect">
            <a:avLst>
              <a:gd name="adj" fmla="val 50000"/>
            </a:avLst>
          </a:prstGeom>
          <a:solidFill>
            <a:srgbClr val="F2A541"/>
          </a:solidFill>
          <a:ln w="12700">
            <a:solidFill>
              <a:srgbClr val="F2A541"/>
            </a:solidFill>
            <a:prstDash val="solid"/>
          </a:ln>
        </p:spPr>
      </p:sp>
      <p:sp>
        <p:nvSpPr>
          <p:cNvPr id="8" name="Text 5"/>
          <p:cNvSpPr txBox="1"/>
          <p:nvPr/>
        </p:nvSpPr>
        <p:spPr>
          <a:xfrm>
            <a:off x="548640" y="4754880"/>
            <a:ext cx="1522476" cy="384048"/>
          </a:xfrm>
          <a:prstGeom prst="rect">
            <a:avLst/>
          </a:prstGeom>
          <a:noFill/>
          <a:ln/>
        </p:spPr>
        <p:txBody>
          <a:bodyPr wrap="square" lIns="0" tIns="0" rIns="0" bIns="0" rtlCol="0" anchor="ctr"/>
          <a:lstStyle/>
          <a:p>
            <a:pPr algn="ctr" indent="0" marL="0">
              <a:buNone/>
            </a:pPr>
            <a:r>
              <a:rPr lang="en-US" sz="1300" b="1" dirty="0">
                <a:solidFill>
                  <a:srgbClr val="13203A"/>
                </a:solidFill>
                <a:latin typeface="Calibri" pitchFamily="34" charset="0"/>
                <a:ea typeface="Calibri" pitchFamily="34" charset="-122"/>
                <a:cs typeface="Calibri" pitchFamily="34" charset="-120"/>
              </a:rPr>
              <a:t>Spring Boot 4</a:t>
            </a:r>
            <a:endParaRPr lang="en-US" sz="1300" dirty="0"/>
          </a:p>
        </p:txBody>
      </p:sp>
      <p:sp>
        <p:nvSpPr>
          <p:cNvPr id="9" name="Shape 6"/>
          <p:cNvSpPr/>
          <p:nvPr/>
        </p:nvSpPr>
        <p:spPr>
          <a:xfrm>
            <a:off x="2253996" y="4754880"/>
            <a:ext cx="1234440" cy="384048"/>
          </a:xfrm>
          <a:prstGeom prst="roundRect">
            <a:avLst>
              <a:gd name="adj" fmla="val 50000"/>
            </a:avLst>
          </a:prstGeom>
          <a:solidFill>
            <a:srgbClr val="F2A541"/>
          </a:solidFill>
          <a:ln w="12700">
            <a:solidFill>
              <a:srgbClr val="F2A541"/>
            </a:solidFill>
            <a:prstDash val="solid"/>
          </a:ln>
        </p:spPr>
      </p:sp>
      <p:sp>
        <p:nvSpPr>
          <p:cNvPr id="10" name="Text 7"/>
          <p:cNvSpPr txBox="1"/>
          <p:nvPr/>
        </p:nvSpPr>
        <p:spPr>
          <a:xfrm>
            <a:off x="2253996" y="4754880"/>
            <a:ext cx="1234440" cy="384048"/>
          </a:xfrm>
          <a:prstGeom prst="rect">
            <a:avLst/>
          </a:prstGeom>
          <a:noFill/>
          <a:ln/>
        </p:spPr>
        <p:txBody>
          <a:bodyPr wrap="square" lIns="0" tIns="0" rIns="0" bIns="0" rtlCol="0" anchor="ctr"/>
          <a:lstStyle/>
          <a:p>
            <a:pPr algn="ctr" indent="0" marL="0">
              <a:buNone/>
            </a:pPr>
            <a:r>
              <a:rPr lang="en-US" sz="1300" b="1" dirty="0">
                <a:solidFill>
                  <a:srgbClr val="13203A"/>
                </a:solidFill>
                <a:latin typeface="Calibri" pitchFamily="34" charset="0"/>
                <a:ea typeface="Calibri" pitchFamily="34" charset="-122"/>
                <a:cs typeface="Calibri" pitchFamily="34" charset="-120"/>
              </a:rPr>
              <a:t>Angular 21</a:t>
            </a:r>
            <a:endParaRPr lang="en-US" sz="1300" dirty="0"/>
          </a:p>
        </p:txBody>
      </p:sp>
      <p:sp>
        <p:nvSpPr>
          <p:cNvPr id="11" name="Shape 8"/>
          <p:cNvSpPr/>
          <p:nvPr/>
        </p:nvSpPr>
        <p:spPr>
          <a:xfrm>
            <a:off x="3671316" y="4754880"/>
            <a:ext cx="1522476" cy="384048"/>
          </a:xfrm>
          <a:prstGeom prst="roundRect">
            <a:avLst>
              <a:gd name="adj" fmla="val 50000"/>
            </a:avLst>
          </a:prstGeom>
          <a:solidFill>
            <a:srgbClr val="F2A541"/>
          </a:solidFill>
          <a:ln w="12700">
            <a:solidFill>
              <a:srgbClr val="F2A541"/>
            </a:solidFill>
            <a:prstDash val="solid"/>
          </a:ln>
        </p:spPr>
      </p:sp>
      <p:sp>
        <p:nvSpPr>
          <p:cNvPr id="12" name="Text 9"/>
          <p:cNvSpPr txBox="1"/>
          <p:nvPr/>
        </p:nvSpPr>
        <p:spPr>
          <a:xfrm>
            <a:off x="3671316" y="4754880"/>
            <a:ext cx="1522476" cy="384048"/>
          </a:xfrm>
          <a:prstGeom prst="rect">
            <a:avLst/>
          </a:prstGeom>
          <a:noFill/>
          <a:ln/>
        </p:spPr>
        <p:txBody>
          <a:bodyPr wrap="square" lIns="0" tIns="0" rIns="0" bIns="0" rtlCol="0" anchor="ctr"/>
          <a:lstStyle/>
          <a:p>
            <a:pPr algn="ctr" indent="0" marL="0">
              <a:buNone/>
            </a:pPr>
            <a:r>
              <a:rPr lang="en-US" sz="1300" b="1" dirty="0">
                <a:solidFill>
                  <a:srgbClr val="13203A"/>
                </a:solidFill>
                <a:latin typeface="Calibri" pitchFamily="34" charset="0"/>
                <a:ea typeface="Calibri" pitchFamily="34" charset="-122"/>
                <a:cs typeface="Calibri" pitchFamily="34" charset="-120"/>
              </a:rPr>
              <a:t>PostgreSQL 16</a:t>
            </a:r>
            <a:endParaRPr lang="en-US" sz="1300" dirty="0"/>
          </a:p>
        </p:txBody>
      </p:sp>
      <p:sp>
        <p:nvSpPr>
          <p:cNvPr id="13" name="Shape 10"/>
          <p:cNvSpPr/>
          <p:nvPr/>
        </p:nvSpPr>
        <p:spPr>
          <a:xfrm>
            <a:off x="5376672" y="4754880"/>
            <a:ext cx="2002536" cy="384048"/>
          </a:xfrm>
          <a:prstGeom prst="roundRect">
            <a:avLst>
              <a:gd name="adj" fmla="val 50000"/>
            </a:avLst>
          </a:prstGeom>
          <a:solidFill>
            <a:srgbClr val="F2A541"/>
          </a:solidFill>
          <a:ln w="12700">
            <a:solidFill>
              <a:srgbClr val="F2A541"/>
            </a:solidFill>
            <a:prstDash val="solid"/>
          </a:ln>
        </p:spPr>
      </p:sp>
      <p:sp>
        <p:nvSpPr>
          <p:cNvPr id="14" name="Text 11"/>
          <p:cNvSpPr txBox="1"/>
          <p:nvPr/>
        </p:nvSpPr>
        <p:spPr>
          <a:xfrm>
            <a:off x="5376672" y="4754880"/>
            <a:ext cx="2002536" cy="384048"/>
          </a:xfrm>
          <a:prstGeom prst="rect">
            <a:avLst/>
          </a:prstGeom>
          <a:noFill/>
          <a:ln/>
        </p:spPr>
        <p:txBody>
          <a:bodyPr wrap="square" lIns="0" tIns="0" rIns="0" bIns="0" rtlCol="0" anchor="ctr"/>
          <a:lstStyle/>
          <a:p>
            <a:pPr algn="ctr" indent="0" marL="0">
              <a:buNone/>
            </a:pPr>
            <a:r>
              <a:rPr lang="en-US" sz="1300" b="1" dirty="0">
                <a:solidFill>
                  <a:srgbClr val="13203A"/>
                </a:solidFill>
                <a:latin typeface="Calibri" pitchFamily="34" charset="0"/>
                <a:ea typeface="Calibri" pitchFamily="34" charset="-122"/>
                <a:cs typeface="Calibri" pitchFamily="34" charset="-120"/>
              </a:rPr>
              <a:t>Local LLM (Ollama)</a:t>
            </a:r>
            <a:endParaRPr lang="en-US" sz="1300" dirty="0"/>
          </a:p>
        </p:txBody>
      </p:sp>
      <p:sp>
        <p:nvSpPr>
          <p:cNvPr id="15" name="Shape 12"/>
          <p:cNvSpPr/>
          <p:nvPr/>
        </p:nvSpPr>
        <p:spPr>
          <a:xfrm>
            <a:off x="7562088" y="4754880"/>
            <a:ext cx="850392" cy="384048"/>
          </a:xfrm>
          <a:prstGeom prst="roundRect">
            <a:avLst>
              <a:gd name="adj" fmla="val 50000"/>
            </a:avLst>
          </a:prstGeom>
          <a:solidFill>
            <a:srgbClr val="F2A541"/>
          </a:solidFill>
          <a:ln w="12700">
            <a:solidFill>
              <a:srgbClr val="F2A541"/>
            </a:solidFill>
            <a:prstDash val="solid"/>
          </a:ln>
        </p:spPr>
      </p:sp>
      <p:sp>
        <p:nvSpPr>
          <p:cNvPr id="16" name="Text 13"/>
          <p:cNvSpPr txBox="1"/>
          <p:nvPr/>
        </p:nvSpPr>
        <p:spPr>
          <a:xfrm>
            <a:off x="7562088" y="4754880"/>
            <a:ext cx="850392" cy="384048"/>
          </a:xfrm>
          <a:prstGeom prst="rect">
            <a:avLst/>
          </a:prstGeom>
          <a:noFill/>
          <a:ln/>
        </p:spPr>
        <p:txBody>
          <a:bodyPr wrap="square" lIns="0" tIns="0" rIns="0" bIns="0" rtlCol="0" anchor="ctr"/>
          <a:lstStyle/>
          <a:p>
            <a:pPr algn="ctr" indent="0" marL="0">
              <a:buNone/>
            </a:pPr>
            <a:r>
              <a:rPr lang="en-US" sz="1300" b="1" dirty="0">
                <a:solidFill>
                  <a:srgbClr val="13203A"/>
                </a:solidFill>
                <a:latin typeface="Calibri" pitchFamily="34" charset="0"/>
                <a:ea typeface="Calibri" pitchFamily="34" charset="-122"/>
                <a:cs typeface="Calibri" pitchFamily="34" charset="-120"/>
              </a:rPr>
              <a:t>Docker</a:t>
            </a:r>
            <a:endParaRPr lang="en-US" sz="1300" dirty="0"/>
          </a:p>
        </p:txBody>
      </p:sp>
      <p:sp>
        <p:nvSpPr>
          <p:cNvPr id="17" name="Text 14"/>
          <p:cNvSpPr txBox="1"/>
          <p:nvPr/>
        </p:nvSpPr>
        <p:spPr>
          <a:xfrm>
            <a:off x="548640" y="5943600"/>
            <a:ext cx="9144000" cy="365760"/>
          </a:xfrm>
          <a:prstGeom prst="rect">
            <a:avLst/>
          </a:prstGeom>
          <a:noFill/>
          <a:ln/>
        </p:spPr>
        <p:txBody>
          <a:bodyPr wrap="square" lIns="0" tIns="0" rIns="0" bIns="0" rtlCol="0" anchor="t"/>
          <a:lstStyle/>
          <a:p>
            <a:pPr indent="0" marL="0">
              <a:buNone/>
            </a:pPr>
            <a:r>
              <a:rPr lang="en-US" sz="1400" dirty="0">
                <a:solidFill>
                  <a:srgbClr val="B8C4D9"/>
                </a:solidFill>
                <a:latin typeface="Calibri" pitchFamily="34" charset="0"/>
                <a:ea typeface="Calibri" pitchFamily="34" charset="-122"/>
                <a:cs typeface="Calibri" pitchFamily="34" charset="-120"/>
              </a:rPr>
              <a:t>[Your name]   ·   [Institution / course]   ·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300" kern="0" dirty="0">
                <a:solidFill>
                  <a:srgbClr val="9A5B00"/>
                </a:solidFill>
                <a:latin typeface="Calibri" pitchFamily="34" charset="0"/>
                <a:ea typeface="Calibri" pitchFamily="34" charset="-122"/>
                <a:cs typeface="Calibri" pitchFamily="34" charset="-120"/>
              </a:rPr>
              <a:t>OVERVIEW</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3203A"/>
                </a:solidFill>
                <a:latin typeface="Cambria" pitchFamily="34" charset="0"/>
                <a:ea typeface="Cambria" pitchFamily="34" charset="-122"/>
                <a:cs typeface="Cambria" pitchFamily="34" charset="-120"/>
              </a:rPr>
              <a:t>Agenda</a:t>
            </a:r>
            <a:endParaRPr lang="en-US" sz="3400" dirty="0"/>
          </a:p>
        </p:txBody>
      </p:sp>
      <p:sp>
        <p:nvSpPr>
          <p:cNvPr id="4" name="Text 2"/>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4A5568"/>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48640" y="1600200"/>
            <a:ext cx="548640" cy="548640"/>
          </a:xfrm>
          <a:prstGeom prst="ellipse">
            <a:avLst/>
          </a:prstGeom>
          <a:solidFill>
            <a:srgbClr val="13203A"/>
          </a:solidFill>
          <a:ln w="12700">
            <a:solidFill>
              <a:srgbClr val="13203A"/>
            </a:solidFill>
            <a:prstDash val="solid"/>
          </a:ln>
        </p:spPr>
      </p:sp>
      <p:sp>
        <p:nvSpPr>
          <p:cNvPr id="6" name="Text 4"/>
          <p:cNvSpPr txBox="1"/>
          <p:nvPr/>
        </p:nvSpPr>
        <p:spPr>
          <a:xfrm>
            <a:off x="548640" y="1600200"/>
            <a:ext cx="548640" cy="548640"/>
          </a:xfrm>
          <a:prstGeom prst="rect">
            <a:avLst/>
          </a:prstGeom>
          <a:noFill/>
          <a:ln/>
        </p:spPr>
        <p:txBody>
          <a:bodyPr wrap="square" lIns="0" tIns="0" rIns="0" bIns="0" rtlCol="0" anchor="ctr"/>
          <a:lstStyle/>
          <a:p>
            <a:pPr algn="ctr" indent="0" marL="0">
              <a:buNone/>
            </a:pPr>
            <a:r>
              <a:rPr lang="en-US" sz="1500" b="1" dirty="0">
                <a:solidFill>
                  <a:srgbClr val="F2A541"/>
                </a:solidFill>
                <a:latin typeface="Calibri" pitchFamily="34" charset="0"/>
                <a:ea typeface="Calibri" pitchFamily="34" charset="-122"/>
                <a:cs typeface="Calibri" pitchFamily="34" charset="-120"/>
              </a:rPr>
              <a:t>01</a:t>
            </a:r>
            <a:endParaRPr lang="en-US" sz="1500" dirty="0"/>
          </a:p>
        </p:txBody>
      </p:sp>
      <p:sp>
        <p:nvSpPr>
          <p:cNvPr id="7" name="Text 5"/>
          <p:cNvSpPr txBox="1"/>
          <p:nvPr/>
        </p:nvSpPr>
        <p:spPr>
          <a:xfrm>
            <a:off x="1280160" y="1581912"/>
            <a:ext cx="4663440" cy="329184"/>
          </a:xfrm>
          <a:prstGeom prst="rect">
            <a:avLst/>
          </a:prstGeom>
          <a:noFill/>
          <a:ln/>
        </p:spPr>
        <p:txBody>
          <a:bodyPr wrap="square" lIns="0" tIns="0" rIns="0" bIns="0" rtlCol="0" anchor="t"/>
          <a:lstStyle/>
          <a:p>
            <a:pPr indent="0" marL="0">
              <a:buNone/>
            </a:pPr>
            <a:r>
              <a:rPr lang="en-US" sz="1800" b="1" dirty="0">
                <a:solidFill>
                  <a:srgbClr val="13203A"/>
                </a:solidFill>
                <a:latin typeface="Calibri" pitchFamily="34" charset="0"/>
                <a:ea typeface="Calibri" pitchFamily="34" charset="-122"/>
                <a:cs typeface="Calibri" pitchFamily="34" charset="-120"/>
              </a:rPr>
              <a:t>Problem &amp; objectives</a:t>
            </a:r>
            <a:endParaRPr lang="en-US" sz="1800" dirty="0"/>
          </a:p>
        </p:txBody>
      </p:sp>
      <p:sp>
        <p:nvSpPr>
          <p:cNvPr id="8" name="Text 6"/>
          <p:cNvSpPr txBox="1"/>
          <p:nvPr/>
        </p:nvSpPr>
        <p:spPr>
          <a:xfrm>
            <a:off x="1280160" y="1892808"/>
            <a:ext cx="4663440" cy="27432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Why the system is needed</a:t>
            </a:r>
            <a:endParaRPr lang="en-US" sz="1300" dirty="0"/>
          </a:p>
        </p:txBody>
      </p:sp>
      <p:sp>
        <p:nvSpPr>
          <p:cNvPr id="9" name="Shape 7"/>
          <p:cNvSpPr/>
          <p:nvPr/>
        </p:nvSpPr>
        <p:spPr>
          <a:xfrm>
            <a:off x="548640" y="2514600"/>
            <a:ext cx="548640" cy="548640"/>
          </a:xfrm>
          <a:prstGeom prst="ellipse">
            <a:avLst/>
          </a:prstGeom>
          <a:solidFill>
            <a:srgbClr val="13203A"/>
          </a:solidFill>
          <a:ln w="12700">
            <a:solidFill>
              <a:srgbClr val="13203A"/>
            </a:solidFill>
            <a:prstDash val="solid"/>
          </a:ln>
        </p:spPr>
      </p:sp>
      <p:sp>
        <p:nvSpPr>
          <p:cNvPr id="10" name="Text 8"/>
          <p:cNvSpPr txBox="1"/>
          <p:nvPr/>
        </p:nvSpPr>
        <p:spPr>
          <a:xfrm>
            <a:off x="548640" y="2514600"/>
            <a:ext cx="548640" cy="548640"/>
          </a:xfrm>
          <a:prstGeom prst="rect">
            <a:avLst/>
          </a:prstGeom>
          <a:noFill/>
          <a:ln/>
        </p:spPr>
        <p:txBody>
          <a:bodyPr wrap="square" lIns="0" tIns="0" rIns="0" bIns="0" rtlCol="0" anchor="ctr"/>
          <a:lstStyle/>
          <a:p>
            <a:pPr algn="ctr" indent="0" marL="0">
              <a:buNone/>
            </a:pPr>
            <a:r>
              <a:rPr lang="en-US" sz="1500" b="1" dirty="0">
                <a:solidFill>
                  <a:srgbClr val="F2A541"/>
                </a:solidFill>
                <a:latin typeface="Calibri" pitchFamily="34" charset="0"/>
                <a:ea typeface="Calibri" pitchFamily="34" charset="-122"/>
                <a:cs typeface="Calibri" pitchFamily="34" charset="-120"/>
              </a:rPr>
              <a:t>02</a:t>
            </a:r>
            <a:endParaRPr lang="en-US" sz="1500" dirty="0"/>
          </a:p>
        </p:txBody>
      </p:sp>
      <p:sp>
        <p:nvSpPr>
          <p:cNvPr id="11" name="Text 9"/>
          <p:cNvSpPr txBox="1"/>
          <p:nvPr/>
        </p:nvSpPr>
        <p:spPr>
          <a:xfrm>
            <a:off x="1280160" y="2496312"/>
            <a:ext cx="4663440" cy="329184"/>
          </a:xfrm>
          <a:prstGeom prst="rect">
            <a:avLst/>
          </a:prstGeom>
          <a:noFill/>
          <a:ln/>
        </p:spPr>
        <p:txBody>
          <a:bodyPr wrap="square" lIns="0" tIns="0" rIns="0" bIns="0" rtlCol="0" anchor="t"/>
          <a:lstStyle/>
          <a:p>
            <a:pPr indent="0" marL="0">
              <a:buNone/>
            </a:pPr>
            <a:r>
              <a:rPr lang="en-US" sz="1800" b="1" dirty="0">
                <a:solidFill>
                  <a:srgbClr val="13203A"/>
                </a:solidFill>
                <a:latin typeface="Calibri" pitchFamily="34" charset="0"/>
                <a:ea typeface="Calibri" pitchFamily="34" charset="-122"/>
                <a:cs typeface="Calibri" pitchFamily="34" charset="-120"/>
              </a:rPr>
              <a:t>Solution &amp; users</a:t>
            </a:r>
            <a:endParaRPr lang="en-US" sz="1800" dirty="0"/>
          </a:p>
        </p:txBody>
      </p:sp>
      <p:sp>
        <p:nvSpPr>
          <p:cNvPr id="12" name="Text 10"/>
          <p:cNvSpPr txBox="1"/>
          <p:nvPr/>
        </p:nvSpPr>
        <p:spPr>
          <a:xfrm>
            <a:off x="1280160" y="2807208"/>
            <a:ext cx="4663440" cy="27432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Admin, driver and AI roles</a:t>
            </a:r>
            <a:endParaRPr lang="en-US" sz="1300" dirty="0"/>
          </a:p>
        </p:txBody>
      </p:sp>
      <p:sp>
        <p:nvSpPr>
          <p:cNvPr id="13" name="Shape 11"/>
          <p:cNvSpPr/>
          <p:nvPr/>
        </p:nvSpPr>
        <p:spPr>
          <a:xfrm>
            <a:off x="548640" y="3429000"/>
            <a:ext cx="548640" cy="548640"/>
          </a:xfrm>
          <a:prstGeom prst="ellipse">
            <a:avLst/>
          </a:prstGeom>
          <a:solidFill>
            <a:srgbClr val="13203A"/>
          </a:solidFill>
          <a:ln w="12700">
            <a:solidFill>
              <a:srgbClr val="13203A"/>
            </a:solidFill>
            <a:prstDash val="solid"/>
          </a:ln>
        </p:spPr>
      </p:sp>
      <p:sp>
        <p:nvSpPr>
          <p:cNvPr id="14" name="Text 12"/>
          <p:cNvSpPr txBox="1"/>
          <p:nvPr/>
        </p:nvSpPr>
        <p:spPr>
          <a:xfrm>
            <a:off x="548640" y="3429000"/>
            <a:ext cx="548640" cy="548640"/>
          </a:xfrm>
          <a:prstGeom prst="rect">
            <a:avLst/>
          </a:prstGeom>
          <a:noFill/>
          <a:ln/>
        </p:spPr>
        <p:txBody>
          <a:bodyPr wrap="square" lIns="0" tIns="0" rIns="0" bIns="0" rtlCol="0" anchor="ctr"/>
          <a:lstStyle/>
          <a:p>
            <a:pPr algn="ctr" indent="0" marL="0">
              <a:buNone/>
            </a:pPr>
            <a:r>
              <a:rPr lang="en-US" sz="1500" b="1" dirty="0">
                <a:solidFill>
                  <a:srgbClr val="F2A541"/>
                </a:solidFill>
                <a:latin typeface="Calibri" pitchFamily="34" charset="0"/>
                <a:ea typeface="Calibri" pitchFamily="34" charset="-122"/>
                <a:cs typeface="Calibri" pitchFamily="34" charset="-120"/>
              </a:rPr>
              <a:t>03</a:t>
            </a:r>
            <a:endParaRPr lang="en-US" sz="1500" dirty="0"/>
          </a:p>
        </p:txBody>
      </p:sp>
      <p:sp>
        <p:nvSpPr>
          <p:cNvPr id="15" name="Text 13"/>
          <p:cNvSpPr txBox="1"/>
          <p:nvPr/>
        </p:nvSpPr>
        <p:spPr>
          <a:xfrm>
            <a:off x="1280160" y="3410712"/>
            <a:ext cx="4663440" cy="329184"/>
          </a:xfrm>
          <a:prstGeom prst="rect">
            <a:avLst/>
          </a:prstGeom>
          <a:noFill/>
          <a:ln/>
        </p:spPr>
        <p:txBody>
          <a:bodyPr wrap="square" lIns="0" tIns="0" rIns="0" bIns="0" rtlCol="0" anchor="t"/>
          <a:lstStyle/>
          <a:p>
            <a:pPr indent="0" marL="0">
              <a:buNone/>
            </a:pPr>
            <a:r>
              <a:rPr lang="en-US" sz="1800" b="1" dirty="0">
                <a:solidFill>
                  <a:srgbClr val="13203A"/>
                </a:solidFill>
                <a:latin typeface="Calibri" pitchFamily="34" charset="0"/>
                <a:ea typeface="Calibri" pitchFamily="34" charset="-122"/>
                <a:cs typeface="Calibri" pitchFamily="34" charset="-120"/>
              </a:rPr>
              <a:t>Architecture &amp; stack</a:t>
            </a:r>
            <a:endParaRPr lang="en-US" sz="1800" dirty="0"/>
          </a:p>
        </p:txBody>
      </p:sp>
      <p:sp>
        <p:nvSpPr>
          <p:cNvPr id="16" name="Text 14"/>
          <p:cNvSpPr txBox="1"/>
          <p:nvPr/>
        </p:nvSpPr>
        <p:spPr>
          <a:xfrm>
            <a:off x="1280160" y="3721608"/>
            <a:ext cx="4663440" cy="27432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How the pieces fit</a:t>
            </a:r>
            <a:endParaRPr lang="en-US" sz="1300" dirty="0"/>
          </a:p>
        </p:txBody>
      </p:sp>
      <p:sp>
        <p:nvSpPr>
          <p:cNvPr id="17" name="Shape 15"/>
          <p:cNvSpPr/>
          <p:nvPr/>
        </p:nvSpPr>
        <p:spPr>
          <a:xfrm>
            <a:off x="548640" y="4343400"/>
            <a:ext cx="548640" cy="548640"/>
          </a:xfrm>
          <a:prstGeom prst="ellipse">
            <a:avLst/>
          </a:prstGeom>
          <a:solidFill>
            <a:srgbClr val="13203A"/>
          </a:solidFill>
          <a:ln w="12700">
            <a:solidFill>
              <a:srgbClr val="13203A"/>
            </a:solidFill>
            <a:prstDash val="solid"/>
          </a:ln>
        </p:spPr>
      </p:sp>
      <p:sp>
        <p:nvSpPr>
          <p:cNvPr id="18" name="Text 16"/>
          <p:cNvSpPr txBox="1"/>
          <p:nvPr/>
        </p:nvSpPr>
        <p:spPr>
          <a:xfrm>
            <a:off x="548640" y="4343400"/>
            <a:ext cx="548640" cy="548640"/>
          </a:xfrm>
          <a:prstGeom prst="rect">
            <a:avLst/>
          </a:prstGeom>
          <a:noFill/>
          <a:ln/>
        </p:spPr>
        <p:txBody>
          <a:bodyPr wrap="square" lIns="0" tIns="0" rIns="0" bIns="0" rtlCol="0" anchor="ctr"/>
          <a:lstStyle/>
          <a:p>
            <a:pPr algn="ctr" indent="0" marL="0">
              <a:buNone/>
            </a:pPr>
            <a:r>
              <a:rPr lang="en-US" sz="1500" b="1" dirty="0">
                <a:solidFill>
                  <a:srgbClr val="F2A541"/>
                </a:solidFill>
                <a:latin typeface="Calibri" pitchFamily="34" charset="0"/>
                <a:ea typeface="Calibri" pitchFamily="34" charset="-122"/>
                <a:cs typeface="Calibri" pitchFamily="34" charset="-120"/>
              </a:rPr>
              <a:t>04</a:t>
            </a:r>
            <a:endParaRPr lang="en-US" sz="1500" dirty="0"/>
          </a:p>
        </p:txBody>
      </p:sp>
      <p:sp>
        <p:nvSpPr>
          <p:cNvPr id="19" name="Text 17"/>
          <p:cNvSpPr txBox="1"/>
          <p:nvPr/>
        </p:nvSpPr>
        <p:spPr>
          <a:xfrm>
            <a:off x="1280160" y="4325112"/>
            <a:ext cx="4663440" cy="329184"/>
          </a:xfrm>
          <a:prstGeom prst="rect">
            <a:avLst/>
          </a:prstGeom>
          <a:noFill/>
          <a:ln/>
        </p:spPr>
        <p:txBody>
          <a:bodyPr wrap="square" lIns="0" tIns="0" rIns="0" bIns="0" rtlCol="0" anchor="t"/>
          <a:lstStyle/>
          <a:p>
            <a:pPr indent="0" marL="0">
              <a:buNone/>
            </a:pPr>
            <a:r>
              <a:rPr lang="en-US" sz="1800" b="1" dirty="0">
                <a:solidFill>
                  <a:srgbClr val="13203A"/>
                </a:solidFill>
                <a:latin typeface="Calibri" pitchFamily="34" charset="0"/>
                <a:ea typeface="Calibri" pitchFamily="34" charset="-122"/>
                <a:cs typeface="Calibri" pitchFamily="34" charset="-120"/>
              </a:rPr>
              <a:t>Database &amp; business rules</a:t>
            </a:r>
            <a:endParaRPr lang="en-US" sz="1800" dirty="0"/>
          </a:p>
        </p:txBody>
      </p:sp>
      <p:sp>
        <p:nvSpPr>
          <p:cNvPr id="20" name="Text 18"/>
          <p:cNvSpPr txBox="1"/>
          <p:nvPr/>
        </p:nvSpPr>
        <p:spPr>
          <a:xfrm>
            <a:off x="1280160" y="4636008"/>
            <a:ext cx="4663440" cy="27432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Data model and scheduling logic</a:t>
            </a:r>
            <a:endParaRPr lang="en-US" sz="1300" dirty="0"/>
          </a:p>
        </p:txBody>
      </p:sp>
      <p:sp>
        <p:nvSpPr>
          <p:cNvPr id="21" name="Shape 19"/>
          <p:cNvSpPr/>
          <p:nvPr/>
        </p:nvSpPr>
        <p:spPr>
          <a:xfrm>
            <a:off x="548640" y="5257800"/>
            <a:ext cx="548640" cy="548640"/>
          </a:xfrm>
          <a:prstGeom prst="ellipse">
            <a:avLst/>
          </a:prstGeom>
          <a:solidFill>
            <a:srgbClr val="13203A"/>
          </a:solidFill>
          <a:ln w="12700">
            <a:solidFill>
              <a:srgbClr val="13203A"/>
            </a:solidFill>
            <a:prstDash val="solid"/>
          </a:ln>
        </p:spPr>
      </p:sp>
      <p:sp>
        <p:nvSpPr>
          <p:cNvPr id="22" name="Text 20"/>
          <p:cNvSpPr txBox="1"/>
          <p:nvPr/>
        </p:nvSpPr>
        <p:spPr>
          <a:xfrm>
            <a:off x="548640" y="5257800"/>
            <a:ext cx="548640" cy="548640"/>
          </a:xfrm>
          <a:prstGeom prst="rect">
            <a:avLst/>
          </a:prstGeom>
          <a:noFill/>
          <a:ln/>
        </p:spPr>
        <p:txBody>
          <a:bodyPr wrap="square" lIns="0" tIns="0" rIns="0" bIns="0" rtlCol="0" anchor="ctr"/>
          <a:lstStyle/>
          <a:p>
            <a:pPr algn="ctr" indent="0" marL="0">
              <a:buNone/>
            </a:pPr>
            <a:r>
              <a:rPr lang="en-US" sz="1500" b="1" dirty="0">
                <a:solidFill>
                  <a:srgbClr val="F2A541"/>
                </a:solidFill>
                <a:latin typeface="Calibri" pitchFamily="34" charset="0"/>
                <a:ea typeface="Calibri" pitchFamily="34" charset="-122"/>
                <a:cs typeface="Calibri" pitchFamily="34" charset="-120"/>
              </a:rPr>
              <a:t>05</a:t>
            </a:r>
            <a:endParaRPr lang="en-US" sz="1500" dirty="0"/>
          </a:p>
        </p:txBody>
      </p:sp>
      <p:sp>
        <p:nvSpPr>
          <p:cNvPr id="23" name="Text 21"/>
          <p:cNvSpPr txBox="1"/>
          <p:nvPr/>
        </p:nvSpPr>
        <p:spPr>
          <a:xfrm>
            <a:off x="1280160" y="5239512"/>
            <a:ext cx="4663440" cy="329184"/>
          </a:xfrm>
          <a:prstGeom prst="rect">
            <a:avLst/>
          </a:prstGeom>
          <a:noFill/>
          <a:ln/>
        </p:spPr>
        <p:txBody>
          <a:bodyPr wrap="square" lIns="0" tIns="0" rIns="0" bIns="0" rtlCol="0" anchor="t"/>
          <a:lstStyle/>
          <a:p>
            <a:pPr indent="0" marL="0">
              <a:buNone/>
            </a:pPr>
            <a:r>
              <a:rPr lang="en-US" sz="1800" b="1" dirty="0">
                <a:solidFill>
                  <a:srgbClr val="13203A"/>
                </a:solidFill>
                <a:latin typeface="Calibri" pitchFamily="34" charset="0"/>
                <a:ea typeface="Calibri" pitchFamily="34" charset="-122"/>
                <a:cs typeface="Calibri" pitchFamily="34" charset="-120"/>
              </a:rPr>
              <a:t>Backend &amp; REST API</a:t>
            </a:r>
            <a:endParaRPr lang="en-US" sz="1800" dirty="0"/>
          </a:p>
        </p:txBody>
      </p:sp>
      <p:sp>
        <p:nvSpPr>
          <p:cNvPr id="24" name="Text 22"/>
          <p:cNvSpPr txBox="1"/>
          <p:nvPr/>
        </p:nvSpPr>
        <p:spPr>
          <a:xfrm>
            <a:off x="1280160" y="5550408"/>
            <a:ext cx="4663440" cy="27432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Layers, endpoints, errors</a:t>
            </a:r>
            <a:endParaRPr lang="en-US" sz="1300" dirty="0"/>
          </a:p>
        </p:txBody>
      </p:sp>
      <p:sp>
        <p:nvSpPr>
          <p:cNvPr id="25" name="Shape 23"/>
          <p:cNvSpPr/>
          <p:nvPr/>
        </p:nvSpPr>
        <p:spPr>
          <a:xfrm>
            <a:off x="6217920" y="1600200"/>
            <a:ext cx="548640" cy="548640"/>
          </a:xfrm>
          <a:prstGeom prst="ellipse">
            <a:avLst/>
          </a:prstGeom>
          <a:solidFill>
            <a:srgbClr val="13203A"/>
          </a:solidFill>
          <a:ln w="12700">
            <a:solidFill>
              <a:srgbClr val="13203A"/>
            </a:solidFill>
            <a:prstDash val="solid"/>
          </a:ln>
        </p:spPr>
      </p:sp>
      <p:sp>
        <p:nvSpPr>
          <p:cNvPr id="26" name="Text 24"/>
          <p:cNvSpPr txBox="1"/>
          <p:nvPr/>
        </p:nvSpPr>
        <p:spPr>
          <a:xfrm>
            <a:off x="6217920" y="1600200"/>
            <a:ext cx="548640" cy="548640"/>
          </a:xfrm>
          <a:prstGeom prst="rect">
            <a:avLst/>
          </a:prstGeom>
          <a:noFill/>
          <a:ln/>
        </p:spPr>
        <p:txBody>
          <a:bodyPr wrap="square" lIns="0" tIns="0" rIns="0" bIns="0" rtlCol="0" anchor="ctr"/>
          <a:lstStyle/>
          <a:p>
            <a:pPr algn="ctr" indent="0" marL="0">
              <a:buNone/>
            </a:pPr>
            <a:r>
              <a:rPr lang="en-US" sz="1500" b="1" dirty="0">
                <a:solidFill>
                  <a:srgbClr val="F2A541"/>
                </a:solidFill>
                <a:latin typeface="Calibri" pitchFamily="34" charset="0"/>
                <a:ea typeface="Calibri" pitchFamily="34" charset="-122"/>
                <a:cs typeface="Calibri" pitchFamily="34" charset="-120"/>
              </a:rPr>
              <a:t>06</a:t>
            </a:r>
            <a:endParaRPr lang="en-US" sz="1500" dirty="0"/>
          </a:p>
        </p:txBody>
      </p:sp>
      <p:sp>
        <p:nvSpPr>
          <p:cNvPr id="27" name="Text 25"/>
          <p:cNvSpPr txBox="1"/>
          <p:nvPr/>
        </p:nvSpPr>
        <p:spPr>
          <a:xfrm>
            <a:off x="6949440" y="1581912"/>
            <a:ext cx="4663440" cy="329184"/>
          </a:xfrm>
          <a:prstGeom prst="rect">
            <a:avLst/>
          </a:prstGeom>
          <a:noFill/>
          <a:ln/>
        </p:spPr>
        <p:txBody>
          <a:bodyPr wrap="square" lIns="0" tIns="0" rIns="0" bIns="0" rtlCol="0" anchor="t"/>
          <a:lstStyle/>
          <a:p>
            <a:pPr indent="0" marL="0">
              <a:buNone/>
            </a:pPr>
            <a:r>
              <a:rPr lang="en-US" sz="1800" b="1" dirty="0">
                <a:solidFill>
                  <a:srgbClr val="13203A"/>
                </a:solidFill>
                <a:latin typeface="Calibri" pitchFamily="34" charset="0"/>
                <a:ea typeface="Calibri" pitchFamily="34" charset="-122"/>
                <a:cs typeface="Calibri" pitchFamily="34" charset="-120"/>
              </a:rPr>
              <a:t>Frontend</a:t>
            </a:r>
            <a:endParaRPr lang="en-US" sz="1800" dirty="0"/>
          </a:p>
        </p:txBody>
      </p:sp>
      <p:sp>
        <p:nvSpPr>
          <p:cNvPr id="28" name="Text 26"/>
          <p:cNvSpPr txBox="1"/>
          <p:nvPr/>
        </p:nvSpPr>
        <p:spPr>
          <a:xfrm>
            <a:off x="6949440" y="1892808"/>
            <a:ext cx="4663440" cy="27432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Angular pages and UX</a:t>
            </a:r>
            <a:endParaRPr lang="en-US" sz="1300" dirty="0"/>
          </a:p>
        </p:txBody>
      </p:sp>
      <p:sp>
        <p:nvSpPr>
          <p:cNvPr id="29" name="Shape 27"/>
          <p:cNvSpPr/>
          <p:nvPr/>
        </p:nvSpPr>
        <p:spPr>
          <a:xfrm>
            <a:off x="6217920" y="2514600"/>
            <a:ext cx="548640" cy="548640"/>
          </a:xfrm>
          <a:prstGeom prst="ellipse">
            <a:avLst/>
          </a:prstGeom>
          <a:solidFill>
            <a:srgbClr val="13203A"/>
          </a:solidFill>
          <a:ln w="12700">
            <a:solidFill>
              <a:srgbClr val="13203A"/>
            </a:solidFill>
            <a:prstDash val="solid"/>
          </a:ln>
        </p:spPr>
      </p:sp>
      <p:sp>
        <p:nvSpPr>
          <p:cNvPr id="30" name="Text 28"/>
          <p:cNvSpPr txBox="1"/>
          <p:nvPr/>
        </p:nvSpPr>
        <p:spPr>
          <a:xfrm>
            <a:off x="6217920" y="2514600"/>
            <a:ext cx="548640" cy="548640"/>
          </a:xfrm>
          <a:prstGeom prst="rect">
            <a:avLst/>
          </a:prstGeom>
          <a:noFill/>
          <a:ln/>
        </p:spPr>
        <p:txBody>
          <a:bodyPr wrap="square" lIns="0" tIns="0" rIns="0" bIns="0" rtlCol="0" anchor="ctr"/>
          <a:lstStyle/>
          <a:p>
            <a:pPr algn="ctr" indent="0" marL="0">
              <a:buNone/>
            </a:pPr>
            <a:r>
              <a:rPr lang="en-US" sz="1500" b="1" dirty="0">
                <a:solidFill>
                  <a:srgbClr val="F2A541"/>
                </a:solidFill>
                <a:latin typeface="Calibri" pitchFamily="34" charset="0"/>
                <a:ea typeface="Calibri" pitchFamily="34" charset="-122"/>
                <a:cs typeface="Calibri" pitchFamily="34" charset="-120"/>
              </a:rPr>
              <a:t>07</a:t>
            </a:r>
            <a:endParaRPr lang="en-US" sz="1500" dirty="0"/>
          </a:p>
        </p:txBody>
      </p:sp>
      <p:sp>
        <p:nvSpPr>
          <p:cNvPr id="31" name="Text 29"/>
          <p:cNvSpPr txBox="1"/>
          <p:nvPr/>
        </p:nvSpPr>
        <p:spPr>
          <a:xfrm>
            <a:off x="6949440" y="2496312"/>
            <a:ext cx="4663440" cy="329184"/>
          </a:xfrm>
          <a:prstGeom prst="rect">
            <a:avLst/>
          </a:prstGeom>
          <a:noFill/>
          <a:ln/>
        </p:spPr>
        <p:txBody>
          <a:bodyPr wrap="square" lIns="0" tIns="0" rIns="0" bIns="0" rtlCol="0" anchor="t"/>
          <a:lstStyle/>
          <a:p>
            <a:pPr indent="0" marL="0">
              <a:buNone/>
            </a:pPr>
            <a:r>
              <a:rPr lang="en-US" sz="1800" b="1" dirty="0">
                <a:solidFill>
                  <a:srgbClr val="13203A"/>
                </a:solidFill>
                <a:latin typeface="Calibri" pitchFamily="34" charset="0"/>
                <a:ea typeface="Calibri" pitchFamily="34" charset="-122"/>
                <a:cs typeface="Calibri" pitchFamily="34" charset="-120"/>
              </a:rPr>
              <a:t>AI assistant</a:t>
            </a:r>
            <a:endParaRPr lang="en-US" sz="1800" dirty="0"/>
          </a:p>
        </p:txBody>
      </p:sp>
      <p:sp>
        <p:nvSpPr>
          <p:cNvPr id="32" name="Text 30"/>
          <p:cNvSpPr txBox="1"/>
          <p:nvPr/>
        </p:nvSpPr>
        <p:spPr>
          <a:xfrm>
            <a:off x="6949440" y="2807208"/>
            <a:ext cx="4663440" cy="27432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Local LLM with tool calling</a:t>
            </a:r>
            <a:endParaRPr lang="en-US" sz="1300" dirty="0"/>
          </a:p>
        </p:txBody>
      </p:sp>
      <p:sp>
        <p:nvSpPr>
          <p:cNvPr id="33" name="Shape 31"/>
          <p:cNvSpPr/>
          <p:nvPr/>
        </p:nvSpPr>
        <p:spPr>
          <a:xfrm>
            <a:off x="6217920" y="3429000"/>
            <a:ext cx="548640" cy="548640"/>
          </a:xfrm>
          <a:prstGeom prst="ellipse">
            <a:avLst/>
          </a:prstGeom>
          <a:solidFill>
            <a:srgbClr val="13203A"/>
          </a:solidFill>
          <a:ln w="12700">
            <a:solidFill>
              <a:srgbClr val="13203A"/>
            </a:solidFill>
            <a:prstDash val="solid"/>
          </a:ln>
        </p:spPr>
      </p:sp>
      <p:sp>
        <p:nvSpPr>
          <p:cNvPr id="34" name="Text 32"/>
          <p:cNvSpPr txBox="1"/>
          <p:nvPr/>
        </p:nvSpPr>
        <p:spPr>
          <a:xfrm>
            <a:off x="6217920" y="3429000"/>
            <a:ext cx="548640" cy="548640"/>
          </a:xfrm>
          <a:prstGeom prst="rect">
            <a:avLst/>
          </a:prstGeom>
          <a:noFill/>
          <a:ln/>
        </p:spPr>
        <p:txBody>
          <a:bodyPr wrap="square" lIns="0" tIns="0" rIns="0" bIns="0" rtlCol="0" anchor="ctr"/>
          <a:lstStyle/>
          <a:p>
            <a:pPr algn="ctr" indent="0" marL="0">
              <a:buNone/>
            </a:pPr>
            <a:r>
              <a:rPr lang="en-US" sz="1500" b="1" dirty="0">
                <a:solidFill>
                  <a:srgbClr val="F2A541"/>
                </a:solidFill>
                <a:latin typeface="Calibri" pitchFamily="34" charset="0"/>
                <a:ea typeface="Calibri" pitchFamily="34" charset="-122"/>
                <a:cs typeface="Calibri" pitchFamily="34" charset="-120"/>
              </a:rPr>
              <a:t>08</a:t>
            </a:r>
            <a:endParaRPr lang="en-US" sz="1500" dirty="0"/>
          </a:p>
        </p:txBody>
      </p:sp>
      <p:sp>
        <p:nvSpPr>
          <p:cNvPr id="35" name="Text 33"/>
          <p:cNvSpPr txBox="1"/>
          <p:nvPr/>
        </p:nvSpPr>
        <p:spPr>
          <a:xfrm>
            <a:off x="6949440" y="3410712"/>
            <a:ext cx="4663440" cy="329184"/>
          </a:xfrm>
          <a:prstGeom prst="rect">
            <a:avLst/>
          </a:prstGeom>
          <a:noFill/>
          <a:ln/>
        </p:spPr>
        <p:txBody>
          <a:bodyPr wrap="square" lIns="0" tIns="0" rIns="0" bIns="0" rtlCol="0" anchor="t"/>
          <a:lstStyle/>
          <a:p>
            <a:pPr indent="0" marL="0">
              <a:buNone/>
            </a:pPr>
            <a:r>
              <a:rPr lang="en-US" sz="1800" b="1" dirty="0">
                <a:solidFill>
                  <a:srgbClr val="13203A"/>
                </a:solidFill>
                <a:latin typeface="Calibri" pitchFamily="34" charset="0"/>
                <a:ea typeface="Calibri" pitchFamily="34" charset="-122"/>
                <a:cs typeface="Calibri" pitchFamily="34" charset="-120"/>
              </a:rPr>
              <a:t>Quality &amp; security</a:t>
            </a:r>
            <a:endParaRPr lang="en-US" sz="1800" dirty="0"/>
          </a:p>
        </p:txBody>
      </p:sp>
      <p:sp>
        <p:nvSpPr>
          <p:cNvPr id="36" name="Text 34"/>
          <p:cNvSpPr txBox="1"/>
          <p:nvPr/>
        </p:nvSpPr>
        <p:spPr>
          <a:xfrm>
            <a:off x="6949440" y="3721608"/>
            <a:ext cx="4663440" cy="27432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Tests, CI, safeguards</a:t>
            </a:r>
            <a:endParaRPr lang="en-US" sz="1300" dirty="0"/>
          </a:p>
        </p:txBody>
      </p:sp>
      <p:sp>
        <p:nvSpPr>
          <p:cNvPr id="37" name="Shape 35"/>
          <p:cNvSpPr/>
          <p:nvPr/>
        </p:nvSpPr>
        <p:spPr>
          <a:xfrm>
            <a:off x="6217920" y="4343400"/>
            <a:ext cx="548640" cy="548640"/>
          </a:xfrm>
          <a:prstGeom prst="ellipse">
            <a:avLst/>
          </a:prstGeom>
          <a:solidFill>
            <a:srgbClr val="13203A"/>
          </a:solidFill>
          <a:ln w="12700">
            <a:solidFill>
              <a:srgbClr val="13203A"/>
            </a:solidFill>
            <a:prstDash val="solid"/>
          </a:ln>
        </p:spPr>
      </p:sp>
      <p:sp>
        <p:nvSpPr>
          <p:cNvPr id="38" name="Text 36"/>
          <p:cNvSpPr txBox="1"/>
          <p:nvPr/>
        </p:nvSpPr>
        <p:spPr>
          <a:xfrm>
            <a:off x="6217920" y="4343400"/>
            <a:ext cx="548640" cy="548640"/>
          </a:xfrm>
          <a:prstGeom prst="rect">
            <a:avLst/>
          </a:prstGeom>
          <a:noFill/>
          <a:ln/>
        </p:spPr>
        <p:txBody>
          <a:bodyPr wrap="square" lIns="0" tIns="0" rIns="0" bIns="0" rtlCol="0" anchor="ctr"/>
          <a:lstStyle/>
          <a:p>
            <a:pPr algn="ctr" indent="0" marL="0">
              <a:buNone/>
            </a:pPr>
            <a:r>
              <a:rPr lang="en-US" sz="1500" b="1" dirty="0">
                <a:solidFill>
                  <a:srgbClr val="F2A541"/>
                </a:solidFill>
                <a:latin typeface="Calibri" pitchFamily="34" charset="0"/>
                <a:ea typeface="Calibri" pitchFamily="34" charset="-122"/>
                <a:cs typeface="Calibri" pitchFamily="34" charset="-120"/>
              </a:rPr>
              <a:t>09</a:t>
            </a:r>
            <a:endParaRPr lang="en-US" sz="1500" dirty="0"/>
          </a:p>
        </p:txBody>
      </p:sp>
      <p:sp>
        <p:nvSpPr>
          <p:cNvPr id="39" name="Text 37"/>
          <p:cNvSpPr txBox="1"/>
          <p:nvPr/>
        </p:nvSpPr>
        <p:spPr>
          <a:xfrm>
            <a:off x="6949440" y="4325112"/>
            <a:ext cx="4663440" cy="329184"/>
          </a:xfrm>
          <a:prstGeom prst="rect">
            <a:avLst/>
          </a:prstGeom>
          <a:noFill/>
          <a:ln/>
        </p:spPr>
        <p:txBody>
          <a:bodyPr wrap="square" lIns="0" tIns="0" rIns="0" bIns="0" rtlCol="0" anchor="t"/>
          <a:lstStyle/>
          <a:p>
            <a:pPr indent="0" marL="0">
              <a:buNone/>
            </a:pPr>
            <a:r>
              <a:rPr lang="en-US" sz="1800" b="1" dirty="0">
                <a:solidFill>
                  <a:srgbClr val="13203A"/>
                </a:solidFill>
                <a:latin typeface="Calibri" pitchFamily="34" charset="0"/>
                <a:ea typeface="Calibri" pitchFamily="34" charset="-122"/>
                <a:cs typeface="Calibri" pitchFamily="34" charset="-120"/>
              </a:rPr>
              <a:t>Deployment</a:t>
            </a:r>
            <a:endParaRPr lang="en-US" sz="1800" dirty="0"/>
          </a:p>
        </p:txBody>
      </p:sp>
      <p:sp>
        <p:nvSpPr>
          <p:cNvPr id="40" name="Text 38"/>
          <p:cNvSpPr txBox="1"/>
          <p:nvPr/>
        </p:nvSpPr>
        <p:spPr>
          <a:xfrm>
            <a:off x="6949440" y="4636008"/>
            <a:ext cx="4663440" cy="27432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Docker and free cloud hosting</a:t>
            </a:r>
            <a:endParaRPr lang="en-US" sz="1300" dirty="0"/>
          </a:p>
        </p:txBody>
      </p:sp>
      <p:sp>
        <p:nvSpPr>
          <p:cNvPr id="41" name="Shape 39"/>
          <p:cNvSpPr/>
          <p:nvPr/>
        </p:nvSpPr>
        <p:spPr>
          <a:xfrm>
            <a:off x="6217920" y="5257800"/>
            <a:ext cx="548640" cy="548640"/>
          </a:xfrm>
          <a:prstGeom prst="ellipse">
            <a:avLst/>
          </a:prstGeom>
          <a:solidFill>
            <a:srgbClr val="13203A"/>
          </a:solidFill>
          <a:ln w="12700">
            <a:solidFill>
              <a:srgbClr val="13203A"/>
            </a:solidFill>
            <a:prstDash val="solid"/>
          </a:ln>
        </p:spPr>
      </p:sp>
      <p:sp>
        <p:nvSpPr>
          <p:cNvPr id="42" name="Text 40"/>
          <p:cNvSpPr txBox="1"/>
          <p:nvPr/>
        </p:nvSpPr>
        <p:spPr>
          <a:xfrm>
            <a:off x="6217920" y="5257800"/>
            <a:ext cx="548640" cy="548640"/>
          </a:xfrm>
          <a:prstGeom prst="rect">
            <a:avLst/>
          </a:prstGeom>
          <a:noFill/>
          <a:ln/>
        </p:spPr>
        <p:txBody>
          <a:bodyPr wrap="square" lIns="0" tIns="0" rIns="0" bIns="0" rtlCol="0" anchor="ctr"/>
          <a:lstStyle/>
          <a:p>
            <a:pPr algn="ctr" indent="0" marL="0">
              <a:buNone/>
            </a:pPr>
            <a:r>
              <a:rPr lang="en-US" sz="1500" b="1" dirty="0">
                <a:solidFill>
                  <a:srgbClr val="F2A541"/>
                </a:solidFill>
                <a:latin typeface="Calibri" pitchFamily="34" charset="0"/>
                <a:ea typeface="Calibri" pitchFamily="34" charset="-122"/>
                <a:cs typeface="Calibri" pitchFamily="34" charset="-120"/>
              </a:rPr>
              <a:t>10</a:t>
            </a:r>
            <a:endParaRPr lang="en-US" sz="1500" dirty="0"/>
          </a:p>
        </p:txBody>
      </p:sp>
      <p:sp>
        <p:nvSpPr>
          <p:cNvPr id="43" name="Text 41"/>
          <p:cNvSpPr txBox="1"/>
          <p:nvPr/>
        </p:nvSpPr>
        <p:spPr>
          <a:xfrm>
            <a:off x="6949440" y="5239512"/>
            <a:ext cx="4663440" cy="329184"/>
          </a:xfrm>
          <a:prstGeom prst="rect">
            <a:avLst/>
          </a:prstGeom>
          <a:noFill/>
          <a:ln/>
        </p:spPr>
        <p:txBody>
          <a:bodyPr wrap="square" lIns="0" tIns="0" rIns="0" bIns="0" rtlCol="0" anchor="t"/>
          <a:lstStyle/>
          <a:p>
            <a:pPr indent="0" marL="0">
              <a:buNone/>
            </a:pPr>
            <a:r>
              <a:rPr lang="en-US" sz="1800" b="1" dirty="0">
                <a:solidFill>
                  <a:srgbClr val="13203A"/>
                </a:solidFill>
                <a:latin typeface="Calibri" pitchFamily="34" charset="0"/>
                <a:ea typeface="Calibri" pitchFamily="34" charset="-122"/>
                <a:cs typeface="Calibri" pitchFamily="34" charset="-120"/>
              </a:rPr>
              <a:t>Results &amp; future scope</a:t>
            </a:r>
            <a:endParaRPr lang="en-US" sz="1800" dirty="0"/>
          </a:p>
        </p:txBody>
      </p:sp>
      <p:sp>
        <p:nvSpPr>
          <p:cNvPr id="44" name="Text 42"/>
          <p:cNvSpPr txBox="1"/>
          <p:nvPr/>
        </p:nvSpPr>
        <p:spPr>
          <a:xfrm>
            <a:off x="6949440" y="5550408"/>
            <a:ext cx="4663440" cy="27432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Outcomes and next steps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300" kern="0" dirty="0">
                <a:solidFill>
                  <a:srgbClr val="9A5B00"/>
                </a:solidFill>
                <a:latin typeface="Calibri" pitchFamily="34" charset="0"/>
                <a:ea typeface="Calibri" pitchFamily="34" charset="-122"/>
                <a:cs typeface="Calibri" pitchFamily="34" charset="-120"/>
              </a:rPr>
              <a:t>PROBLEM STATEMENT</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3203A"/>
                </a:solidFill>
                <a:latin typeface="Cambria" pitchFamily="34" charset="0"/>
                <a:ea typeface="Cambria" pitchFamily="34" charset="-122"/>
                <a:cs typeface="Cambria" pitchFamily="34" charset="-120"/>
              </a:rPr>
              <a:t>Fleet schedules live in sheets and calls</a:t>
            </a:r>
            <a:endParaRPr lang="en-US" sz="3400" dirty="0"/>
          </a:p>
        </p:txBody>
      </p:sp>
      <p:sp>
        <p:nvSpPr>
          <p:cNvPr id="4" name="Text 2"/>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4A5568"/>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548640" y="1828800"/>
            <a:ext cx="3520440" cy="3566160"/>
          </a:xfrm>
          <a:prstGeom prst="roundRect">
            <a:avLst>
              <a:gd name="adj" fmla="val 2597"/>
            </a:avLst>
          </a:prstGeom>
          <a:solidFill>
            <a:srgbClr val="F3F5F8"/>
          </a:solidFill>
          <a:ln w="12700">
            <a:solidFill>
              <a:srgbClr val="F3F5F8"/>
            </a:solidFill>
            <a:prstDash val="solid"/>
          </a:ln>
        </p:spPr>
      </p:sp>
      <p:sp>
        <p:nvSpPr>
          <p:cNvPr id="6" name="Shape 4"/>
          <p:cNvSpPr/>
          <p:nvPr/>
        </p:nvSpPr>
        <p:spPr>
          <a:xfrm>
            <a:off x="914400" y="2240280"/>
            <a:ext cx="777240" cy="777240"/>
          </a:xfrm>
          <a:prstGeom prst="ellipse">
            <a:avLst/>
          </a:prstGeom>
          <a:solidFill>
            <a:srgbClr val="F2A541"/>
          </a:solidFill>
          <a:ln w="12700">
            <a:solidFill>
              <a:srgbClr val="F2A541"/>
            </a:solidFill>
            <a:prstDash val="solid"/>
          </a:ln>
        </p:spPr>
      </p:sp>
      <p:pic>
        <p:nvPicPr>
          <p:cNvPr id="7" name="Image 0" descr="preencoded.png">    </p:cNvPr>
          <p:cNvPicPr>
            <a:picLocks noChangeAspect="1"/>
          </p:cNvPicPr>
          <p:nvPr/>
        </p:nvPicPr>
        <p:blipFill>
          <a:blip r:embed="rId1"/>
          <a:stretch>
            <a:fillRect/>
          </a:stretch>
        </p:blipFill>
        <p:spPr>
          <a:xfrm>
            <a:off x="1108710" y="2434590"/>
            <a:ext cx="388620" cy="388620"/>
          </a:xfrm>
          <a:prstGeom prst="rect">
            <a:avLst/>
          </a:prstGeom>
        </p:spPr>
      </p:pic>
      <p:sp>
        <p:nvSpPr>
          <p:cNvPr id="8" name="Text 5"/>
          <p:cNvSpPr txBox="1"/>
          <p:nvPr/>
        </p:nvSpPr>
        <p:spPr>
          <a:xfrm>
            <a:off x="914400" y="3246120"/>
            <a:ext cx="2788920" cy="457200"/>
          </a:xfrm>
          <a:prstGeom prst="rect">
            <a:avLst/>
          </a:prstGeom>
          <a:noFill/>
          <a:ln/>
        </p:spPr>
        <p:txBody>
          <a:bodyPr wrap="square" lIns="0" tIns="0" rIns="0" bIns="0" rtlCol="0" anchor="t"/>
          <a:lstStyle/>
          <a:p>
            <a:pPr indent="0" marL="0">
              <a:buNone/>
            </a:pPr>
            <a:r>
              <a:rPr lang="en-US" sz="2200" b="1" dirty="0">
                <a:solidFill>
                  <a:srgbClr val="13203A"/>
                </a:solidFill>
                <a:latin typeface="Cambria" pitchFamily="34" charset="0"/>
                <a:ea typeface="Cambria" pitchFamily="34" charset="-122"/>
                <a:cs typeface="Cambria" pitchFamily="34" charset="-120"/>
              </a:rPr>
              <a:t>Double bookings</a:t>
            </a:r>
            <a:endParaRPr lang="en-US" sz="2200" dirty="0"/>
          </a:p>
        </p:txBody>
      </p:sp>
      <p:sp>
        <p:nvSpPr>
          <p:cNvPr id="9" name="Text 6"/>
          <p:cNvSpPr txBox="1"/>
          <p:nvPr/>
        </p:nvSpPr>
        <p:spPr>
          <a:xfrm>
            <a:off x="914400" y="3794760"/>
            <a:ext cx="2788920" cy="1371600"/>
          </a:xfrm>
          <a:prstGeom prst="rect">
            <a:avLst/>
          </a:prstGeom>
          <a:noFill/>
          <a:ln/>
        </p:spPr>
        <p:txBody>
          <a:bodyPr wrap="square" lIns="0" tIns="0" rIns="0" bIns="0" rtlCol="0" anchor="t"/>
          <a:lstStyle/>
          <a:p>
            <a:pPr indent="0" marL="0">
              <a:buNone/>
            </a:pPr>
            <a:r>
              <a:rPr lang="en-US" sz="1600" dirty="0">
                <a:solidFill>
                  <a:srgbClr val="4A5568"/>
                </a:solidFill>
                <a:latin typeface="Calibri" pitchFamily="34" charset="0"/>
                <a:ea typeface="Calibri" pitchFamily="34" charset="-122"/>
                <a:cs typeface="Calibri" pitchFamily="34" charset="-120"/>
              </a:rPr>
              <a:t>The same car is promised to two drivers, or one driver is booked on two cars at once.</a:t>
            </a:r>
            <a:endParaRPr lang="en-US" sz="1600" dirty="0"/>
          </a:p>
        </p:txBody>
      </p:sp>
      <p:sp>
        <p:nvSpPr>
          <p:cNvPr id="10" name="Shape 7"/>
          <p:cNvSpPr/>
          <p:nvPr/>
        </p:nvSpPr>
        <p:spPr>
          <a:xfrm>
            <a:off x="4297680" y="1828800"/>
            <a:ext cx="3520440" cy="3566160"/>
          </a:xfrm>
          <a:prstGeom prst="roundRect">
            <a:avLst>
              <a:gd name="adj" fmla="val 2597"/>
            </a:avLst>
          </a:prstGeom>
          <a:solidFill>
            <a:srgbClr val="F3F5F8"/>
          </a:solidFill>
          <a:ln w="12700">
            <a:solidFill>
              <a:srgbClr val="F3F5F8"/>
            </a:solidFill>
            <a:prstDash val="solid"/>
          </a:ln>
        </p:spPr>
      </p:sp>
      <p:sp>
        <p:nvSpPr>
          <p:cNvPr id="11" name="Shape 8"/>
          <p:cNvSpPr/>
          <p:nvPr/>
        </p:nvSpPr>
        <p:spPr>
          <a:xfrm>
            <a:off x="4663440" y="2240280"/>
            <a:ext cx="777240" cy="777240"/>
          </a:xfrm>
          <a:prstGeom prst="ellipse">
            <a:avLst/>
          </a:prstGeom>
          <a:solidFill>
            <a:srgbClr val="F2A541"/>
          </a:solidFill>
          <a:ln w="12700">
            <a:solidFill>
              <a:srgbClr val="F2A541"/>
            </a:solidFill>
            <a:prstDash val="solid"/>
          </a:ln>
        </p:spPr>
      </p:sp>
      <p:pic>
        <p:nvPicPr>
          <p:cNvPr id="12" name="Image 1" descr="preencoded.png">    </p:cNvPr>
          <p:cNvPicPr>
            <a:picLocks noChangeAspect="1"/>
          </p:cNvPicPr>
          <p:nvPr/>
        </p:nvPicPr>
        <p:blipFill>
          <a:blip r:embed="rId2"/>
          <a:stretch>
            <a:fillRect/>
          </a:stretch>
        </p:blipFill>
        <p:spPr>
          <a:xfrm>
            <a:off x="4857750" y="2434590"/>
            <a:ext cx="388620" cy="388620"/>
          </a:xfrm>
          <a:prstGeom prst="rect">
            <a:avLst/>
          </a:prstGeom>
        </p:spPr>
      </p:pic>
      <p:sp>
        <p:nvSpPr>
          <p:cNvPr id="13" name="Text 9"/>
          <p:cNvSpPr txBox="1"/>
          <p:nvPr/>
        </p:nvSpPr>
        <p:spPr>
          <a:xfrm>
            <a:off x="4663440" y="3246120"/>
            <a:ext cx="2788920" cy="457200"/>
          </a:xfrm>
          <a:prstGeom prst="rect">
            <a:avLst/>
          </a:prstGeom>
          <a:noFill/>
          <a:ln/>
        </p:spPr>
        <p:txBody>
          <a:bodyPr wrap="square" lIns="0" tIns="0" rIns="0" bIns="0" rtlCol="0" anchor="t"/>
          <a:lstStyle/>
          <a:p>
            <a:pPr indent="0" marL="0">
              <a:buNone/>
            </a:pPr>
            <a:r>
              <a:rPr lang="en-US" sz="2200" b="1" dirty="0">
                <a:solidFill>
                  <a:srgbClr val="13203A"/>
                </a:solidFill>
                <a:latin typeface="Cambria" pitchFamily="34" charset="0"/>
                <a:ea typeface="Cambria" pitchFamily="34" charset="-122"/>
                <a:cs typeface="Cambria" pitchFamily="34" charset="-120"/>
              </a:rPr>
              <a:t>Slow answers</a:t>
            </a:r>
            <a:endParaRPr lang="en-US" sz="2200" dirty="0"/>
          </a:p>
        </p:txBody>
      </p:sp>
      <p:sp>
        <p:nvSpPr>
          <p:cNvPr id="14" name="Text 10"/>
          <p:cNvSpPr txBox="1"/>
          <p:nvPr/>
        </p:nvSpPr>
        <p:spPr>
          <a:xfrm>
            <a:off x="4663440" y="3794760"/>
            <a:ext cx="2788920" cy="1371600"/>
          </a:xfrm>
          <a:prstGeom prst="rect">
            <a:avLst/>
          </a:prstGeom>
          <a:noFill/>
          <a:ln/>
        </p:spPr>
        <p:txBody>
          <a:bodyPr wrap="square" lIns="0" tIns="0" rIns="0" bIns="0" rtlCol="0" anchor="t"/>
          <a:lstStyle/>
          <a:p>
            <a:pPr indent="0" marL="0">
              <a:buNone/>
            </a:pPr>
            <a:r>
              <a:rPr lang="en-US" sz="1600" dirty="0">
                <a:solidFill>
                  <a:srgbClr val="4A5568"/>
                </a:solidFill>
                <a:latin typeface="Calibri" pitchFamily="34" charset="0"/>
                <a:ea typeface="Calibri" pitchFamily="34" charset="-122"/>
                <a:cs typeface="Calibri" pitchFamily="34" charset="-120"/>
              </a:rPr>
              <a:t>“Who has the Alto right now?” means searching sheets or calling around.</a:t>
            </a:r>
            <a:endParaRPr lang="en-US" sz="1600" dirty="0"/>
          </a:p>
        </p:txBody>
      </p:sp>
      <p:sp>
        <p:nvSpPr>
          <p:cNvPr id="15" name="Shape 11"/>
          <p:cNvSpPr/>
          <p:nvPr/>
        </p:nvSpPr>
        <p:spPr>
          <a:xfrm>
            <a:off x="8046720" y="1828800"/>
            <a:ext cx="3520440" cy="3566160"/>
          </a:xfrm>
          <a:prstGeom prst="roundRect">
            <a:avLst>
              <a:gd name="adj" fmla="val 2597"/>
            </a:avLst>
          </a:prstGeom>
          <a:solidFill>
            <a:srgbClr val="F3F5F8"/>
          </a:solidFill>
          <a:ln w="12700">
            <a:solidFill>
              <a:srgbClr val="F3F5F8"/>
            </a:solidFill>
            <a:prstDash val="solid"/>
          </a:ln>
        </p:spPr>
      </p:sp>
      <p:sp>
        <p:nvSpPr>
          <p:cNvPr id="16" name="Shape 12"/>
          <p:cNvSpPr/>
          <p:nvPr/>
        </p:nvSpPr>
        <p:spPr>
          <a:xfrm>
            <a:off x="8412480" y="2240280"/>
            <a:ext cx="777240" cy="777240"/>
          </a:xfrm>
          <a:prstGeom prst="ellipse">
            <a:avLst/>
          </a:prstGeom>
          <a:solidFill>
            <a:srgbClr val="F2A541"/>
          </a:solidFill>
          <a:ln w="12700">
            <a:solidFill>
              <a:srgbClr val="F2A541"/>
            </a:solidFill>
            <a:prstDash val="solid"/>
          </a:ln>
        </p:spPr>
      </p:sp>
      <p:pic>
        <p:nvPicPr>
          <p:cNvPr id="17" name="Image 2" descr="preencoded.png">    </p:cNvPr>
          <p:cNvPicPr>
            <a:picLocks noChangeAspect="1"/>
          </p:cNvPicPr>
          <p:nvPr/>
        </p:nvPicPr>
        <p:blipFill>
          <a:blip r:embed="rId3"/>
          <a:stretch>
            <a:fillRect/>
          </a:stretch>
        </p:blipFill>
        <p:spPr>
          <a:xfrm>
            <a:off x="8606790" y="2434590"/>
            <a:ext cx="388620" cy="388620"/>
          </a:xfrm>
          <a:prstGeom prst="rect">
            <a:avLst/>
          </a:prstGeom>
        </p:spPr>
      </p:pic>
      <p:sp>
        <p:nvSpPr>
          <p:cNvPr id="18" name="Text 13"/>
          <p:cNvSpPr txBox="1"/>
          <p:nvPr/>
        </p:nvSpPr>
        <p:spPr>
          <a:xfrm>
            <a:off x="8412480" y="3246120"/>
            <a:ext cx="2788920" cy="457200"/>
          </a:xfrm>
          <a:prstGeom prst="rect">
            <a:avLst/>
          </a:prstGeom>
          <a:noFill/>
          <a:ln/>
        </p:spPr>
        <p:txBody>
          <a:bodyPr wrap="square" lIns="0" tIns="0" rIns="0" bIns="0" rtlCol="0" anchor="t"/>
          <a:lstStyle/>
          <a:p>
            <a:pPr indent="0" marL="0">
              <a:buNone/>
            </a:pPr>
            <a:r>
              <a:rPr lang="en-US" sz="2200" b="1" dirty="0">
                <a:solidFill>
                  <a:srgbClr val="13203A"/>
                </a:solidFill>
                <a:latin typeface="Cambria" pitchFamily="34" charset="0"/>
                <a:ea typeface="Cambria" pitchFamily="34" charset="-122"/>
                <a:cs typeface="Cambria" pitchFamily="34" charset="-120"/>
              </a:rPr>
              <a:t>Drivers left out</a:t>
            </a:r>
            <a:endParaRPr lang="en-US" sz="2200" dirty="0"/>
          </a:p>
        </p:txBody>
      </p:sp>
      <p:sp>
        <p:nvSpPr>
          <p:cNvPr id="19" name="Text 14"/>
          <p:cNvSpPr txBox="1"/>
          <p:nvPr/>
        </p:nvSpPr>
        <p:spPr>
          <a:xfrm>
            <a:off x="8412480" y="3794760"/>
            <a:ext cx="2788920" cy="1371600"/>
          </a:xfrm>
          <a:prstGeom prst="rect">
            <a:avLst/>
          </a:prstGeom>
          <a:noFill/>
          <a:ln/>
        </p:spPr>
        <p:txBody>
          <a:bodyPr wrap="square" lIns="0" tIns="0" rIns="0" bIns="0" rtlCol="0" anchor="t"/>
          <a:lstStyle/>
          <a:p>
            <a:pPr indent="0" marL="0">
              <a:buNone/>
            </a:pPr>
            <a:r>
              <a:rPr lang="en-US" sz="1600" dirty="0">
                <a:solidFill>
                  <a:srgbClr val="4A5568"/>
                </a:solidFill>
                <a:latin typeface="Calibri" pitchFamily="34" charset="0"/>
                <a:ea typeface="Calibri" pitchFamily="34" charset="-122"/>
                <a:cs typeface="Calibri" pitchFamily="34" charset="-120"/>
              </a:rPr>
              <a:t>Drivers can’t see, accept or reject their assignments in one place.</a:t>
            </a:r>
            <a:endParaRPr lang="en-US" sz="1600" dirty="0"/>
          </a:p>
        </p:txBody>
      </p:sp>
      <p:sp>
        <p:nvSpPr>
          <p:cNvPr id="20" name="Text 15"/>
          <p:cNvSpPr txBox="1"/>
          <p:nvPr/>
        </p:nvSpPr>
        <p:spPr>
          <a:xfrm>
            <a:off x="548640" y="5715000"/>
            <a:ext cx="10972800" cy="457200"/>
          </a:xfrm>
          <a:prstGeom prst="rect">
            <a:avLst/>
          </a:prstGeom>
          <a:noFill/>
          <a:ln/>
        </p:spPr>
        <p:txBody>
          <a:bodyPr wrap="square" lIns="0" tIns="0" rIns="0" bIns="0" rtlCol="0" anchor="t"/>
          <a:lstStyle/>
          <a:p>
            <a:pPr indent="0" marL="0">
              <a:buNone/>
            </a:pPr>
            <a:r>
              <a:rPr lang="en-US" sz="1600" i="1" dirty="0">
                <a:solidFill>
                  <a:srgbClr val="13203A"/>
                </a:solidFill>
                <a:latin typeface="Calibri" pitchFamily="34" charset="0"/>
                <a:ea typeface="Calibri" pitchFamily="34" charset="-122"/>
                <a:cs typeface="Calibri" pitchFamily="34" charset="-120"/>
              </a:rPr>
              <a:t>Goal: one source of truth for who drives which vehicle, and when, that anyone can query in plain English.</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300" kern="0" dirty="0">
                <a:solidFill>
                  <a:srgbClr val="9A5B00"/>
                </a:solidFill>
                <a:latin typeface="Calibri" pitchFamily="34" charset="0"/>
                <a:ea typeface="Calibri" pitchFamily="34" charset="-122"/>
                <a:cs typeface="Calibri" pitchFamily="34" charset="-120"/>
              </a:rPr>
              <a:t>OBJECTIVES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3203A"/>
                </a:solidFill>
                <a:latin typeface="Cambria" pitchFamily="34" charset="0"/>
                <a:ea typeface="Cambria" pitchFamily="34" charset="-122"/>
                <a:cs typeface="Cambria" pitchFamily="34" charset="-120"/>
              </a:rPr>
              <a:t>What we set out to build</a:t>
            </a:r>
            <a:endParaRPr lang="en-US" sz="3400" dirty="0"/>
          </a:p>
        </p:txBody>
      </p:sp>
      <p:sp>
        <p:nvSpPr>
          <p:cNvPr id="4" name="Text 2"/>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4A5568"/>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548640" y="1600200"/>
            <a:ext cx="594360" cy="594360"/>
          </a:xfrm>
          <a:prstGeom prst="ellipse">
            <a:avLst/>
          </a:prstGeom>
          <a:solidFill>
            <a:srgbClr val="F2A541"/>
          </a:solidFill>
          <a:ln w="12700">
            <a:solidFill>
              <a:srgbClr val="F2A541"/>
            </a:solidFill>
            <a:prstDash val="solid"/>
          </a:ln>
        </p:spPr>
      </p:sp>
      <p:pic>
        <p:nvPicPr>
          <p:cNvPr id="6" name="Image 0" descr="preencoded.png">    </p:cNvPr>
          <p:cNvPicPr>
            <a:picLocks noChangeAspect="1"/>
          </p:cNvPicPr>
          <p:nvPr/>
        </p:nvPicPr>
        <p:blipFill>
          <a:blip r:embed="rId1"/>
          <a:stretch>
            <a:fillRect/>
          </a:stretch>
        </p:blipFill>
        <p:spPr>
          <a:xfrm>
            <a:off x="697230" y="1748790"/>
            <a:ext cx="297180" cy="297180"/>
          </a:xfrm>
          <a:prstGeom prst="rect">
            <a:avLst/>
          </a:prstGeom>
        </p:spPr>
      </p:pic>
      <p:sp>
        <p:nvSpPr>
          <p:cNvPr id="7" name="Text 4"/>
          <p:cNvSpPr txBox="1"/>
          <p:nvPr/>
        </p:nvSpPr>
        <p:spPr>
          <a:xfrm>
            <a:off x="1417320" y="1581912"/>
            <a:ext cx="3108960" cy="594360"/>
          </a:xfrm>
          <a:prstGeom prst="rect">
            <a:avLst/>
          </a:prstGeom>
          <a:noFill/>
          <a:ln/>
        </p:spPr>
        <p:txBody>
          <a:bodyPr wrap="square" lIns="0" tIns="0" rIns="0" bIns="0" rtlCol="0" anchor="ctr"/>
          <a:lstStyle/>
          <a:p>
            <a:pPr indent="0" marL="0">
              <a:buNone/>
            </a:pPr>
            <a:r>
              <a:rPr lang="en-US" sz="1800" b="1" dirty="0">
                <a:solidFill>
                  <a:srgbClr val="13203A"/>
                </a:solidFill>
                <a:latin typeface="Calibri" pitchFamily="34" charset="0"/>
                <a:ea typeface="Calibri" pitchFamily="34" charset="-122"/>
                <a:cs typeface="Calibri" pitchFamily="34" charset="-120"/>
              </a:rPr>
              <a:t>Manage the fleet</a:t>
            </a:r>
            <a:endParaRPr lang="en-US" sz="1800" dirty="0"/>
          </a:p>
        </p:txBody>
      </p:sp>
      <p:sp>
        <p:nvSpPr>
          <p:cNvPr id="8" name="Text 5"/>
          <p:cNvSpPr txBox="1"/>
          <p:nvPr/>
        </p:nvSpPr>
        <p:spPr>
          <a:xfrm>
            <a:off x="4572000" y="1581912"/>
            <a:ext cx="7040880" cy="594360"/>
          </a:xfrm>
          <a:prstGeom prst="rect">
            <a:avLst/>
          </a:prstGeom>
          <a:noFill/>
          <a:ln/>
        </p:spPr>
        <p:txBody>
          <a:bodyPr wrap="square" lIns="0" tIns="0" rIns="0" bIns="0" rtlCol="0" anchor="ctr"/>
          <a:lstStyle/>
          <a:p>
            <a:pPr indent="0" marL="0">
              <a:buNone/>
            </a:pPr>
            <a:r>
              <a:rPr lang="en-US" sz="1500" dirty="0">
                <a:solidFill>
                  <a:srgbClr val="4A5568"/>
                </a:solidFill>
                <a:latin typeface="Calibri" pitchFamily="34" charset="0"/>
                <a:ea typeface="Calibri" pitchFamily="34" charset="-122"/>
                <a:cs typeface="Calibri" pitchFamily="34" charset="-120"/>
              </a:rPr>
              <a:t>Register drivers and vehicles; send, accept, reject and cancel time-boxed assignments.</a:t>
            </a:r>
            <a:endParaRPr lang="en-US" sz="1500" dirty="0"/>
          </a:p>
        </p:txBody>
      </p:sp>
      <p:sp>
        <p:nvSpPr>
          <p:cNvPr id="9" name="Shape 6"/>
          <p:cNvSpPr/>
          <p:nvPr/>
        </p:nvSpPr>
        <p:spPr>
          <a:xfrm>
            <a:off x="548640" y="2514600"/>
            <a:ext cx="594360" cy="594360"/>
          </a:xfrm>
          <a:prstGeom prst="ellipse">
            <a:avLst/>
          </a:prstGeom>
          <a:solidFill>
            <a:srgbClr val="F2A541"/>
          </a:solidFill>
          <a:ln w="12700">
            <a:solidFill>
              <a:srgbClr val="F2A541"/>
            </a:solidFill>
            <a:prstDash val="solid"/>
          </a:ln>
        </p:spPr>
      </p:sp>
      <p:pic>
        <p:nvPicPr>
          <p:cNvPr id="10" name="Image 1" descr="preencoded.png">    </p:cNvPr>
          <p:cNvPicPr>
            <a:picLocks noChangeAspect="1"/>
          </p:cNvPicPr>
          <p:nvPr/>
        </p:nvPicPr>
        <p:blipFill>
          <a:blip r:embed="rId2"/>
          <a:stretch>
            <a:fillRect/>
          </a:stretch>
        </p:blipFill>
        <p:spPr>
          <a:xfrm>
            <a:off x="697230" y="2663190"/>
            <a:ext cx="297180" cy="297180"/>
          </a:xfrm>
          <a:prstGeom prst="rect">
            <a:avLst/>
          </a:prstGeom>
        </p:spPr>
      </p:pic>
      <p:sp>
        <p:nvSpPr>
          <p:cNvPr id="11" name="Text 7"/>
          <p:cNvSpPr txBox="1"/>
          <p:nvPr/>
        </p:nvSpPr>
        <p:spPr>
          <a:xfrm>
            <a:off x="1417320" y="2496312"/>
            <a:ext cx="3108960" cy="594360"/>
          </a:xfrm>
          <a:prstGeom prst="rect">
            <a:avLst/>
          </a:prstGeom>
          <a:noFill/>
          <a:ln/>
        </p:spPr>
        <p:txBody>
          <a:bodyPr wrap="square" lIns="0" tIns="0" rIns="0" bIns="0" rtlCol="0" anchor="ctr"/>
          <a:lstStyle/>
          <a:p>
            <a:pPr indent="0" marL="0">
              <a:buNone/>
            </a:pPr>
            <a:r>
              <a:rPr lang="en-US" sz="1800" b="1" dirty="0">
                <a:solidFill>
                  <a:srgbClr val="13203A"/>
                </a:solidFill>
                <a:latin typeface="Calibri" pitchFamily="34" charset="0"/>
                <a:ea typeface="Calibri" pitchFamily="34" charset="-122"/>
                <a:cs typeface="Calibri" pitchFamily="34" charset="-120"/>
              </a:rPr>
              <a:t>Enforce the rules</a:t>
            </a:r>
            <a:endParaRPr lang="en-US" sz="1800" dirty="0"/>
          </a:p>
        </p:txBody>
      </p:sp>
      <p:sp>
        <p:nvSpPr>
          <p:cNvPr id="12" name="Text 8"/>
          <p:cNvSpPr txBox="1"/>
          <p:nvPr/>
        </p:nvSpPr>
        <p:spPr>
          <a:xfrm>
            <a:off x="4572000" y="2496312"/>
            <a:ext cx="7040880" cy="594360"/>
          </a:xfrm>
          <a:prstGeom prst="rect">
            <a:avLst/>
          </a:prstGeom>
          <a:noFill/>
          <a:ln/>
        </p:spPr>
        <p:txBody>
          <a:bodyPr wrap="square" lIns="0" tIns="0" rIns="0" bIns="0" rtlCol="0" anchor="ctr"/>
          <a:lstStyle/>
          <a:p>
            <a:pPr indent="0" marL="0">
              <a:buNone/>
            </a:pPr>
            <a:r>
              <a:rPr lang="en-US" sz="1500" dirty="0">
                <a:solidFill>
                  <a:srgbClr val="4A5568"/>
                </a:solidFill>
                <a:latin typeface="Calibri" pitchFamily="34" charset="0"/>
                <a:ea typeface="Calibri" pitchFamily="34" charset="-122"/>
                <a:cs typeface="Calibri" pitchFamily="34" charset="-120"/>
              </a:rPr>
              <a:t>Never allow overlapping bookings for a vehicle or a driver.</a:t>
            </a:r>
            <a:endParaRPr lang="en-US" sz="1500" dirty="0"/>
          </a:p>
        </p:txBody>
      </p:sp>
      <p:sp>
        <p:nvSpPr>
          <p:cNvPr id="13" name="Shape 9"/>
          <p:cNvSpPr/>
          <p:nvPr/>
        </p:nvSpPr>
        <p:spPr>
          <a:xfrm>
            <a:off x="548640" y="3429000"/>
            <a:ext cx="594360" cy="594360"/>
          </a:xfrm>
          <a:prstGeom prst="ellipse">
            <a:avLst/>
          </a:prstGeom>
          <a:solidFill>
            <a:srgbClr val="F2A541"/>
          </a:solidFill>
          <a:ln w="12700">
            <a:solidFill>
              <a:srgbClr val="F2A541"/>
            </a:solidFill>
            <a:prstDash val="solid"/>
          </a:ln>
        </p:spPr>
      </p:sp>
      <p:pic>
        <p:nvPicPr>
          <p:cNvPr id="14" name="Image 2" descr="preencoded.png">    </p:cNvPr>
          <p:cNvPicPr>
            <a:picLocks noChangeAspect="1"/>
          </p:cNvPicPr>
          <p:nvPr/>
        </p:nvPicPr>
        <p:blipFill>
          <a:blip r:embed="rId3"/>
          <a:stretch>
            <a:fillRect/>
          </a:stretch>
        </p:blipFill>
        <p:spPr>
          <a:xfrm>
            <a:off x="697230" y="3577590"/>
            <a:ext cx="297180" cy="297180"/>
          </a:xfrm>
          <a:prstGeom prst="rect">
            <a:avLst/>
          </a:prstGeom>
        </p:spPr>
      </p:pic>
      <p:sp>
        <p:nvSpPr>
          <p:cNvPr id="15" name="Text 10"/>
          <p:cNvSpPr txBox="1"/>
          <p:nvPr/>
        </p:nvSpPr>
        <p:spPr>
          <a:xfrm>
            <a:off x="1417320" y="3410712"/>
            <a:ext cx="3108960" cy="594360"/>
          </a:xfrm>
          <a:prstGeom prst="rect">
            <a:avLst/>
          </a:prstGeom>
          <a:noFill/>
          <a:ln/>
        </p:spPr>
        <p:txBody>
          <a:bodyPr wrap="square" lIns="0" tIns="0" rIns="0" bIns="0" rtlCol="0" anchor="ctr"/>
          <a:lstStyle/>
          <a:p>
            <a:pPr indent="0" marL="0">
              <a:buNone/>
            </a:pPr>
            <a:r>
              <a:rPr lang="en-US" sz="1800" b="1" dirty="0">
                <a:solidFill>
                  <a:srgbClr val="13203A"/>
                </a:solidFill>
                <a:latin typeface="Calibri" pitchFamily="34" charset="0"/>
                <a:ea typeface="Calibri" pitchFamily="34" charset="-122"/>
                <a:cs typeface="Calibri" pitchFamily="34" charset="-120"/>
              </a:rPr>
              <a:t>Answer questions instantly</a:t>
            </a:r>
            <a:endParaRPr lang="en-US" sz="1800" dirty="0"/>
          </a:p>
        </p:txBody>
      </p:sp>
      <p:sp>
        <p:nvSpPr>
          <p:cNvPr id="16" name="Text 11"/>
          <p:cNvSpPr txBox="1"/>
          <p:nvPr/>
        </p:nvSpPr>
        <p:spPr>
          <a:xfrm>
            <a:off x="4572000" y="3410712"/>
            <a:ext cx="7040880" cy="594360"/>
          </a:xfrm>
          <a:prstGeom prst="rect">
            <a:avLst/>
          </a:prstGeom>
          <a:noFill/>
          <a:ln/>
        </p:spPr>
        <p:txBody>
          <a:bodyPr wrap="square" lIns="0" tIns="0" rIns="0" bIns="0" rtlCol="0" anchor="ctr"/>
          <a:lstStyle/>
          <a:p>
            <a:pPr indent="0" marL="0">
              <a:buNone/>
            </a:pPr>
            <a:r>
              <a:rPr lang="en-US" sz="1500" dirty="0">
                <a:solidFill>
                  <a:srgbClr val="4A5568"/>
                </a:solidFill>
                <a:latin typeface="Calibri" pitchFamily="34" charset="0"/>
                <a:ea typeface="Calibri" pitchFamily="34" charset="-122"/>
                <a:cs typeface="Calibri" pitchFamily="34" charset="-120"/>
              </a:rPr>
              <a:t>An AI assistant that answers “Who is driving the Alto TS 09 AB 1234?” from live data.</a:t>
            </a:r>
            <a:endParaRPr lang="en-US" sz="1500" dirty="0"/>
          </a:p>
        </p:txBody>
      </p:sp>
      <p:sp>
        <p:nvSpPr>
          <p:cNvPr id="17" name="Shape 12"/>
          <p:cNvSpPr/>
          <p:nvPr/>
        </p:nvSpPr>
        <p:spPr>
          <a:xfrm>
            <a:off x="548640" y="4343400"/>
            <a:ext cx="594360" cy="594360"/>
          </a:xfrm>
          <a:prstGeom prst="ellipse">
            <a:avLst/>
          </a:prstGeom>
          <a:solidFill>
            <a:srgbClr val="F2A541"/>
          </a:solidFill>
          <a:ln w="12700">
            <a:solidFill>
              <a:srgbClr val="F2A541"/>
            </a:solidFill>
            <a:prstDash val="solid"/>
          </a:ln>
        </p:spPr>
      </p:sp>
      <p:pic>
        <p:nvPicPr>
          <p:cNvPr id="18" name="Image 3" descr="preencoded.png">    </p:cNvPr>
          <p:cNvPicPr>
            <a:picLocks noChangeAspect="1"/>
          </p:cNvPicPr>
          <p:nvPr/>
        </p:nvPicPr>
        <p:blipFill>
          <a:blip r:embed="rId4"/>
          <a:stretch>
            <a:fillRect/>
          </a:stretch>
        </p:blipFill>
        <p:spPr>
          <a:xfrm>
            <a:off x="697230" y="4491990"/>
            <a:ext cx="297180" cy="297180"/>
          </a:xfrm>
          <a:prstGeom prst="rect">
            <a:avLst/>
          </a:prstGeom>
        </p:spPr>
      </p:pic>
      <p:sp>
        <p:nvSpPr>
          <p:cNvPr id="19" name="Text 13"/>
          <p:cNvSpPr txBox="1"/>
          <p:nvPr/>
        </p:nvSpPr>
        <p:spPr>
          <a:xfrm>
            <a:off x="1417320" y="4325112"/>
            <a:ext cx="3108960" cy="594360"/>
          </a:xfrm>
          <a:prstGeom prst="rect">
            <a:avLst/>
          </a:prstGeom>
          <a:noFill/>
          <a:ln/>
        </p:spPr>
        <p:txBody>
          <a:bodyPr wrap="square" lIns="0" tIns="0" rIns="0" bIns="0" rtlCol="0" anchor="ctr"/>
          <a:lstStyle/>
          <a:p>
            <a:pPr indent="0" marL="0">
              <a:buNone/>
            </a:pPr>
            <a:r>
              <a:rPr lang="en-US" sz="1800" b="1" dirty="0">
                <a:solidFill>
                  <a:srgbClr val="13203A"/>
                </a:solidFill>
                <a:latin typeface="Calibri" pitchFamily="34" charset="0"/>
                <a:ea typeface="Calibri" pitchFamily="34" charset="-122"/>
                <a:cs typeface="Calibri" pitchFamily="34" charset="-120"/>
              </a:rPr>
              <a:t>Keep data private</a:t>
            </a:r>
            <a:endParaRPr lang="en-US" sz="1800" dirty="0"/>
          </a:p>
        </p:txBody>
      </p:sp>
      <p:sp>
        <p:nvSpPr>
          <p:cNvPr id="20" name="Text 14"/>
          <p:cNvSpPr txBox="1"/>
          <p:nvPr/>
        </p:nvSpPr>
        <p:spPr>
          <a:xfrm>
            <a:off x="4572000" y="4325112"/>
            <a:ext cx="7040880" cy="594360"/>
          </a:xfrm>
          <a:prstGeom prst="rect">
            <a:avLst/>
          </a:prstGeom>
          <a:noFill/>
          <a:ln/>
        </p:spPr>
        <p:txBody>
          <a:bodyPr wrap="square" lIns="0" tIns="0" rIns="0" bIns="0" rtlCol="0" anchor="ctr"/>
          <a:lstStyle/>
          <a:p>
            <a:pPr indent="0" marL="0">
              <a:buNone/>
            </a:pPr>
            <a:r>
              <a:rPr lang="en-US" sz="1500" dirty="0">
                <a:solidFill>
                  <a:srgbClr val="4A5568"/>
                </a:solidFill>
                <a:latin typeface="Calibri" pitchFamily="34" charset="0"/>
                <a:ea typeface="Calibri" pitchFamily="34" charset="-122"/>
                <a:cs typeface="Calibri" pitchFamily="34" charset="-120"/>
              </a:rPr>
              <a:t>Run the language model on our own server; no third-party chatbot API.</a:t>
            </a:r>
            <a:endParaRPr lang="en-US" sz="1500" dirty="0"/>
          </a:p>
        </p:txBody>
      </p:sp>
      <p:sp>
        <p:nvSpPr>
          <p:cNvPr id="21" name="Shape 15"/>
          <p:cNvSpPr/>
          <p:nvPr/>
        </p:nvSpPr>
        <p:spPr>
          <a:xfrm>
            <a:off x="548640" y="5257800"/>
            <a:ext cx="594360" cy="594360"/>
          </a:xfrm>
          <a:prstGeom prst="ellipse">
            <a:avLst/>
          </a:prstGeom>
          <a:solidFill>
            <a:srgbClr val="F2A541"/>
          </a:solidFill>
          <a:ln w="12700">
            <a:solidFill>
              <a:srgbClr val="F2A541"/>
            </a:solidFill>
            <a:prstDash val="solid"/>
          </a:ln>
        </p:spPr>
      </p:sp>
      <p:pic>
        <p:nvPicPr>
          <p:cNvPr id="22" name="Image 4" descr="preencoded.png">    </p:cNvPr>
          <p:cNvPicPr>
            <a:picLocks noChangeAspect="1"/>
          </p:cNvPicPr>
          <p:nvPr/>
        </p:nvPicPr>
        <p:blipFill>
          <a:blip r:embed="rId5"/>
          <a:stretch>
            <a:fillRect/>
          </a:stretch>
        </p:blipFill>
        <p:spPr>
          <a:xfrm>
            <a:off x="697230" y="5406390"/>
            <a:ext cx="297180" cy="297180"/>
          </a:xfrm>
          <a:prstGeom prst="rect">
            <a:avLst/>
          </a:prstGeom>
        </p:spPr>
      </p:pic>
      <p:sp>
        <p:nvSpPr>
          <p:cNvPr id="23" name="Text 16"/>
          <p:cNvSpPr txBox="1"/>
          <p:nvPr/>
        </p:nvSpPr>
        <p:spPr>
          <a:xfrm>
            <a:off x="1417320" y="5239512"/>
            <a:ext cx="3108960" cy="594360"/>
          </a:xfrm>
          <a:prstGeom prst="rect">
            <a:avLst/>
          </a:prstGeom>
          <a:noFill/>
          <a:ln/>
        </p:spPr>
        <p:txBody>
          <a:bodyPr wrap="square" lIns="0" tIns="0" rIns="0" bIns="0" rtlCol="0" anchor="ctr"/>
          <a:lstStyle/>
          <a:p>
            <a:pPr indent="0" marL="0">
              <a:buNone/>
            </a:pPr>
            <a:r>
              <a:rPr lang="en-US" sz="1800" b="1" dirty="0">
                <a:solidFill>
                  <a:srgbClr val="13203A"/>
                </a:solidFill>
                <a:latin typeface="Calibri" pitchFamily="34" charset="0"/>
                <a:ea typeface="Calibri" pitchFamily="34" charset="-122"/>
                <a:cs typeface="Calibri" pitchFamily="34" charset="-120"/>
              </a:rPr>
              <a:t>Ship it for real</a:t>
            </a:r>
            <a:endParaRPr lang="en-US" sz="1800" dirty="0"/>
          </a:p>
        </p:txBody>
      </p:sp>
      <p:sp>
        <p:nvSpPr>
          <p:cNvPr id="24" name="Text 17"/>
          <p:cNvSpPr txBox="1"/>
          <p:nvPr/>
        </p:nvSpPr>
        <p:spPr>
          <a:xfrm>
            <a:off x="4572000" y="5239512"/>
            <a:ext cx="7040880" cy="594360"/>
          </a:xfrm>
          <a:prstGeom prst="rect">
            <a:avLst/>
          </a:prstGeom>
          <a:noFill/>
          <a:ln/>
        </p:spPr>
        <p:txBody>
          <a:bodyPr wrap="square" lIns="0" tIns="0" rIns="0" bIns="0" rtlCol="0" anchor="ctr"/>
          <a:lstStyle/>
          <a:p>
            <a:pPr indent="0" marL="0">
              <a:buNone/>
            </a:pPr>
            <a:r>
              <a:rPr lang="en-US" sz="1500" dirty="0">
                <a:solidFill>
                  <a:srgbClr val="4A5568"/>
                </a:solidFill>
                <a:latin typeface="Calibri" pitchFamily="34" charset="0"/>
                <a:ea typeface="Calibri" pitchFamily="34" charset="-122"/>
                <a:cs typeface="Calibri" pitchFamily="34" charset="-120"/>
              </a:rPr>
              <a:t>Automated tests, CI on every change, one-command deployment on free hosting.</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300" kern="0" dirty="0">
                <a:solidFill>
                  <a:srgbClr val="9A5B00"/>
                </a:solidFill>
                <a:latin typeface="Calibri" pitchFamily="34" charset="0"/>
                <a:ea typeface="Calibri" pitchFamily="34" charset="-122"/>
                <a:cs typeface="Calibri" pitchFamily="34" charset="-120"/>
              </a:rPr>
              <a:t>SOLUTION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3203A"/>
                </a:solidFill>
                <a:latin typeface="Cambria" pitchFamily="34" charset="0"/>
                <a:ea typeface="Cambria" pitchFamily="34" charset="-122"/>
                <a:cs typeface="Cambria" pitchFamily="34" charset="-120"/>
              </a:rPr>
              <a:t>One platform, three ways to use it</a:t>
            </a:r>
            <a:endParaRPr lang="en-US" sz="3400" dirty="0"/>
          </a:p>
        </p:txBody>
      </p:sp>
      <p:sp>
        <p:nvSpPr>
          <p:cNvPr id="4" name="Text 2"/>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4A5568"/>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548640" y="1645920"/>
            <a:ext cx="3520440" cy="4480560"/>
          </a:xfrm>
          <a:prstGeom prst="roundRect">
            <a:avLst>
              <a:gd name="adj" fmla="val 2597"/>
            </a:avLst>
          </a:prstGeom>
          <a:solidFill>
            <a:srgbClr val="F3F5F8"/>
          </a:solidFill>
          <a:ln w="12700">
            <a:solidFill>
              <a:srgbClr val="F3F5F8"/>
            </a:solidFill>
            <a:prstDash val="solid"/>
          </a:ln>
        </p:spPr>
      </p:sp>
      <p:sp>
        <p:nvSpPr>
          <p:cNvPr id="6" name="Shape 4"/>
          <p:cNvSpPr/>
          <p:nvPr/>
        </p:nvSpPr>
        <p:spPr>
          <a:xfrm>
            <a:off x="914400" y="2011680"/>
            <a:ext cx="731520" cy="731520"/>
          </a:xfrm>
          <a:prstGeom prst="ellipse">
            <a:avLst/>
          </a:prstGeom>
          <a:solidFill>
            <a:srgbClr val="F2A541"/>
          </a:solidFill>
          <a:ln w="12700">
            <a:solidFill>
              <a:srgbClr val="F2A541"/>
            </a:solidFill>
            <a:prstDash val="solid"/>
          </a:ln>
        </p:spPr>
      </p:sp>
      <p:pic>
        <p:nvPicPr>
          <p:cNvPr id="7" name="Image 0" descr="preencoded.png">    </p:cNvPr>
          <p:cNvPicPr>
            <a:picLocks noChangeAspect="1"/>
          </p:cNvPicPr>
          <p:nvPr/>
        </p:nvPicPr>
        <p:blipFill>
          <a:blip r:embed="rId1"/>
          <a:stretch>
            <a:fillRect/>
          </a:stretch>
        </p:blipFill>
        <p:spPr>
          <a:xfrm>
            <a:off x="1097280" y="2194560"/>
            <a:ext cx="365760" cy="365760"/>
          </a:xfrm>
          <a:prstGeom prst="rect">
            <a:avLst/>
          </a:prstGeom>
        </p:spPr>
      </p:pic>
      <p:sp>
        <p:nvSpPr>
          <p:cNvPr id="8" name="Text 5"/>
          <p:cNvSpPr txBox="1"/>
          <p:nvPr/>
        </p:nvSpPr>
        <p:spPr>
          <a:xfrm>
            <a:off x="914400" y="2926080"/>
            <a:ext cx="2788920" cy="457200"/>
          </a:xfrm>
          <a:prstGeom prst="rect">
            <a:avLst/>
          </a:prstGeom>
          <a:noFill/>
          <a:ln/>
        </p:spPr>
        <p:txBody>
          <a:bodyPr wrap="square" lIns="0" tIns="0" rIns="0" bIns="0" rtlCol="0" anchor="t"/>
          <a:lstStyle/>
          <a:p>
            <a:pPr indent="0" marL="0">
              <a:buNone/>
            </a:pPr>
            <a:r>
              <a:rPr lang="en-US" sz="2200" b="1" dirty="0">
                <a:solidFill>
                  <a:srgbClr val="13203A"/>
                </a:solidFill>
                <a:latin typeface="Cambria" pitchFamily="34" charset="0"/>
                <a:ea typeface="Cambria" pitchFamily="34" charset="-122"/>
                <a:cs typeface="Cambria" pitchFamily="34" charset="-120"/>
              </a:rPr>
              <a:t>Admin panel</a:t>
            </a:r>
            <a:endParaRPr lang="en-US" sz="2200" dirty="0"/>
          </a:p>
        </p:txBody>
      </p:sp>
      <p:sp>
        <p:nvSpPr>
          <p:cNvPr id="9" name="Text 6"/>
          <p:cNvSpPr txBox="1"/>
          <p:nvPr/>
        </p:nvSpPr>
        <p:spPr>
          <a:xfrm>
            <a:off x="914400" y="3474720"/>
            <a:ext cx="288036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A5568"/>
                </a:solidFill>
                <a:latin typeface="Calibri" pitchFamily="34" charset="0"/>
                <a:ea typeface="Calibri" pitchFamily="34" charset="-122"/>
                <a:cs typeface="Calibri" pitchFamily="34" charset="-120"/>
              </a:rPr>
              <a:t>Add, list and delete drivers and vehicles</a:t>
            </a:r>
            <a:endParaRPr lang="en-US" sz="1400" dirty="0"/>
          </a:p>
          <a:p>
            <a:pPr marL="342900" indent="-342900">
              <a:spcAft>
                <a:spcPts val="600"/>
              </a:spcAft>
              <a:buSzPct val="100000"/>
              <a:buChar char="•"/>
            </a:pPr>
            <a:r>
              <a:rPr lang="en-US" sz="1400" dirty="0">
                <a:solidFill>
                  <a:srgbClr val="4A5568"/>
                </a:solidFill>
                <a:latin typeface="Calibri" pitchFamily="34" charset="0"/>
                <a:ea typeface="Calibri" pitchFamily="34" charset="-122"/>
                <a:cs typeface="Calibri" pitchFamily="34" charset="-120"/>
              </a:rPr>
              <a:t>Assign a vehicle to a driver for a time window</a:t>
            </a:r>
            <a:endParaRPr lang="en-US" sz="1400" dirty="0"/>
          </a:p>
          <a:p>
            <a:pPr marL="342900" indent="-342900">
              <a:spcAft>
                <a:spcPts val="600"/>
              </a:spcAft>
              <a:buSzPct val="100000"/>
              <a:buChar char="•"/>
            </a:pPr>
            <a:r>
              <a:rPr lang="en-US" sz="1400" dirty="0">
                <a:solidFill>
                  <a:srgbClr val="4A5568"/>
                </a:solidFill>
                <a:latin typeface="Calibri" pitchFamily="34" charset="0"/>
                <a:ea typeface="Calibri" pitchFamily="34" charset="-122"/>
                <a:cs typeface="Calibri" pitchFamily="34" charset="-120"/>
              </a:rPr>
              <a:t>Filter assignments by status</a:t>
            </a:r>
            <a:endParaRPr lang="en-US" sz="1400" dirty="0"/>
          </a:p>
          <a:p>
            <a:pPr marL="342900" indent="-342900">
              <a:spcAft>
                <a:spcPts val="600"/>
              </a:spcAft>
              <a:buSzPct val="100000"/>
              <a:buChar char="•"/>
            </a:pPr>
            <a:r>
              <a:rPr lang="en-US" sz="1400" dirty="0">
                <a:solidFill>
                  <a:srgbClr val="4A5568"/>
                </a:solidFill>
                <a:latin typeface="Calibri" pitchFamily="34" charset="0"/>
                <a:ea typeface="Calibri" pitchFamily="34" charset="-122"/>
                <a:cs typeface="Calibri" pitchFamily="34" charset="-120"/>
              </a:rPr>
              <a:t>Search drivers by name or phone</a:t>
            </a:r>
            <a:endParaRPr lang="en-US" sz="1400" dirty="0"/>
          </a:p>
          <a:p>
            <a:pPr marL="342900" indent="-342900">
              <a:spcAft>
                <a:spcPts val="600"/>
              </a:spcAft>
              <a:buSzPct val="100000"/>
              <a:buChar char="•"/>
            </a:pPr>
            <a:r>
              <a:rPr lang="en-US" sz="1400" dirty="0">
                <a:solidFill>
                  <a:srgbClr val="4A5568"/>
                </a:solidFill>
                <a:latin typeface="Calibri" pitchFamily="34" charset="0"/>
                <a:ea typeface="Calibri" pitchFamily="34" charset="-122"/>
                <a:cs typeface="Calibri" pitchFamily="34" charset="-120"/>
              </a:rPr>
              <a:t>Unassign; find nearby on-duty drivers</a:t>
            </a:r>
            <a:endParaRPr lang="en-US" sz="1400" dirty="0"/>
          </a:p>
        </p:txBody>
      </p:sp>
      <p:sp>
        <p:nvSpPr>
          <p:cNvPr id="10" name="Shape 7"/>
          <p:cNvSpPr/>
          <p:nvPr/>
        </p:nvSpPr>
        <p:spPr>
          <a:xfrm>
            <a:off x="4297680" y="1645920"/>
            <a:ext cx="3520440" cy="4480560"/>
          </a:xfrm>
          <a:prstGeom prst="roundRect">
            <a:avLst>
              <a:gd name="adj" fmla="val 2597"/>
            </a:avLst>
          </a:prstGeom>
          <a:solidFill>
            <a:srgbClr val="F3F5F8"/>
          </a:solidFill>
          <a:ln w="12700">
            <a:solidFill>
              <a:srgbClr val="F3F5F8"/>
            </a:solidFill>
            <a:prstDash val="solid"/>
          </a:ln>
        </p:spPr>
      </p:sp>
      <p:sp>
        <p:nvSpPr>
          <p:cNvPr id="11" name="Shape 8"/>
          <p:cNvSpPr/>
          <p:nvPr/>
        </p:nvSpPr>
        <p:spPr>
          <a:xfrm>
            <a:off x="4663440" y="2011680"/>
            <a:ext cx="731520" cy="731520"/>
          </a:xfrm>
          <a:prstGeom prst="ellipse">
            <a:avLst/>
          </a:prstGeom>
          <a:solidFill>
            <a:srgbClr val="F2A541"/>
          </a:solidFill>
          <a:ln w="12700">
            <a:solidFill>
              <a:srgbClr val="F2A541"/>
            </a:solidFill>
            <a:prstDash val="solid"/>
          </a:ln>
        </p:spPr>
      </p:sp>
      <p:pic>
        <p:nvPicPr>
          <p:cNvPr id="12" name="Image 1" descr="preencoded.png">    </p:cNvPr>
          <p:cNvPicPr>
            <a:picLocks noChangeAspect="1"/>
          </p:cNvPicPr>
          <p:nvPr/>
        </p:nvPicPr>
        <p:blipFill>
          <a:blip r:embed="rId2"/>
          <a:stretch>
            <a:fillRect/>
          </a:stretch>
        </p:blipFill>
        <p:spPr>
          <a:xfrm>
            <a:off x="4846320" y="2194560"/>
            <a:ext cx="365760" cy="365760"/>
          </a:xfrm>
          <a:prstGeom prst="rect">
            <a:avLst/>
          </a:prstGeom>
        </p:spPr>
      </p:pic>
      <p:sp>
        <p:nvSpPr>
          <p:cNvPr id="13" name="Text 9"/>
          <p:cNvSpPr txBox="1"/>
          <p:nvPr/>
        </p:nvSpPr>
        <p:spPr>
          <a:xfrm>
            <a:off x="4663440" y="2926080"/>
            <a:ext cx="2788920" cy="457200"/>
          </a:xfrm>
          <a:prstGeom prst="rect">
            <a:avLst/>
          </a:prstGeom>
          <a:noFill/>
          <a:ln/>
        </p:spPr>
        <p:txBody>
          <a:bodyPr wrap="square" lIns="0" tIns="0" rIns="0" bIns="0" rtlCol="0" anchor="t"/>
          <a:lstStyle/>
          <a:p>
            <a:pPr indent="0" marL="0">
              <a:buNone/>
            </a:pPr>
            <a:r>
              <a:rPr lang="en-US" sz="2200" b="1" dirty="0">
                <a:solidFill>
                  <a:srgbClr val="13203A"/>
                </a:solidFill>
                <a:latin typeface="Cambria" pitchFamily="34" charset="0"/>
                <a:ea typeface="Cambria" pitchFamily="34" charset="-122"/>
                <a:cs typeface="Cambria" pitchFamily="34" charset="-120"/>
              </a:rPr>
              <a:t>Driver portal</a:t>
            </a:r>
            <a:endParaRPr lang="en-US" sz="2200" dirty="0"/>
          </a:p>
        </p:txBody>
      </p:sp>
      <p:sp>
        <p:nvSpPr>
          <p:cNvPr id="14" name="Text 10"/>
          <p:cNvSpPr txBox="1"/>
          <p:nvPr/>
        </p:nvSpPr>
        <p:spPr>
          <a:xfrm>
            <a:off x="4663440" y="3474720"/>
            <a:ext cx="288036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A5568"/>
                </a:solidFill>
                <a:latin typeface="Calibri" pitchFamily="34" charset="0"/>
                <a:ea typeface="Calibri" pitchFamily="34" charset="-122"/>
                <a:cs typeface="Calibri" pitchFamily="34" charset="-120"/>
              </a:rPr>
              <a:t>Self-registration with a password</a:t>
            </a:r>
            <a:endParaRPr lang="en-US" sz="1400" dirty="0"/>
          </a:p>
          <a:p>
            <a:pPr marL="342900" indent="-342900">
              <a:spcAft>
                <a:spcPts val="600"/>
              </a:spcAft>
              <a:buSzPct val="100000"/>
              <a:buChar char="•"/>
            </a:pPr>
            <a:r>
              <a:rPr lang="en-US" sz="1400" dirty="0">
                <a:solidFill>
                  <a:srgbClr val="4A5568"/>
                </a:solidFill>
                <a:latin typeface="Calibri" pitchFamily="34" charset="0"/>
                <a:ea typeface="Calibri" pitchFamily="34" charset="-122"/>
                <a:cs typeface="Calibri" pitchFamily="34" charset="-120"/>
              </a:rPr>
              <a:t>Secure login (BCrypt)</a:t>
            </a:r>
            <a:endParaRPr lang="en-US" sz="1400" dirty="0"/>
          </a:p>
          <a:p>
            <a:pPr marL="342900" indent="-342900">
              <a:spcAft>
                <a:spcPts val="600"/>
              </a:spcAft>
              <a:buSzPct val="100000"/>
              <a:buChar char="•"/>
            </a:pPr>
            <a:r>
              <a:rPr lang="en-US" sz="1400" dirty="0">
                <a:solidFill>
                  <a:srgbClr val="4A5568"/>
                </a:solidFill>
                <a:latin typeface="Calibri" pitchFamily="34" charset="0"/>
                <a:ea typeface="Calibri" pitchFamily="34" charset="-122"/>
                <a:cs typeface="Calibri" pitchFamily="34" charset="-120"/>
              </a:rPr>
              <a:t>See pending and accepted assignments</a:t>
            </a:r>
            <a:endParaRPr lang="en-US" sz="1400" dirty="0"/>
          </a:p>
          <a:p>
            <a:pPr marL="342900" indent="-342900">
              <a:spcAft>
                <a:spcPts val="600"/>
              </a:spcAft>
              <a:buSzPct val="100000"/>
              <a:buChar char="•"/>
            </a:pPr>
            <a:r>
              <a:rPr lang="en-US" sz="1400" dirty="0">
                <a:solidFill>
                  <a:srgbClr val="4A5568"/>
                </a:solidFill>
                <a:latin typeface="Calibri" pitchFamily="34" charset="0"/>
                <a:ea typeface="Calibri" pitchFamily="34" charset="-122"/>
                <a:cs typeface="Calibri" pitchFamily="34" charset="-120"/>
              </a:rPr>
              <a:t>Accept or reject requests in one click</a:t>
            </a:r>
            <a:endParaRPr lang="en-US" sz="1400" dirty="0"/>
          </a:p>
        </p:txBody>
      </p:sp>
      <p:sp>
        <p:nvSpPr>
          <p:cNvPr id="15" name="Shape 11"/>
          <p:cNvSpPr/>
          <p:nvPr/>
        </p:nvSpPr>
        <p:spPr>
          <a:xfrm>
            <a:off x="8046720" y="1645920"/>
            <a:ext cx="3520440" cy="4480560"/>
          </a:xfrm>
          <a:prstGeom prst="roundRect">
            <a:avLst>
              <a:gd name="adj" fmla="val 2597"/>
            </a:avLst>
          </a:prstGeom>
          <a:solidFill>
            <a:srgbClr val="13203A"/>
          </a:solidFill>
          <a:ln w="12700">
            <a:solidFill>
              <a:srgbClr val="13203A"/>
            </a:solidFill>
            <a:prstDash val="solid"/>
          </a:ln>
        </p:spPr>
      </p:sp>
      <p:sp>
        <p:nvSpPr>
          <p:cNvPr id="16" name="Shape 12"/>
          <p:cNvSpPr/>
          <p:nvPr/>
        </p:nvSpPr>
        <p:spPr>
          <a:xfrm>
            <a:off x="8412480" y="2011680"/>
            <a:ext cx="731520" cy="731520"/>
          </a:xfrm>
          <a:prstGeom prst="ellipse">
            <a:avLst/>
          </a:prstGeom>
          <a:solidFill>
            <a:srgbClr val="F2A541"/>
          </a:solidFill>
          <a:ln w="12700">
            <a:solidFill>
              <a:srgbClr val="F2A541"/>
            </a:solidFill>
            <a:prstDash val="solid"/>
          </a:ln>
        </p:spPr>
      </p:sp>
      <p:pic>
        <p:nvPicPr>
          <p:cNvPr id="17" name="Image 2" descr="preencoded.png">    </p:cNvPr>
          <p:cNvPicPr>
            <a:picLocks noChangeAspect="1"/>
          </p:cNvPicPr>
          <p:nvPr/>
        </p:nvPicPr>
        <p:blipFill>
          <a:blip r:embed="rId3"/>
          <a:stretch>
            <a:fillRect/>
          </a:stretch>
        </p:blipFill>
        <p:spPr>
          <a:xfrm>
            <a:off x="8595360" y="2194560"/>
            <a:ext cx="365760" cy="365760"/>
          </a:xfrm>
          <a:prstGeom prst="rect">
            <a:avLst/>
          </a:prstGeom>
        </p:spPr>
      </p:pic>
      <p:sp>
        <p:nvSpPr>
          <p:cNvPr id="18" name="Text 13"/>
          <p:cNvSpPr txBox="1"/>
          <p:nvPr/>
        </p:nvSpPr>
        <p:spPr>
          <a:xfrm>
            <a:off x="8412480" y="2926080"/>
            <a:ext cx="278892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AI assistant</a:t>
            </a:r>
            <a:endParaRPr lang="en-US" sz="2200" dirty="0"/>
          </a:p>
        </p:txBody>
      </p:sp>
      <p:sp>
        <p:nvSpPr>
          <p:cNvPr id="19" name="Text 14"/>
          <p:cNvSpPr txBox="1"/>
          <p:nvPr/>
        </p:nvSpPr>
        <p:spPr>
          <a:xfrm>
            <a:off x="8412480" y="3474720"/>
            <a:ext cx="288036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B8C4D9"/>
                </a:solidFill>
                <a:latin typeface="Calibri" pitchFamily="34" charset="0"/>
                <a:ea typeface="Calibri" pitchFamily="34" charset="-122"/>
                <a:cs typeface="Calibri" pitchFamily="34" charset="-120"/>
              </a:rPr>
              <a:t>Ask questions in plain English</a:t>
            </a:r>
            <a:endParaRPr lang="en-US" sz="1400" dirty="0"/>
          </a:p>
          <a:p>
            <a:pPr marL="342900" indent="-342900">
              <a:spcAft>
                <a:spcPts val="600"/>
              </a:spcAft>
              <a:buSzPct val="100000"/>
              <a:buChar char="•"/>
            </a:pPr>
            <a:r>
              <a:rPr lang="en-US" sz="1400" dirty="0">
                <a:solidFill>
                  <a:srgbClr val="B8C4D9"/>
                </a:solidFill>
                <a:latin typeface="Calibri" pitchFamily="34" charset="0"/>
                <a:ea typeface="Calibri" pitchFamily="34" charset="-122"/>
                <a:cs typeface="Calibri" pitchFamily="34" charset="-120"/>
              </a:rPr>
              <a:t>Answers from live database data</a:t>
            </a:r>
            <a:endParaRPr lang="en-US" sz="1400" dirty="0"/>
          </a:p>
          <a:p>
            <a:pPr marL="342900" indent="-342900">
              <a:spcAft>
                <a:spcPts val="600"/>
              </a:spcAft>
              <a:buSzPct val="100000"/>
              <a:buChar char="•"/>
            </a:pPr>
            <a:r>
              <a:rPr lang="en-US" sz="1400" dirty="0">
                <a:solidFill>
                  <a:srgbClr val="B8C4D9"/>
                </a:solidFill>
                <a:latin typeface="Calibri" pitchFamily="34" charset="0"/>
                <a:ea typeface="Calibri" pitchFamily="34" charset="-122"/>
                <a:cs typeface="Calibri" pitchFamily="34" charset="-120"/>
              </a:rPr>
              <a:t>Shows which lookups it used</a:t>
            </a:r>
            <a:endParaRPr lang="en-US" sz="1400" dirty="0"/>
          </a:p>
          <a:p>
            <a:pPr marL="342900" indent="-342900">
              <a:spcAft>
                <a:spcPts val="600"/>
              </a:spcAft>
              <a:buSzPct val="100000"/>
              <a:buChar char="•"/>
            </a:pPr>
            <a:r>
              <a:rPr lang="en-US" sz="1400" dirty="0">
                <a:solidFill>
                  <a:srgbClr val="B8C4D9"/>
                </a:solidFill>
                <a:latin typeface="Calibri" pitchFamily="34" charset="0"/>
                <a:ea typeface="Calibri" pitchFamily="34" charset="-122"/>
                <a:cs typeface="Calibri" pitchFamily="34" charset="-120"/>
              </a:rPr>
              <a:t>Runs fully on our own server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300" kern="0" dirty="0">
                <a:solidFill>
                  <a:srgbClr val="9A5B00"/>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3203A"/>
                </a:solidFill>
                <a:latin typeface="Cambria" pitchFamily="34" charset="0"/>
                <a:ea typeface="Cambria" pitchFamily="34" charset="-122"/>
                <a:cs typeface="Cambria" pitchFamily="34" charset="-120"/>
              </a:rPr>
              <a:t>Four components, clear boundaries</a:t>
            </a:r>
            <a:endParaRPr lang="en-US" sz="3400" dirty="0"/>
          </a:p>
        </p:txBody>
      </p:sp>
      <p:sp>
        <p:nvSpPr>
          <p:cNvPr id="4" name="Text 2"/>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4A5568"/>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548640" y="2103120"/>
            <a:ext cx="3108960" cy="1371600"/>
          </a:xfrm>
          <a:prstGeom prst="roundRect">
            <a:avLst>
              <a:gd name="adj" fmla="val 6667"/>
            </a:avLst>
          </a:prstGeom>
          <a:solidFill>
            <a:srgbClr val="F3F5F8"/>
          </a:solidFill>
          <a:ln w="12700">
            <a:solidFill>
              <a:srgbClr val="F3F5F8"/>
            </a:solidFill>
            <a:prstDash val="solid"/>
          </a:ln>
        </p:spPr>
      </p:sp>
      <p:sp>
        <p:nvSpPr>
          <p:cNvPr id="6" name="Shape 4"/>
          <p:cNvSpPr/>
          <p:nvPr/>
        </p:nvSpPr>
        <p:spPr>
          <a:xfrm>
            <a:off x="822960" y="2377440"/>
            <a:ext cx="548640" cy="548640"/>
          </a:xfrm>
          <a:prstGeom prst="ellipse">
            <a:avLst/>
          </a:prstGeom>
          <a:solidFill>
            <a:srgbClr val="F2A541"/>
          </a:solidFill>
          <a:ln w="12700">
            <a:solidFill>
              <a:srgbClr val="F2A541"/>
            </a:solidFill>
            <a:prstDash val="solid"/>
          </a:ln>
        </p:spPr>
      </p:sp>
      <p:pic>
        <p:nvPicPr>
          <p:cNvPr id="7" name="Image 0" descr="preencoded.png">    </p:cNvPr>
          <p:cNvPicPr>
            <a:picLocks noChangeAspect="1"/>
          </p:cNvPicPr>
          <p:nvPr/>
        </p:nvPicPr>
        <p:blipFill>
          <a:blip r:embed="rId1"/>
          <a:stretch>
            <a:fillRect/>
          </a:stretch>
        </p:blipFill>
        <p:spPr>
          <a:xfrm>
            <a:off x="960120" y="2514600"/>
            <a:ext cx="274320" cy="274320"/>
          </a:xfrm>
          <a:prstGeom prst="rect">
            <a:avLst/>
          </a:prstGeom>
        </p:spPr>
      </p:pic>
      <p:sp>
        <p:nvSpPr>
          <p:cNvPr id="8" name="Text 5"/>
          <p:cNvSpPr txBox="1"/>
          <p:nvPr/>
        </p:nvSpPr>
        <p:spPr>
          <a:xfrm>
            <a:off x="1508760" y="2331720"/>
            <a:ext cx="1965960" cy="365760"/>
          </a:xfrm>
          <a:prstGeom prst="rect">
            <a:avLst/>
          </a:prstGeom>
          <a:noFill/>
          <a:ln/>
        </p:spPr>
        <p:txBody>
          <a:bodyPr wrap="square" lIns="0" tIns="0" rIns="0" bIns="0" rtlCol="0" anchor="t"/>
          <a:lstStyle/>
          <a:p>
            <a:pPr indent="0" marL="0">
              <a:buNone/>
            </a:pPr>
            <a:r>
              <a:rPr lang="en-US" sz="1700" b="1" dirty="0">
                <a:solidFill>
                  <a:srgbClr val="13203A"/>
                </a:solidFill>
                <a:latin typeface="Calibri" pitchFamily="34" charset="0"/>
                <a:ea typeface="Calibri" pitchFamily="34" charset="-122"/>
                <a:cs typeface="Calibri" pitchFamily="34" charset="-120"/>
              </a:rPr>
              <a:t>Angular 21 UI</a:t>
            </a:r>
            <a:endParaRPr lang="en-US" sz="1700" dirty="0"/>
          </a:p>
        </p:txBody>
      </p:sp>
      <p:sp>
        <p:nvSpPr>
          <p:cNvPr id="9" name="Text 6"/>
          <p:cNvSpPr txBox="1"/>
          <p:nvPr/>
        </p:nvSpPr>
        <p:spPr>
          <a:xfrm>
            <a:off x="1508760" y="2697480"/>
            <a:ext cx="1965960" cy="64008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Admin pages, driver portal, AI chat (browser)</a:t>
            </a:r>
            <a:endParaRPr lang="en-US" sz="1300" dirty="0"/>
          </a:p>
        </p:txBody>
      </p:sp>
      <p:sp>
        <p:nvSpPr>
          <p:cNvPr id="10" name="Shape 7"/>
          <p:cNvSpPr/>
          <p:nvPr/>
        </p:nvSpPr>
        <p:spPr>
          <a:xfrm>
            <a:off x="4526280" y="2103120"/>
            <a:ext cx="3154680" cy="1371600"/>
          </a:xfrm>
          <a:prstGeom prst="roundRect">
            <a:avLst>
              <a:gd name="adj" fmla="val 6667"/>
            </a:avLst>
          </a:prstGeom>
          <a:solidFill>
            <a:srgbClr val="13203A"/>
          </a:solidFill>
          <a:ln w="12700">
            <a:solidFill>
              <a:srgbClr val="13203A"/>
            </a:solidFill>
            <a:prstDash val="solid"/>
          </a:ln>
        </p:spPr>
      </p:sp>
      <p:sp>
        <p:nvSpPr>
          <p:cNvPr id="11" name="Shape 8"/>
          <p:cNvSpPr/>
          <p:nvPr/>
        </p:nvSpPr>
        <p:spPr>
          <a:xfrm>
            <a:off x="4800600" y="2377440"/>
            <a:ext cx="548640" cy="548640"/>
          </a:xfrm>
          <a:prstGeom prst="ellipse">
            <a:avLst/>
          </a:prstGeom>
          <a:solidFill>
            <a:srgbClr val="F2A541"/>
          </a:solidFill>
          <a:ln w="12700">
            <a:solidFill>
              <a:srgbClr val="F2A541"/>
            </a:solidFill>
            <a:prstDash val="solid"/>
          </a:ln>
        </p:spPr>
      </p:sp>
      <p:pic>
        <p:nvPicPr>
          <p:cNvPr id="12" name="Image 1" descr="preencoded.png">    </p:cNvPr>
          <p:cNvPicPr>
            <a:picLocks noChangeAspect="1"/>
          </p:cNvPicPr>
          <p:nvPr/>
        </p:nvPicPr>
        <p:blipFill>
          <a:blip r:embed="rId2"/>
          <a:stretch>
            <a:fillRect/>
          </a:stretch>
        </p:blipFill>
        <p:spPr>
          <a:xfrm>
            <a:off x="4937760" y="2514600"/>
            <a:ext cx="274320" cy="274320"/>
          </a:xfrm>
          <a:prstGeom prst="rect">
            <a:avLst/>
          </a:prstGeom>
        </p:spPr>
      </p:pic>
      <p:sp>
        <p:nvSpPr>
          <p:cNvPr id="13" name="Text 9"/>
          <p:cNvSpPr txBox="1"/>
          <p:nvPr/>
        </p:nvSpPr>
        <p:spPr>
          <a:xfrm>
            <a:off x="5486400" y="2331720"/>
            <a:ext cx="201168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Spring Boot API</a:t>
            </a:r>
            <a:endParaRPr lang="en-US" sz="1700" dirty="0"/>
          </a:p>
        </p:txBody>
      </p:sp>
      <p:sp>
        <p:nvSpPr>
          <p:cNvPr id="14" name="Text 10"/>
          <p:cNvSpPr txBox="1"/>
          <p:nvPr/>
        </p:nvSpPr>
        <p:spPr>
          <a:xfrm>
            <a:off x="5486400" y="2697480"/>
            <a:ext cx="2011680" cy="640080"/>
          </a:xfrm>
          <a:prstGeom prst="rect">
            <a:avLst/>
          </a:prstGeom>
          <a:noFill/>
          <a:ln/>
        </p:spPr>
        <p:txBody>
          <a:bodyPr wrap="square" lIns="0" tIns="0" rIns="0" bIns="0" rtlCol="0" anchor="t"/>
          <a:lstStyle/>
          <a:p>
            <a:pPr indent="0" marL="0">
              <a:buNone/>
            </a:pPr>
            <a:r>
              <a:rPr lang="en-US" sz="1300" dirty="0">
                <a:solidFill>
                  <a:srgbClr val="B8C4D9"/>
                </a:solidFill>
                <a:latin typeface="Calibri" pitchFamily="34" charset="0"/>
                <a:ea typeface="Calibri" pitchFamily="34" charset="-122"/>
                <a:cs typeface="Calibri" pitchFamily="34" charset="-120"/>
              </a:rPr>
              <a:t>REST controllers, services, rules, AI orchestration</a:t>
            </a:r>
            <a:endParaRPr lang="en-US" sz="1300" dirty="0"/>
          </a:p>
        </p:txBody>
      </p:sp>
      <p:sp>
        <p:nvSpPr>
          <p:cNvPr id="15" name="Shape 11"/>
          <p:cNvSpPr/>
          <p:nvPr/>
        </p:nvSpPr>
        <p:spPr>
          <a:xfrm>
            <a:off x="8549640" y="2103120"/>
            <a:ext cx="3063240" cy="1371600"/>
          </a:xfrm>
          <a:prstGeom prst="roundRect">
            <a:avLst>
              <a:gd name="adj" fmla="val 6667"/>
            </a:avLst>
          </a:prstGeom>
          <a:solidFill>
            <a:srgbClr val="F3F5F8"/>
          </a:solidFill>
          <a:ln w="12700">
            <a:solidFill>
              <a:srgbClr val="F3F5F8"/>
            </a:solidFill>
            <a:prstDash val="solid"/>
          </a:ln>
        </p:spPr>
      </p:sp>
      <p:sp>
        <p:nvSpPr>
          <p:cNvPr id="16" name="Shape 12"/>
          <p:cNvSpPr/>
          <p:nvPr/>
        </p:nvSpPr>
        <p:spPr>
          <a:xfrm>
            <a:off x="8823960" y="2377440"/>
            <a:ext cx="548640" cy="548640"/>
          </a:xfrm>
          <a:prstGeom prst="ellipse">
            <a:avLst/>
          </a:prstGeom>
          <a:solidFill>
            <a:srgbClr val="F2A541"/>
          </a:solidFill>
          <a:ln w="12700">
            <a:solidFill>
              <a:srgbClr val="F2A541"/>
            </a:solidFill>
            <a:prstDash val="solid"/>
          </a:ln>
        </p:spPr>
      </p:sp>
      <p:pic>
        <p:nvPicPr>
          <p:cNvPr id="17" name="Image 2" descr="preencoded.png">    </p:cNvPr>
          <p:cNvPicPr>
            <a:picLocks noChangeAspect="1"/>
          </p:cNvPicPr>
          <p:nvPr/>
        </p:nvPicPr>
        <p:blipFill>
          <a:blip r:embed="rId3"/>
          <a:stretch>
            <a:fillRect/>
          </a:stretch>
        </p:blipFill>
        <p:spPr>
          <a:xfrm>
            <a:off x="8961120" y="2514600"/>
            <a:ext cx="274320" cy="274320"/>
          </a:xfrm>
          <a:prstGeom prst="rect">
            <a:avLst/>
          </a:prstGeom>
        </p:spPr>
      </p:pic>
      <p:sp>
        <p:nvSpPr>
          <p:cNvPr id="18" name="Text 13"/>
          <p:cNvSpPr txBox="1"/>
          <p:nvPr/>
        </p:nvSpPr>
        <p:spPr>
          <a:xfrm>
            <a:off x="9509760" y="2331720"/>
            <a:ext cx="1920240" cy="365760"/>
          </a:xfrm>
          <a:prstGeom prst="rect">
            <a:avLst/>
          </a:prstGeom>
          <a:noFill/>
          <a:ln/>
        </p:spPr>
        <p:txBody>
          <a:bodyPr wrap="square" lIns="0" tIns="0" rIns="0" bIns="0" rtlCol="0" anchor="t"/>
          <a:lstStyle/>
          <a:p>
            <a:pPr indent="0" marL="0">
              <a:buNone/>
            </a:pPr>
            <a:r>
              <a:rPr lang="en-US" sz="1700" b="1" dirty="0">
                <a:solidFill>
                  <a:srgbClr val="13203A"/>
                </a:solidFill>
                <a:latin typeface="Calibri" pitchFamily="34" charset="0"/>
                <a:ea typeface="Calibri" pitchFamily="34" charset="-122"/>
                <a:cs typeface="Calibri" pitchFamily="34" charset="-120"/>
              </a:rPr>
              <a:t>PostgreSQL 16</a:t>
            </a:r>
            <a:endParaRPr lang="en-US" sz="1700" dirty="0"/>
          </a:p>
        </p:txBody>
      </p:sp>
      <p:sp>
        <p:nvSpPr>
          <p:cNvPr id="19" name="Text 14"/>
          <p:cNvSpPr txBox="1"/>
          <p:nvPr/>
        </p:nvSpPr>
        <p:spPr>
          <a:xfrm>
            <a:off x="9509760" y="2697480"/>
            <a:ext cx="1920240" cy="64008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Drivers, vehicles, assignments (Flyway schema)</a:t>
            </a:r>
            <a:endParaRPr lang="en-US" sz="1300" dirty="0"/>
          </a:p>
        </p:txBody>
      </p:sp>
      <p:sp>
        <p:nvSpPr>
          <p:cNvPr id="20" name="Shape 15"/>
          <p:cNvSpPr/>
          <p:nvPr/>
        </p:nvSpPr>
        <p:spPr>
          <a:xfrm>
            <a:off x="4526280" y="4526280"/>
            <a:ext cx="3154680" cy="1371600"/>
          </a:xfrm>
          <a:prstGeom prst="roundRect">
            <a:avLst>
              <a:gd name="adj" fmla="val 6667"/>
            </a:avLst>
          </a:prstGeom>
          <a:solidFill>
            <a:srgbClr val="FFF1D6"/>
          </a:solidFill>
          <a:ln w="12700">
            <a:solidFill>
              <a:srgbClr val="FFF1D6"/>
            </a:solidFill>
            <a:prstDash val="solid"/>
          </a:ln>
        </p:spPr>
      </p:sp>
      <p:sp>
        <p:nvSpPr>
          <p:cNvPr id="21" name="Shape 16"/>
          <p:cNvSpPr/>
          <p:nvPr/>
        </p:nvSpPr>
        <p:spPr>
          <a:xfrm>
            <a:off x="4800600" y="4800600"/>
            <a:ext cx="548640" cy="548640"/>
          </a:xfrm>
          <a:prstGeom prst="ellipse">
            <a:avLst/>
          </a:prstGeom>
          <a:solidFill>
            <a:srgbClr val="F2A541"/>
          </a:solidFill>
          <a:ln w="12700">
            <a:solidFill>
              <a:srgbClr val="F2A541"/>
            </a:solidFill>
            <a:prstDash val="solid"/>
          </a:ln>
        </p:spPr>
      </p:sp>
      <p:pic>
        <p:nvPicPr>
          <p:cNvPr id="22" name="Image 3" descr="preencoded.png">    </p:cNvPr>
          <p:cNvPicPr>
            <a:picLocks noChangeAspect="1"/>
          </p:cNvPicPr>
          <p:nvPr/>
        </p:nvPicPr>
        <p:blipFill>
          <a:blip r:embed="rId4"/>
          <a:stretch>
            <a:fillRect/>
          </a:stretch>
        </p:blipFill>
        <p:spPr>
          <a:xfrm>
            <a:off x="4937760" y="4937760"/>
            <a:ext cx="274320" cy="274320"/>
          </a:xfrm>
          <a:prstGeom prst="rect">
            <a:avLst/>
          </a:prstGeom>
        </p:spPr>
      </p:pic>
      <p:sp>
        <p:nvSpPr>
          <p:cNvPr id="23" name="Text 17"/>
          <p:cNvSpPr txBox="1"/>
          <p:nvPr/>
        </p:nvSpPr>
        <p:spPr>
          <a:xfrm>
            <a:off x="5486400" y="4754880"/>
            <a:ext cx="2011680" cy="365760"/>
          </a:xfrm>
          <a:prstGeom prst="rect">
            <a:avLst/>
          </a:prstGeom>
          <a:noFill/>
          <a:ln/>
        </p:spPr>
        <p:txBody>
          <a:bodyPr wrap="square" lIns="0" tIns="0" rIns="0" bIns="0" rtlCol="0" anchor="t"/>
          <a:lstStyle/>
          <a:p>
            <a:pPr indent="0" marL="0">
              <a:buNone/>
            </a:pPr>
            <a:r>
              <a:rPr lang="en-US" sz="1700" b="1" dirty="0">
                <a:solidFill>
                  <a:srgbClr val="13203A"/>
                </a:solidFill>
                <a:latin typeface="Calibri" pitchFamily="34" charset="0"/>
                <a:ea typeface="Calibri" pitchFamily="34" charset="-122"/>
                <a:cs typeface="Calibri" pitchFamily="34" charset="-120"/>
              </a:rPr>
              <a:t>Ollama LLM</a:t>
            </a:r>
            <a:endParaRPr lang="en-US" sz="1700" dirty="0"/>
          </a:p>
        </p:txBody>
      </p:sp>
      <p:sp>
        <p:nvSpPr>
          <p:cNvPr id="24" name="Text 18"/>
          <p:cNvSpPr txBox="1"/>
          <p:nvPr/>
        </p:nvSpPr>
        <p:spPr>
          <a:xfrm>
            <a:off x="5486400" y="5120640"/>
            <a:ext cx="2011680" cy="64008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Llama 3.2 / Qwen 2.5 with tool calling</a:t>
            </a:r>
            <a:endParaRPr lang="en-US" sz="1300" dirty="0"/>
          </a:p>
        </p:txBody>
      </p:sp>
      <p:sp>
        <p:nvSpPr>
          <p:cNvPr id="25" name="Shape 19"/>
          <p:cNvSpPr/>
          <p:nvPr/>
        </p:nvSpPr>
        <p:spPr>
          <a:xfrm>
            <a:off x="3657600" y="2788920"/>
            <a:ext cx="868680" cy="914"/>
          </a:xfrm>
          <a:prstGeom prst="line">
            <a:avLst/>
          </a:prstGeom>
          <a:noFill/>
          <a:ln w="25400">
            <a:solidFill>
              <a:srgbClr val="13203A"/>
            </a:solidFill>
            <a:prstDash val="solid"/>
            <a:tailEnd type="triangle"/>
          </a:ln>
        </p:spPr>
      </p:sp>
      <p:sp>
        <p:nvSpPr>
          <p:cNvPr id="26" name="Text 20"/>
          <p:cNvSpPr txBox="1"/>
          <p:nvPr/>
        </p:nvSpPr>
        <p:spPr>
          <a:xfrm>
            <a:off x="3611880" y="2377440"/>
            <a:ext cx="1005840" cy="365760"/>
          </a:xfrm>
          <a:prstGeom prst="rect">
            <a:avLst/>
          </a:prstGeom>
          <a:noFill/>
          <a:ln/>
        </p:spPr>
        <p:txBody>
          <a:bodyPr wrap="square" lIns="0" tIns="0" rIns="0" bIns="0" rtlCol="0" anchor="t"/>
          <a:lstStyle/>
          <a:p>
            <a:pPr algn="ctr" indent="0" marL="0">
              <a:buNone/>
            </a:pPr>
            <a:r>
              <a:rPr lang="en-US" sz="1000" dirty="0">
                <a:solidFill>
                  <a:srgbClr val="4A5568"/>
                </a:solidFill>
                <a:latin typeface="Calibri" pitchFamily="34" charset="0"/>
                <a:ea typeface="Calibri" pitchFamily="34" charset="-122"/>
                <a:cs typeface="Calibri" pitchFamily="34" charset="-120"/>
              </a:rPr>
              <a:t>HTTP /api (JSON)</a:t>
            </a:r>
            <a:endParaRPr lang="en-US" sz="1000" dirty="0"/>
          </a:p>
        </p:txBody>
      </p:sp>
      <p:sp>
        <p:nvSpPr>
          <p:cNvPr id="27" name="Shape 21"/>
          <p:cNvSpPr/>
          <p:nvPr/>
        </p:nvSpPr>
        <p:spPr>
          <a:xfrm>
            <a:off x="7680960" y="2788920"/>
            <a:ext cx="868680" cy="914"/>
          </a:xfrm>
          <a:prstGeom prst="line">
            <a:avLst/>
          </a:prstGeom>
          <a:noFill/>
          <a:ln w="25400">
            <a:solidFill>
              <a:srgbClr val="13203A"/>
            </a:solidFill>
            <a:prstDash val="solid"/>
            <a:tailEnd type="triangle"/>
          </a:ln>
        </p:spPr>
      </p:sp>
      <p:sp>
        <p:nvSpPr>
          <p:cNvPr id="28" name="Text 22"/>
          <p:cNvSpPr txBox="1"/>
          <p:nvPr/>
        </p:nvSpPr>
        <p:spPr>
          <a:xfrm>
            <a:off x="7635240" y="2377440"/>
            <a:ext cx="960120" cy="365760"/>
          </a:xfrm>
          <a:prstGeom prst="rect">
            <a:avLst/>
          </a:prstGeom>
          <a:noFill/>
          <a:ln/>
        </p:spPr>
        <p:txBody>
          <a:bodyPr wrap="square" lIns="0" tIns="0" rIns="0" bIns="0" rtlCol="0" anchor="t"/>
          <a:lstStyle/>
          <a:p>
            <a:pPr algn="ctr" indent="0" marL="0">
              <a:buNone/>
            </a:pPr>
            <a:r>
              <a:rPr lang="en-US" sz="1000" dirty="0">
                <a:solidFill>
                  <a:srgbClr val="4A5568"/>
                </a:solidFill>
                <a:latin typeface="Calibri" pitchFamily="34" charset="0"/>
                <a:ea typeface="Calibri" pitchFamily="34" charset="-122"/>
                <a:cs typeface="Calibri" pitchFamily="34" charset="-120"/>
              </a:rPr>
              <a:t>JPA / JDBC</a:t>
            </a:r>
            <a:endParaRPr lang="en-US" sz="1000" dirty="0"/>
          </a:p>
        </p:txBody>
      </p:sp>
      <p:sp>
        <p:nvSpPr>
          <p:cNvPr id="29" name="Shape 23"/>
          <p:cNvSpPr/>
          <p:nvPr/>
        </p:nvSpPr>
        <p:spPr>
          <a:xfrm>
            <a:off x="5760720" y="3474720"/>
            <a:ext cx="914" cy="1051560"/>
          </a:xfrm>
          <a:prstGeom prst="line">
            <a:avLst/>
          </a:prstGeom>
          <a:noFill/>
          <a:ln w="25400">
            <a:solidFill>
              <a:srgbClr val="9A5B00"/>
            </a:solidFill>
            <a:prstDash val="solid"/>
            <a:tailEnd type="triangle"/>
          </a:ln>
        </p:spPr>
      </p:sp>
      <p:sp>
        <p:nvSpPr>
          <p:cNvPr id="30" name="Shape 24"/>
          <p:cNvSpPr/>
          <p:nvPr/>
        </p:nvSpPr>
        <p:spPr>
          <a:xfrm flipV="1">
            <a:off x="6446520" y="3474720"/>
            <a:ext cx="914" cy="1051560"/>
          </a:xfrm>
          <a:prstGeom prst="line">
            <a:avLst/>
          </a:prstGeom>
          <a:noFill/>
          <a:ln w="25400">
            <a:solidFill>
              <a:srgbClr val="9A5B00"/>
            </a:solidFill>
            <a:prstDash val="solid"/>
            <a:tailEnd type="triangle"/>
          </a:ln>
        </p:spPr>
      </p:sp>
      <p:sp>
        <p:nvSpPr>
          <p:cNvPr id="31" name="Text 25"/>
          <p:cNvSpPr txBox="1"/>
          <p:nvPr/>
        </p:nvSpPr>
        <p:spPr>
          <a:xfrm>
            <a:off x="4160520" y="3840480"/>
            <a:ext cx="1508760" cy="320040"/>
          </a:xfrm>
          <a:prstGeom prst="rect">
            <a:avLst/>
          </a:prstGeom>
          <a:noFill/>
          <a:ln/>
        </p:spPr>
        <p:txBody>
          <a:bodyPr wrap="square" lIns="0" tIns="0" rIns="0" bIns="0" rtlCol="0" anchor="t"/>
          <a:lstStyle/>
          <a:p>
            <a:pPr algn="r" indent="0" marL="0">
              <a:buNone/>
            </a:pPr>
            <a:r>
              <a:rPr lang="en-US" sz="1100" dirty="0">
                <a:solidFill>
                  <a:srgbClr val="9A5B00"/>
                </a:solidFill>
                <a:latin typeface="Calibri" pitchFamily="34" charset="0"/>
                <a:ea typeface="Calibri" pitchFamily="34" charset="-122"/>
                <a:cs typeface="Calibri" pitchFamily="34" charset="-120"/>
              </a:rPr>
              <a:t>question + tools</a:t>
            </a:r>
            <a:endParaRPr lang="en-US" sz="1100" dirty="0"/>
          </a:p>
        </p:txBody>
      </p:sp>
      <p:sp>
        <p:nvSpPr>
          <p:cNvPr id="32" name="Text 26"/>
          <p:cNvSpPr txBox="1"/>
          <p:nvPr/>
        </p:nvSpPr>
        <p:spPr>
          <a:xfrm>
            <a:off x="6583680" y="3840480"/>
            <a:ext cx="1371600" cy="320040"/>
          </a:xfrm>
          <a:prstGeom prst="rect">
            <a:avLst/>
          </a:prstGeom>
          <a:noFill/>
          <a:ln/>
        </p:spPr>
        <p:txBody>
          <a:bodyPr wrap="square" lIns="0" tIns="0" rIns="0" bIns="0" rtlCol="0" anchor="t"/>
          <a:lstStyle/>
          <a:p>
            <a:pPr indent="0" marL="0">
              <a:buNone/>
            </a:pPr>
            <a:r>
              <a:rPr lang="en-US" sz="1100" dirty="0">
                <a:solidFill>
                  <a:srgbClr val="9A5B00"/>
                </a:solidFill>
                <a:latin typeface="Calibri" pitchFamily="34" charset="0"/>
                <a:ea typeface="Calibri" pitchFamily="34" charset="-122"/>
                <a:cs typeface="Calibri" pitchFamily="34" charset="-120"/>
              </a:rPr>
              <a:t>tool calls</a:t>
            </a:r>
            <a:endParaRPr lang="en-US" sz="1100" dirty="0"/>
          </a:p>
        </p:txBody>
      </p:sp>
      <p:sp>
        <p:nvSpPr>
          <p:cNvPr id="33" name="Shape 27"/>
          <p:cNvSpPr/>
          <p:nvPr/>
        </p:nvSpPr>
        <p:spPr>
          <a:xfrm>
            <a:off x="8549640" y="4526280"/>
            <a:ext cx="3063240" cy="1371600"/>
          </a:xfrm>
          <a:prstGeom prst="roundRect">
            <a:avLst>
              <a:gd name="adj" fmla="val 6667"/>
            </a:avLst>
          </a:prstGeom>
          <a:solidFill>
            <a:srgbClr val="F3F5F8"/>
          </a:solidFill>
          <a:ln w="12700">
            <a:solidFill>
              <a:srgbClr val="F3F5F8"/>
            </a:solidFill>
            <a:prstDash val="solid"/>
          </a:ln>
        </p:spPr>
      </p:sp>
      <p:sp>
        <p:nvSpPr>
          <p:cNvPr id="34" name="Text 28"/>
          <p:cNvSpPr txBox="1"/>
          <p:nvPr/>
        </p:nvSpPr>
        <p:spPr>
          <a:xfrm>
            <a:off x="8778240" y="4663440"/>
            <a:ext cx="2651760" cy="320040"/>
          </a:xfrm>
          <a:prstGeom prst="rect">
            <a:avLst/>
          </a:prstGeom>
          <a:noFill/>
          <a:ln/>
        </p:spPr>
        <p:txBody>
          <a:bodyPr wrap="square" lIns="0" tIns="0" rIns="0" bIns="0" rtlCol="0" anchor="t"/>
          <a:lstStyle/>
          <a:p>
            <a:pPr indent="0" marL="0">
              <a:buNone/>
            </a:pPr>
            <a:r>
              <a:rPr lang="en-US" sz="1400" b="1" dirty="0">
                <a:solidFill>
                  <a:srgbClr val="13203A"/>
                </a:solidFill>
                <a:latin typeface="Calibri" pitchFamily="34" charset="0"/>
                <a:ea typeface="Calibri" pitchFamily="34" charset="-122"/>
                <a:cs typeface="Calibri" pitchFamily="34" charset="-120"/>
              </a:rPr>
              <a:t>Key principle</a:t>
            </a:r>
            <a:endParaRPr lang="en-US" sz="1400" dirty="0"/>
          </a:p>
        </p:txBody>
      </p:sp>
      <p:sp>
        <p:nvSpPr>
          <p:cNvPr id="35" name="Text 29"/>
          <p:cNvSpPr txBox="1"/>
          <p:nvPr/>
        </p:nvSpPr>
        <p:spPr>
          <a:xfrm>
            <a:off x="8778240" y="4983480"/>
            <a:ext cx="2651760" cy="86868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The LLM never touches the database. It can only request read-only lookups that the API runs.</a:t>
            </a:r>
            <a:endParaRPr lang="en-US" sz="1200" dirty="0"/>
          </a:p>
        </p:txBody>
      </p:sp>
      <p:sp>
        <p:nvSpPr>
          <p:cNvPr id="36" name="Text 30"/>
          <p:cNvSpPr txBox="1"/>
          <p:nvPr/>
        </p:nvSpPr>
        <p:spPr>
          <a:xfrm>
            <a:off x="548640" y="6172200"/>
            <a:ext cx="10972800" cy="320040"/>
          </a:xfrm>
          <a:prstGeom prst="rect">
            <a:avLst/>
          </a:prstGeom>
          <a:noFill/>
          <a:ln/>
        </p:spPr>
        <p:txBody>
          <a:bodyPr wrap="square" lIns="0" tIns="0" rIns="0" bIns="0" rtlCol="0" anchor="t"/>
          <a:lstStyle/>
          <a:p>
            <a:pPr indent="0" marL="0">
              <a:buNone/>
            </a:pPr>
            <a:r>
              <a:rPr lang="en-US" sz="1200" i="1" dirty="0">
                <a:solidFill>
                  <a:srgbClr val="4A5568"/>
                </a:solidFill>
                <a:latin typeface="Calibri" pitchFamily="34" charset="0"/>
                <a:ea typeface="Calibri" pitchFamily="34" charset="-122"/>
                <a:cs typeface="Calibri" pitchFamily="34" charset="-120"/>
              </a:rPr>
              <a:t>In production, nginx serves the UI and proxies /api, so only port 80 is public.</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300" kern="0" dirty="0">
                <a:solidFill>
                  <a:srgbClr val="9A5B00"/>
                </a:solidFill>
                <a:latin typeface="Calibri" pitchFamily="34" charset="0"/>
                <a:ea typeface="Calibri" pitchFamily="34" charset="-122"/>
                <a:cs typeface="Calibri" pitchFamily="34" charset="-120"/>
              </a:rPr>
              <a:t>TECHNOLOGY STACK</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3203A"/>
                </a:solidFill>
                <a:latin typeface="Cambria" pitchFamily="34" charset="0"/>
                <a:ea typeface="Cambria" pitchFamily="34" charset="-122"/>
                <a:cs typeface="Cambria" pitchFamily="34" charset="-120"/>
              </a:rPr>
              <a:t>Chosen for reliability and zero cost</a:t>
            </a:r>
            <a:endParaRPr lang="en-US" sz="3400" dirty="0"/>
          </a:p>
        </p:txBody>
      </p:sp>
      <p:sp>
        <p:nvSpPr>
          <p:cNvPr id="4" name="Text 2"/>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4A5568"/>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548640" y="1645920"/>
            <a:ext cx="3520440" cy="2011680"/>
          </a:xfrm>
          <a:prstGeom prst="roundRect">
            <a:avLst>
              <a:gd name="adj" fmla="val 4545"/>
            </a:avLst>
          </a:prstGeom>
          <a:solidFill>
            <a:srgbClr val="F3F5F8"/>
          </a:solidFill>
          <a:ln w="12700">
            <a:solidFill>
              <a:srgbClr val="F3F5F8"/>
            </a:solidFill>
            <a:prstDash val="solid"/>
          </a:ln>
        </p:spPr>
      </p:sp>
      <p:sp>
        <p:nvSpPr>
          <p:cNvPr id="6" name="Shape 4"/>
          <p:cNvSpPr/>
          <p:nvPr/>
        </p:nvSpPr>
        <p:spPr>
          <a:xfrm>
            <a:off x="822960" y="1920240"/>
            <a:ext cx="548640" cy="548640"/>
          </a:xfrm>
          <a:prstGeom prst="ellipse">
            <a:avLst/>
          </a:prstGeom>
          <a:solidFill>
            <a:srgbClr val="F2A541"/>
          </a:solidFill>
          <a:ln w="12700">
            <a:solidFill>
              <a:srgbClr val="F2A541"/>
            </a:solidFill>
            <a:prstDash val="solid"/>
          </a:ln>
        </p:spPr>
      </p:sp>
      <p:pic>
        <p:nvPicPr>
          <p:cNvPr id="7" name="Image 0" descr="preencoded.png">    </p:cNvPr>
          <p:cNvPicPr>
            <a:picLocks noChangeAspect="1"/>
          </p:cNvPicPr>
          <p:nvPr/>
        </p:nvPicPr>
        <p:blipFill>
          <a:blip r:embed="rId1"/>
          <a:stretch>
            <a:fillRect/>
          </a:stretch>
        </p:blipFill>
        <p:spPr>
          <a:xfrm>
            <a:off x="960120" y="2057400"/>
            <a:ext cx="274320" cy="274320"/>
          </a:xfrm>
          <a:prstGeom prst="rect">
            <a:avLst/>
          </a:prstGeom>
        </p:spPr>
      </p:pic>
      <p:sp>
        <p:nvSpPr>
          <p:cNvPr id="8" name="Text 5"/>
          <p:cNvSpPr txBox="1"/>
          <p:nvPr/>
        </p:nvSpPr>
        <p:spPr>
          <a:xfrm>
            <a:off x="1508760" y="1920240"/>
            <a:ext cx="233172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FRONTEND</a:t>
            </a:r>
            <a:endParaRPr lang="en-US" sz="1100" dirty="0"/>
          </a:p>
        </p:txBody>
      </p:sp>
      <p:sp>
        <p:nvSpPr>
          <p:cNvPr id="9" name="Text 6"/>
          <p:cNvSpPr txBox="1"/>
          <p:nvPr/>
        </p:nvSpPr>
        <p:spPr>
          <a:xfrm>
            <a:off x="1508760" y="2176272"/>
            <a:ext cx="2331720" cy="365760"/>
          </a:xfrm>
          <a:prstGeom prst="rect">
            <a:avLst/>
          </a:prstGeom>
          <a:noFill/>
          <a:ln/>
        </p:spPr>
        <p:txBody>
          <a:bodyPr wrap="square" lIns="0" tIns="0" rIns="0" bIns="0" rtlCol="0" anchor="t"/>
          <a:lstStyle/>
          <a:p>
            <a:pPr indent="0" marL="0">
              <a:buNone/>
            </a:pPr>
            <a:r>
              <a:rPr lang="en-US" sz="1500" b="1" dirty="0">
                <a:solidFill>
                  <a:srgbClr val="13203A"/>
                </a:solidFill>
                <a:latin typeface="Calibri" pitchFamily="34" charset="0"/>
                <a:ea typeface="Calibri" pitchFamily="34" charset="-122"/>
                <a:cs typeface="Calibri" pitchFamily="34" charset="-120"/>
              </a:rPr>
              <a:t>Angular 21 + TypeScript</a:t>
            </a:r>
            <a:endParaRPr lang="en-US" sz="1500" dirty="0"/>
          </a:p>
        </p:txBody>
      </p:sp>
      <p:sp>
        <p:nvSpPr>
          <p:cNvPr id="10" name="Text 7"/>
          <p:cNvSpPr txBox="1"/>
          <p:nvPr/>
        </p:nvSpPr>
        <p:spPr>
          <a:xfrm>
            <a:off x="822960" y="2697480"/>
            <a:ext cx="2971800" cy="82296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Standalone components, signals, zoneless change detection</a:t>
            </a:r>
            <a:endParaRPr lang="en-US" sz="1300" dirty="0"/>
          </a:p>
        </p:txBody>
      </p:sp>
      <p:sp>
        <p:nvSpPr>
          <p:cNvPr id="11" name="Shape 8"/>
          <p:cNvSpPr/>
          <p:nvPr/>
        </p:nvSpPr>
        <p:spPr>
          <a:xfrm>
            <a:off x="4297680" y="1645920"/>
            <a:ext cx="3520440" cy="2011680"/>
          </a:xfrm>
          <a:prstGeom prst="roundRect">
            <a:avLst>
              <a:gd name="adj" fmla="val 4545"/>
            </a:avLst>
          </a:prstGeom>
          <a:solidFill>
            <a:srgbClr val="F3F5F8"/>
          </a:solidFill>
          <a:ln w="12700">
            <a:solidFill>
              <a:srgbClr val="F3F5F8"/>
            </a:solidFill>
            <a:prstDash val="solid"/>
          </a:ln>
        </p:spPr>
      </p:sp>
      <p:sp>
        <p:nvSpPr>
          <p:cNvPr id="12" name="Shape 9"/>
          <p:cNvSpPr/>
          <p:nvPr/>
        </p:nvSpPr>
        <p:spPr>
          <a:xfrm>
            <a:off x="4572000" y="1920240"/>
            <a:ext cx="548640" cy="548640"/>
          </a:xfrm>
          <a:prstGeom prst="ellipse">
            <a:avLst/>
          </a:prstGeom>
          <a:solidFill>
            <a:srgbClr val="F2A541"/>
          </a:solidFill>
          <a:ln w="12700">
            <a:solidFill>
              <a:srgbClr val="F2A541"/>
            </a:solidFill>
            <a:prstDash val="solid"/>
          </a:ln>
        </p:spPr>
      </p:sp>
      <p:pic>
        <p:nvPicPr>
          <p:cNvPr id="13" name="Image 1" descr="preencoded.png">    </p:cNvPr>
          <p:cNvPicPr>
            <a:picLocks noChangeAspect="1"/>
          </p:cNvPicPr>
          <p:nvPr/>
        </p:nvPicPr>
        <p:blipFill>
          <a:blip r:embed="rId2"/>
          <a:stretch>
            <a:fillRect/>
          </a:stretch>
        </p:blipFill>
        <p:spPr>
          <a:xfrm>
            <a:off x="4709160" y="2057400"/>
            <a:ext cx="274320" cy="274320"/>
          </a:xfrm>
          <a:prstGeom prst="rect">
            <a:avLst/>
          </a:prstGeom>
        </p:spPr>
      </p:pic>
      <p:sp>
        <p:nvSpPr>
          <p:cNvPr id="14" name="Text 10"/>
          <p:cNvSpPr txBox="1"/>
          <p:nvPr/>
        </p:nvSpPr>
        <p:spPr>
          <a:xfrm>
            <a:off x="5257800" y="1920240"/>
            <a:ext cx="233172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BACKEND</a:t>
            </a:r>
            <a:endParaRPr lang="en-US" sz="1100" dirty="0"/>
          </a:p>
        </p:txBody>
      </p:sp>
      <p:sp>
        <p:nvSpPr>
          <p:cNvPr id="15" name="Text 11"/>
          <p:cNvSpPr txBox="1"/>
          <p:nvPr/>
        </p:nvSpPr>
        <p:spPr>
          <a:xfrm>
            <a:off x="5257800" y="2176272"/>
            <a:ext cx="2331720" cy="365760"/>
          </a:xfrm>
          <a:prstGeom prst="rect">
            <a:avLst/>
          </a:prstGeom>
          <a:noFill/>
          <a:ln/>
        </p:spPr>
        <p:txBody>
          <a:bodyPr wrap="square" lIns="0" tIns="0" rIns="0" bIns="0" rtlCol="0" anchor="t"/>
          <a:lstStyle/>
          <a:p>
            <a:pPr indent="0" marL="0">
              <a:buNone/>
            </a:pPr>
            <a:r>
              <a:rPr lang="en-US" sz="1500" b="1" dirty="0">
                <a:solidFill>
                  <a:srgbClr val="13203A"/>
                </a:solidFill>
                <a:latin typeface="Calibri" pitchFamily="34" charset="0"/>
                <a:ea typeface="Calibri" pitchFamily="34" charset="-122"/>
                <a:cs typeface="Calibri" pitchFamily="34" charset="-120"/>
              </a:rPr>
              <a:t>Spring Boot 4, Java 21</a:t>
            </a:r>
            <a:endParaRPr lang="en-US" sz="1500" dirty="0"/>
          </a:p>
        </p:txBody>
      </p:sp>
      <p:sp>
        <p:nvSpPr>
          <p:cNvPr id="16" name="Text 12"/>
          <p:cNvSpPr txBox="1"/>
          <p:nvPr/>
        </p:nvSpPr>
        <p:spPr>
          <a:xfrm>
            <a:off x="4572000" y="2697480"/>
            <a:ext cx="2971800" cy="82296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Spring MVC, Data JPA, Bean Validation, RestClient</a:t>
            </a:r>
            <a:endParaRPr lang="en-US" sz="1300" dirty="0"/>
          </a:p>
        </p:txBody>
      </p:sp>
      <p:sp>
        <p:nvSpPr>
          <p:cNvPr id="17" name="Shape 13"/>
          <p:cNvSpPr/>
          <p:nvPr/>
        </p:nvSpPr>
        <p:spPr>
          <a:xfrm>
            <a:off x="8046720" y="1645920"/>
            <a:ext cx="3520440" cy="2011680"/>
          </a:xfrm>
          <a:prstGeom prst="roundRect">
            <a:avLst>
              <a:gd name="adj" fmla="val 4545"/>
            </a:avLst>
          </a:prstGeom>
          <a:solidFill>
            <a:srgbClr val="F3F5F8"/>
          </a:solidFill>
          <a:ln w="12700">
            <a:solidFill>
              <a:srgbClr val="F3F5F8"/>
            </a:solidFill>
            <a:prstDash val="solid"/>
          </a:ln>
        </p:spPr>
      </p:sp>
      <p:sp>
        <p:nvSpPr>
          <p:cNvPr id="18" name="Shape 14"/>
          <p:cNvSpPr/>
          <p:nvPr/>
        </p:nvSpPr>
        <p:spPr>
          <a:xfrm>
            <a:off x="8321040" y="1920240"/>
            <a:ext cx="548640" cy="548640"/>
          </a:xfrm>
          <a:prstGeom prst="ellipse">
            <a:avLst/>
          </a:prstGeom>
          <a:solidFill>
            <a:srgbClr val="F2A541"/>
          </a:solidFill>
          <a:ln w="12700">
            <a:solidFill>
              <a:srgbClr val="F2A541"/>
            </a:solidFill>
            <a:prstDash val="solid"/>
          </a:ln>
        </p:spPr>
      </p:sp>
      <p:pic>
        <p:nvPicPr>
          <p:cNvPr id="19" name="Image 2" descr="preencoded.png">    </p:cNvPr>
          <p:cNvPicPr>
            <a:picLocks noChangeAspect="1"/>
          </p:cNvPicPr>
          <p:nvPr/>
        </p:nvPicPr>
        <p:blipFill>
          <a:blip r:embed="rId3"/>
          <a:stretch>
            <a:fillRect/>
          </a:stretch>
        </p:blipFill>
        <p:spPr>
          <a:xfrm>
            <a:off x="8458200" y="2057400"/>
            <a:ext cx="274320" cy="274320"/>
          </a:xfrm>
          <a:prstGeom prst="rect">
            <a:avLst/>
          </a:prstGeom>
        </p:spPr>
      </p:pic>
      <p:sp>
        <p:nvSpPr>
          <p:cNvPr id="20" name="Text 15"/>
          <p:cNvSpPr txBox="1"/>
          <p:nvPr/>
        </p:nvSpPr>
        <p:spPr>
          <a:xfrm>
            <a:off x="9006840" y="1920240"/>
            <a:ext cx="233172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DATABASE</a:t>
            </a:r>
            <a:endParaRPr lang="en-US" sz="1100" dirty="0"/>
          </a:p>
        </p:txBody>
      </p:sp>
      <p:sp>
        <p:nvSpPr>
          <p:cNvPr id="21" name="Text 16"/>
          <p:cNvSpPr txBox="1"/>
          <p:nvPr/>
        </p:nvSpPr>
        <p:spPr>
          <a:xfrm>
            <a:off x="9006840" y="2176272"/>
            <a:ext cx="2331720" cy="365760"/>
          </a:xfrm>
          <a:prstGeom prst="rect">
            <a:avLst/>
          </a:prstGeom>
          <a:noFill/>
          <a:ln/>
        </p:spPr>
        <p:txBody>
          <a:bodyPr wrap="square" lIns="0" tIns="0" rIns="0" bIns="0" rtlCol="0" anchor="t"/>
          <a:lstStyle/>
          <a:p>
            <a:pPr indent="0" marL="0">
              <a:buNone/>
            </a:pPr>
            <a:r>
              <a:rPr lang="en-US" sz="1500" b="1" dirty="0">
                <a:solidFill>
                  <a:srgbClr val="13203A"/>
                </a:solidFill>
                <a:latin typeface="Calibri" pitchFamily="34" charset="0"/>
                <a:ea typeface="Calibri" pitchFamily="34" charset="-122"/>
                <a:cs typeface="Calibri" pitchFamily="34" charset="-120"/>
              </a:rPr>
              <a:t>PostgreSQL 16 + Flyway</a:t>
            </a:r>
            <a:endParaRPr lang="en-US" sz="1500" dirty="0"/>
          </a:p>
        </p:txBody>
      </p:sp>
      <p:sp>
        <p:nvSpPr>
          <p:cNvPr id="22" name="Text 17"/>
          <p:cNvSpPr txBox="1"/>
          <p:nvPr/>
        </p:nvSpPr>
        <p:spPr>
          <a:xfrm>
            <a:off x="8321040" y="2697480"/>
            <a:ext cx="2971800" cy="82296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Versioned SQL migrations, constraints enforced in the DB</a:t>
            </a:r>
            <a:endParaRPr lang="en-US" sz="1300" dirty="0"/>
          </a:p>
        </p:txBody>
      </p:sp>
      <p:sp>
        <p:nvSpPr>
          <p:cNvPr id="23" name="Shape 18"/>
          <p:cNvSpPr/>
          <p:nvPr/>
        </p:nvSpPr>
        <p:spPr>
          <a:xfrm>
            <a:off x="548640" y="3886200"/>
            <a:ext cx="3520440" cy="2011680"/>
          </a:xfrm>
          <a:prstGeom prst="roundRect">
            <a:avLst>
              <a:gd name="adj" fmla="val 4545"/>
            </a:avLst>
          </a:prstGeom>
          <a:solidFill>
            <a:srgbClr val="F3F5F8"/>
          </a:solidFill>
          <a:ln w="12700">
            <a:solidFill>
              <a:srgbClr val="F3F5F8"/>
            </a:solidFill>
            <a:prstDash val="solid"/>
          </a:ln>
        </p:spPr>
      </p:sp>
      <p:sp>
        <p:nvSpPr>
          <p:cNvPr id="24" name="Shape 19"/>
          <p:cNvSpPr/>
          <p:nvPr/>
        </p:nvSpPr>
        <p:spPr>
          <a:xfrm>
            <a:off x="822960" y="4160520"/>
            <a:ext cx="548640" cy="548640"/>
          </a:xfrm>
          <a:prstGeom prst="ellipse">
            <a:avLst/>
          </a:prstGeom>
          <a:solidFill>
            <a:srgbClr val="F2A541"/>
          </a:solidFill>
          <a:ln w="12700">
            <a:solidFill>
              <a:srgbClr val="F2A541"/>
            </a:solidFill>
            <a:prstDash val="solid"/>
          </a:ln>
        </p:spPr>
      </p:sp>
      <p:pic>
        <p:nvPicPr>
          <p:cNvPr id="25" name="Image 3" descr="preencoded.png">    </p:cNvPr>
          <p:cNvPicPr>
            <a:picLocks noChangeAspect="1"/>
          </p:cNvPicPr>
          <p:nvPr/>
        </p:nvPicPr>
        <p:blipFill>
          <a:blip r:embed="rId4"/>
          <a:stretch>
            <a:fillRect/>
          </a:stretch>
        </p:blipFill>
        <p:spPr>
          <a:xfrm>
            <a:off x="960120" y="4297680"/>
            <a:ext cx="274320" cy="274320"/>
          </a:xfrm>
          <a:prstGeom prst="rect">
            <a:avLst/>
          </a:prstGeom>
        </p:spPr>
      </p:pic>
      <p:sp>
        <p:nvSpPr>
          <p:cNvPr id="26" name="Text 20"/>
          <p:cNvSpPr txBox="1"/>
          <p:nvPr/>
        </p:nvSpPr>
        <p:spPr>
          <a:xfrm>
            <a:off x="1508760" y="4160520"/>
            <a:ext cx="233172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AI</a:t>
            </a:r>
            <a:endParaRPr lang="en-US" sz="1100" dirty="0"/>
          </a:p>
        </p:txBody>
      </p:sp>
      <p:sp>
        <p:nvSpPr>
          <p:cNvPr id="27" name="Text 21"/>
          <p:cNvSpPr txBox="1"/>
          <p:nvPr/>
        </p:nvSpPr>
        <p:spPr>
          <a:xfrm>
            <a:off x="1508760" y="4416552"/>
            <a:ext cx="2331720" cy="365760"/>
          </a:xfrm>
          <a:prstGeom prst="rect">
            <a:avLst/>
          </a:prstGeom>
          <a:noFill/>
          <a:ln/>
        </p:spPr>
        <p:txBody>
          <a:bodyPr wrap="square" lIns="0" tIns="0" rIns="0" bIns="0" rtlCol="0" anchor="t"/>
          <a:lstStyle/>
          <a:p>
            <a:pPr indent="0" marL="0">
              <a:buNone/>
            </a:pPr>
            <a:r>
              <a:rPr lang="en-US" sz="1500" b="1" dirty="0">
                <a:solidFill>
                  <a:srgbClr val="13203A"/>
                </a:solidFill>
                <a:latin typeface="Calibri" pitchFamily="34" charset="0"/>
                <a:ea typeface="Calibri" pitchFamily="34" charset="-122"/>
                <a:cs typeface="Calibri" pitchFamily="34" charset="-120"/>
              </a:rPr>
              <a:t>Ollama + Llama 3.2 / Qwen 2.5</a:t>
            </a:r>
            <a:endParaRPr lang="en-US" sz="1500" dirty="0"/>
          </a:p>
        </p:txBody>
      </p:sp>
      <p:sp>
        <p:nvSpPr>
          <p:cNvPr id="28" name="Text 22"/>
          <p:cNvSpPr txBox="1"/>
          <p:nvPr/>
        </p:nvSpPr>
        <p:spPr>
          <a:xfrm>
            <a:off x="822960" y="4937760"/>
            <a:ext cx="2971800" cy="82296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Open-source models, native tool (function) calling</a:t>
            </a:r>
            <a:endParaRPr lang="en-US" sz="1300" dirty="0"/>
          </a:p>
        </p:txBody>
      </p:sp>
      <p:sp>
        <p:nvSpPr>
          <p:cNvPr id="29" name="Shape 23"/>
          <p:cNvSpPr/>
          <p:nvPr/>
        </p:nvSpPr>
        <p:spPr>
          <a:xfrm>
            <a:off x="4297680" y="3886200"/>
            <a:ext cx="3520440" cy="2011680"/>
          </a:xfrm>
          <a:prstGeom prst="roundRect">
            <a:avLst>
              <a:gd name="adj" fmla="val 4545"/>
            </a:avLst>
          </a:prstGeom>
          <a:solidFill>
            <a:srgbClr val="F3F5F8"/>
          </a:solidFill>
          <a:ln w="12700">
            <a:solidFill>
              <a:srgbClr val="F3F5F8"/>
            </a:solidFill>
            <a:prstDash val="solid"/>
          </a:ln>
        </p:spPr>
      </p:sp>
      <p:sp>
        <p:nvSpPr>
          <p:cNvPr id="30" name="Shape 24"/>
          <p:cNvSpPr/>
          <p:nvPr/>
        </p:nvSpPr>
        <p:spPr>
          <a:xfrm>
            <a:off x="4572000" y="4160520"/>
            <a:ext cx="548640" cy="548640"/>
          </a:xfrm>
          <a:prstGeom prst="ellipse">
            <a:avLst/>
          </a:prstGeom>
          <a:solidFill>
            <a:srgbClr val="F2A541"/>
          </a:solidFill>
          <a:ln w="12700">
            <a:solidFill>
              <a:srgbClr val="F2A541"/>
            </a:solidFill>
            <a:prstDash val="solid"/>
          </a:ln>
        </p:spPr>
      </p:sp>
      <p:pic>
        <p:nvPicPr>
          <p:cNvPr id="31" name="Image 4" descr="preencoded.png">    </p:cNvPr>
          <p:cNvPicPr>
            <a:picLocks noChangeAspect="1"/>
          </p:cNvPicPr>
          <p:nvPr/>
        </p:nvPicPr>
        <p:blipFill>
          <a:blip r:embed="rId5"/>
          <a:stretch>
            <a:fillRect/>
          </a:stretch>
        </p:blipFill>
        <p:spPr>
          <a:xfrm>
            <a:off x="4709160" y="4297680"/>
            <a:ext cx="274320" cy="274320"/>
          </a:xfrm>
          <a:prstGeom prst="rect">
            <a:avLst/>
          </a:prstGeom>
        </p:spPr>
      </p:pic>
      <p:sp>
        <p:nvSpPr>
          <p:cNvPr id="32" name="Text 25"/>
          <p:cNvSpPr txBox="1"/>
          <p:nvPr/>
        </p:nvSpPr>
        <p:spPr>
          <a:xfrm>
            <a:off x="5257800" y="4160520"/>
            <a:ext cx="233172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DELIVERY</a:t>
            </a:r>
            <a:endParaRPr lang="en-US" sz="1100" dirty="0"/>
          </a:p>
        </p:txBody>
      </p:sp>
      <p:sp>
        <p:nvSpPr>
          <p:cNvPr id="33" name="Text 26"/>
          <p:cNvSpPr txBox="1"/>
          <p:nvPr/>
        </p:nvSpPr>
        <p:spPr>
          <a:xfrm>
            <a:off x="5257800" y="4416552"/>
            <a:ext cx="2331720" cy="365760"/>
          </a:xfrm>
          <a:prstGeom prst="rect">
            <a:avLst/>
          </a:prstGeom>
          <a:noFill/>
          <a:ln/>
        </p:spPr>
        <p:txBody>
          <a:bodyPr wrap="square" lIns="0" tIns="0" rIns="0" bIns="0" rtlCol="0" anchor="t"/>
          <a:lstStyle/>
          <a:p>
            <a:pPr indent="0" marL="0">
              <a:buNone/>
            </a:pPr>
            <a:r>
              <a:rPr lang="en-US" sz="1500" b="1" dirty="0">
                <a:solidFill>
                  <a:srgbClr val="13203A"/>
                </a:solidFill>
                <a:latin typeface="Calibri" pitchFamily="34" charset="0"/>
                <a:ea typeface="Calibri" pitchFamily="34" charset="-122"/>
                <a:cs typeface="Calibri" pitchFamily="34" charset="-120"/>
              </a:rPr>
              <a:t>Docker Compose, nginx</a:t>
            </a:r>
            <a:endParaRPr lang="en-US" sz="1500" dirty="0"/>
          </a:p>
        </p:txBody>
      </p:sp>
      <p:sp>
        <p:nvSpPr>
          <p:cNvPr id="34" name="Text 27"/>
          <p:cNvSpPr txBox="1"/>
          <p:nvPr/>
        </p:nvSpPr>
        <p:spPr>
          <a:xfrm>
            <a:off x="4572000" y="4937760"/>
            <a:ext cx="2971800" cy="82296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Whole stack in one command; nginx serves the SPA</a:t>
            </a:r>
            <a:endParaRPr lang="en-US" sz="1300" dirty="0"/>
          </a:p>
        </p:txBody>
      </p:sp>
      <p:sp>
        <p:nvSpPr>
          <p:cNvPr id="35" name="Shape 28"/>
          <p:cNvSpPr/>
          <p:nvPr/>
        </p:nvSpPr>
        <p:spPr>
          <a:xfrm>
            <a:off x="8046720" y="3886200"/>
            <a:ext cx="3520440" cy="2011680"/>
          </a:xfrm>
          <a:prstGeom prst="roundRect">
            <a:avLst>
              <a:gd name="adj" fmla="val 4545"/>
            </a:avLst>
          </a:prstGeom>
          <a:solidFill>
            <a:srgbClr val="F3F5F8"/>
          </a:solidFill>
          <a:ln w="12700">
            <a:solidFill>
              <a:srgbClr val="F3F5F8"/>
            </a:solidFill>
            <a:prstDash val="solid"/>
          </a:ln>
        </p:spPr>
      </p:sp>
      <p:sp>
        <p:nvSpPr>
          <p:cNvPr id="36" name="Shape 29"/>
          <p:cNvSpPr/>
          <p:nvPr/>
        </p:nvSpPr>
        <p:spPr>
          <a:xfrm>
            <a:off x="8321040" y="4160520"/>
            <a:ext cx="548640" cy="548640"/>
          </a:xfrm>
          <a:prstGeom prst="ellipse">
            <a:avLst/>
          </a:prstGeom>
          <a:solidFill>
            <a:srgbClr val="F2A541"/>
          </a:solidFill>
          <a:ln w="12700">
            <a:solidFill>
              <a:srgbClr val="F2A541"/>
            </a:solidFill>
            <a:prstDash val="solid"/>
          </a:ln>
        </p:spPr>
      </p:sp>
      <p:pic>
        <p:nvPicPr>
          <p:cNvPr id="37" name="Image 5" descr="preencoded.png">    </p:cNvPr>
          <p:cNvPicPr>
            <a:picLocks noChangeAspect="1"/>
          </p:cNvPicPr>
          <p:nvPr/>
        </p:nvPicPr>
        <p:blipFill>
          <a:blip r:embed="rId6"/>
          <a:stretch>
            <a:fillRect/>
          </a:stretch>
        </p:blipFill>
        <p:spPr>
          <a:xfrm>
            <a:off x="8458200" y="4297680"/>
            <a:ext cx="274320" cy="274320"/>
          </a:xfrm>
          <a:prstGeom prst="rect">
            <a:avLst/>
          </a:prstGeom>
        </p:spPr>
      </p:pic>
      <p:sp>
        <p:nvSpPr>
          <p:cNvPr id="38" name="Text 30"/>
          <p:cNvSpPr txBox="1"/>
          <p:nvPr/>
        </p:nvSpPr>
        <p:spPr>
          <a:xfrm>
            <a:off x="9006840" y="4160520"/>
            <a:ext cx="2331720" cy="274320"/>
          </a:xfrm>
          <a:prstGeom prst="rect">
            <a:avLst/>
          </a:prstGeom>
          <a:noFill/>
          <a:ln/>
        </p:spPr>
        <p:txBody>
          <a:bodyPr wrap="square" lIns="0" tIns="0" rIns="0" bIns="0" rtlCol="0" anchor="t"/>
          <a:lstStyle/>
          <a:p>
            <a:pPr indent="0" marL="0">
              <a:buNone/>
            </a:pPr>
            <a:r>
              <a:rPr lang="en-US" sz="1100" b="1" spc="200" kern="0" dirty="0">
                <a:solidFill>
                  <a:srgbClr val="9A5B00"/>
                </a:solidFill>
                <a:latin typeface="Calibri" pitchFamily="34" charset="0"/>
                <a:ea typeface="Calibri" pitchFamily="34" charset="-122"/>
                <a:cs typeface="Calibri" pitchFamily="34" charset="-120"/>
              </a:rPr>
              <a:t>QUALITY</a:t>
            </a:r>
            <a:endParaRPr lang="en-US" sz="1100" dirty="0"/>
          </a:p>
        </p:txBody>
      </p:sp>
      <p:sp>
        <p:nvSpPr>
          <p:cNvPr id="39" name="Text 31"/>
          <p:cNvSpPr txBox="1"/>
          <p:nvPr/>
        </p:nvSpPr>
        <p:spPr>
          <a:xfrm>
            <a:off x="9006840" y="4416552"/>
            <a:ext cx="2331720" cy="365760"/>
          </a:xfrm>
          <a:prstGeom prst="rect">
            <a:avLst/>
          </a:prstGeom>
          <a:noFill/>
          <a:ln/>
        </p:spPr>
        <p:txBody>
          <a:bodyPr wrap="square" lIns="0" tIns="0" rIns="0" bIns="0" rtlCol="0" anchor="t"/>
          <a:lstStyle/>
          <a:p>
            <a:pPr indent="0" marL="0">
              <a:buNone/>
            </a:pPr>
            <a:r>
              <a:rPr lang="en-US" sz="1500" b="1" dirty="0">
                <a:solidFill>
                  <a:srgbClr val="13203A"/>
                </a:solidFill>
                <a:latin typeface="Calibri" pitchFamily="34" charset="0"/>
                <a:ea typeface="Calibri" pitchFamily="34" charset="-122"/>
                <a:cs typeface="Calibri" pitchFamily="34" charset="-120"/>
              </a:rPr>
              <a:t>JUnit 5, MockMvc, GitHub Actions</a:t>
            </a:r>
            <a:endParaRPr lang="en-US" sz="1500" dirty="0"/>
          </a:p>
        </p:txBody>
      </p:sp>
      <p:sp>
        <p:nvSpPr>
          <p:cNvPr id="40" name="Text 32"/>
          <p:cNvSpPr txBox="1"/>
          <p:nvPr/>
        </p:nvSpPr>
        <p:spPr>
          <a:xfrm>
            <a:off x="8321040" y="4937760"/>
            <a:ext cx="2971800" cy="82296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Tests and a production build on every pull request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300" kern="0" dirty="0">
                <a:solidFill>
                  <a:srgbClr val="9A5B00"/>
                </a:solidFill>
                <a:latin typeface="Calibri" pitchFamily="34" charset="0"/>
                <a:ea typeface="Calibri" pitchFamily="34" charset="-122"/>
                <a:cs typeface="Calibri" pitchFamily="34" charset="-120"/>
              </a:rPr>
              <a:t>DATABASE DESIGN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3203A"/>
                </a:solidFill>
                <a:latin typeface="Cambria" pitchFamily="34" charset="0"/>
                <a:ea typeface="Cambria" pitchFamily="34" charset="-122"/>
                <a:cs typeface="Cambria" pitchFamily="34" charset="-120"/>
              </a:rPr>
              <a:t>Three tables with built-in integrity</a:t>
            </a:r>
            <a:endParaRPr lang="en-US" sz="3400" dirty="0"/>
          </a:p>
        </p:txBody>
      </p:sp>
      <p:sp>
        <p:nvSpPr>
          <p:cNvPr id="4" name="Text 2"/>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4A5568"/>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548640" y="1691640"/>
            <a:ext cx="3383280" cy="2880360"/>
          </a:xfrm>
          <a:prstGeom prst="roundRect">
            <a:avLst>
              <a:gd name="adj" fmla="val 2540"/>
            </a:avLst>
          </a:prstGeom>
          <a:solidFill>
            <a:srgbClr val="FFFFFF"/>
          </a:solidFill>
          <a:ln w="12700">
            <a:solidFill>
              <a:srgbClr val="DDE1E8"/>
            </a:solidFill>
            <a:prstDash val="solid"/>
          </a:ln>
        </p:spPr>
      </p:sp>
      <p:sp>
        <p:nvSpPr>
          <p:cNvPr id="6" name="Shape 4"/>
          <p:cNvSpPr/>
          <p:nvPr/>
        </p:nvSpPr>
        <p:spPr>
          <a:xfrm>
            <a:off x="566928" y="1709928"/>
            <a:ext cx="3346704" cy="457200"/>
          </a:xfrm>
          <a:prstGeom prst="rect">
            <a:avLst/>
          </a:prstGeom>
          <a:solidFill>
            <a:srgbClr val="13203A"/>
          </a:solidFill>
          <a:ln w="12700">
            <a:solidFill>
              <a:srgbClr val="13203A"/>
            </a:solidFill>
            <a:prstDash val="solid"/>
          </a:ln>
        </p:spPr>
      </p:sp>
      <p:sp>
        <p:nvSpPr>
          <p:cNvPr id="7" name="Text 5"/>
          <p:cNvSpPr txBox="1"/>
          <p:nvPr/>
        </p:nvSpPr>
        <p:spPr>
          <a:xfrm>
            <a:off x="731520" y="1709928"/>
            <a:ext cx="3017520" cy="457200"/>
          </a:xfrm>
          <a:prstGeom prst="rect">
            <a:avLst/>
          </a:prstGeom>
          <a:noFill/>
          <a:ln/>
        </p:spPr>
        <p:txBody>
          <a:bodyPr wrap="square" lIns="0" tIns="0" rIns="0" bIns="0"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drivers</a:t>
            </a:r>
            <a:endParaRPr lang="en-US" sz="1600" dirty="0"/>
          </a:p>
        </p:txBody>
      </p:sp>
      <p:sp>
        <p:nvSpPr>
          <p:cNvPr id="8" name="Text 6"/>
          <p:cNvSpPr txBox="1"/>
          <p:nvPr/>
        </p:nvSpPr>
        <p:spPr>
          <a:xfrm>
            <a:off x="731520" y="2258568"/>
            <a:ext cx="2468880" cy="329184"/>
          </a:xfrm>
          <a:prstGeom prst="rect">
            <a:avLst/>
          </a:prstGeom>
          <a:noFill/>
          <a:ln/>
        </p:spPr>
        <p:txBody>
          <a:bodyPr wrap="square" lIns="0" tIns="0" rIns="0" bIns="0" rtlCol="0" anchor="ctr"/>
          <a:lstStyle/>
          <a:p>
            <a:pPr indent="0" marL="0">
              <a:buNone/>
            </a:pPr>
            <a:r>
              <a:rPr lang="en-US" sz="1200" b="1" dirty="0">
                <a:solidFill>
                  <a:srgbClr val="13203A"/>
                </a:solidFill>
                <a:latin typeface="Courier New" pitchFamily="34" charset="0"/>
                <a:ea typeface="Courier New" pitchFamily="34" charset="-122"/>
                <a:cs typeface="Courier New" pitchFamily="34" charset="-120"/>
              </a:rPr>
              <a:t>id</a:t>
            </a:r>
            <a:pPr indent="0" marL="0">
              <a:buNone/>
            </a:pPr>
            <a:r>
              <a:rPr lang="en-US" sz="1200" dirty="0">
                <a:solidFill>
                  <a:srgbClr val="4A5568"/>
                </a:solidFill>
                <a:latin typeface="Courier New" pitchFamily="34" charset="0"/>
                <a:ea typeface="Courier New" pitchFamily="34" charset="-122"/>
                <a:cs typeface="Courier New" pitchFamily="34" charset="-120"/>
              </a:rPr>
              <a:t>  bigint</a:t>
            </a:r>
            <a:endParaRPr lang="en-US" sz="1200" dirty="0"/>
          </a:p>
        </p:txBody>
      </p:sp>
      <p:sp>
        <p:nvSpPr>
          <p:cNvPr id="9" name="Shape 7"/>
          <p:cNvSpPr/>
          <p:nvPr/>
        </p:nvSpPr>
        <p:spPr>
          <a:xfrm>
            <a:off x="3200400" y="2276856"/>
            <a:ext cx="548640" cy="384048"/>
          </a:xfrm>
          <a:prstGeom prst="roundRect">
            <a:avLst>
              <a:gd name="adj" fmla="val 50000"/>
            </a:avLst>
          </a:prstGeom>
          <a:solidFill>
            <a:srgbClr val="FFF1D6"/>
          </a:solidFill>
          <a:ln w="12700">
            <a:solidFill>
              <a:srgbClr val="FFF1D6"/>
            </a:solidFill>
            <a:prstDash val="solid"/>
          </a:ln>
        </p:spPr>
      </p:sp>
      <p:sp>
        <p:nvSpPr>
          <p:cNvPr id="10" name="Text 8"/>
          <p:cNvSpPr txBox="1"/>
          <p:nvPr/>
        </p:nvSpPr>
        <p:spPr>
          <a:xfrm>
            <a:off x="3200400" y="2276856"/>
            <a:ext cx="548640" cy="384048"/>
          </a:xfrm>
          <a:prstGeom prst="rect">
            <a:avLst/>
          </a:prstGeom>
          <a:noFill/>
          <a:ln/>
        </p:spPr>
        <p:txBody>
          <a:bodyPr wrap="square" lIns="0" tIns="0" rIns="0" bIns="0" rtlCol="0" anchor="ctr"/>
          <a:lstStyle/>
          <a:p>
            <a:pPr algn="ctr" indent="0" marL="0">
              <a:buNone/>
            </a:pPr>
            <a:r>
              <a:rPr lang="en-US" sz="900" b="1" dirty="0">
                <a:solidFill>
                  <a:srgbClr val="13203A"/>
                </a:solidFill>
                <a:latin typeface="Calibri" pitchFamily="34" charset="0"/>
                <a:ea typeface="Calibri" pitchFamily="34" charset="-122"/>
                <a:cs typeface="Calibri" pitchFamily="34" charset="-120"/>
              </a:rPr>
              <a:t>PK</a:t>
            </a:r>
            <a:endParaRPr lang="en-US" sz="900" dirty="0"/>
          </a:p>
        </p:txBody>
      </p:sp>
      <p:sp>
        <p:nvSpPr>
          <p:cNvPr id="11" name="Text 9"/>
          <p:cNvSpPr txBox="1"/>
          <p:nvPr/>
        </p:nvSpPr>
        <p:spPr>
          <a:xfrm>
            <a:off x="731520" y="2624328"/>
            <a:ext cx="2468880" cy="329184"/>
          </a:xfrm>
          <a:prstGeom prst="rect">
            <a:avLst/>
          </a:prstGeom>
          <a:noFill/>
          <a:ln/>
        </p:spPr>
        <p:txBody>
          <a:bodyPr wrap="square" lIns="0" tIns="0" rIns="0" bIns="0" rtlCol="0" anchor="ctr"/>
          <a:lstStyle/>
          <a:p>
            <a:pPr indent="0" marL="0">
              <a:buNone/>
            </a:pPr>
            <a:r>
              <a:rPr lang="en-US" sz="1200" dirty="0">
                <a:solidFill>
                  <a:srgbClr val="13203A"/>
                </a:solidFill>
                <a:latin typeface="Courier New" pitchFamily="34" charset="0"/>
                <a:ea typeface="Courier New" pitchFamily="34" charset="-122"/>
                <a:cs typeface="Courier New" pitchFamily="34" charset="-120"/>
              </a:rPr>
              <a:t>name</a:t>
            </a:r>
            <a:pPr indent="0" marL="0">
              <a:buNone/>
            </a:pPr>
            <a:r>
              <a:rPr lang="en-US" sz="1200" dirty="0">
                <a:solidFill>
                  <a:srgbClr val="4A5568"/>
                </a:solidFill>
                <a:latin typeface="Courier New" pitchFamily="34" charset="0"/>
                <a:ea typeface="Courier New" pitchFamily="34" charset="-122"/>
                <a:cs typeface="Courier New" pitchFamily="34" charset="-120"/>
              </a:rPr>
              <a:t>  varchar</a:t>
            </a:r>
            <a:endParaRPr lang="en-US" sz="1200" dirty="0"/>
          </a:p>
        </p:txBody>
      </p:sp>
      <p:sp>
        <p:nvSpPr>
          <p:cNvPr id="12" name="Text 10"/>
          <p:cNvSpPr txBox="1"/>
          <p:nvPr/>
        </p:nvSpPr>
        <p:spPr>
          <a:xfrm>
            <a:off x="731520" y="2990088"/>
            <a:ext cx="2468880" cy="329184"/>
          </a:xfrm>
          <a:prstGeom prst="rect">
            <a:avLst/>
          </a:prstGeom>
          <a:noFill/>
          <a:ln/>
        </p:spPr>
        <p:txBody>
          <a:bodyPr wrap="square" lIns="0" tIns="0" rIns="0" bIns="0" rtlCol="0" anchor="ctr"/>
          <a:lstStyle/>
          <a:p>
            <a:pPr indent="0" marL="0">
              <a:buNone/>
            </a:pPr>
            <a:r>
              <a:rPr lang="en-US" sz="1200" dirty="0">
                <a:solidFill>
                  <a:srgbClr val="13203A"/>
                </a:solidFill>
                <a:latin typeface="Courier New" pitchFamily="34" charset="0"/>
                <a:ea typeface="Courier New" pitchFamily="34" charset="-122"/>
                <a:cs typeface="Courier New" pitchFamily="34" charset="-120"/>
              </a:rPr>
              <a:t>email</a:t>
            </a:r>
            <a:pPr indent="0" marL="0">
              <a:buNone/>
            </a:pPr>
            <a:r>
              <a:rPr lang="en-US" sz="1200" dirty="0">
                <a:solidFill>
                  <a:srgbClr val="4A5568"/>
                </a:solidFill>
                <a:latin typeface="Courier New" pitchFamily="34" charset="0"/>
                <a:ea typeface="Courier New" pitchFamily="34" charset="-122"/>
                <a:cs typeface="Courier New" pitchFamily="34" charset="-120"/>
              </a:rPr>
              <a:t>  unique</a:t>
            </a:r>
            <a:endParaRPr lang="en-US" sz="1200" dirty="0"/>
          </a:p>
        </p:txBody>
      </p:sp>
      <p:sp>
        <p:nvSpPr>
          <p:cNvPr id="13" name="Shape 11"/>
          <p:cNvSpPr/>
          <p:nvPr/>
        </p:nvSpPr>
        <p:spPr>
          <a:xfrm>
            <a:off x="3200400" y="3008376"/>
            <a:ext cx="548640" cy="384048"/>
          </a:xfrm>
          <a:prstGeom prst="roundRect">
            <a:avLst>
              <a:gd name="adj" fmla="val 50000"/>
            </a:avLst>
          </a:prstGeom>
          <a:solidFill>
            <a:srgbClr val="FFF1D6"/>
          </a:solidFill>
          <a:ln w="12700">
            <a:solidFill>
              <a:srgbClr val="FFF1D6"/>
            </a:solidFill>
            <a:prstDash val="solid"/>
          </a:ln>
        </p:spPr>
      </p:sp>
      <p:sp>
        <p:nvSpPr>
          <p:cNvPr id="14" name="Text 12"/>
          <p:cNvSpPr txBox="1"/>
          <p:nvPr/>
        </p:nvSpPr>
        <p:spPr>
          <a:xfrm>
            <a:off x="3200400" y="3008376"/>
            <a:ext cx="548640" cy="384048"/>
          </a:xfrm>
          <a:prstGeom prst="rect">
            <a:avLst/>
          </a:prstGeom>
          <a:noFill/>
          <a:ln/>
        </p:spPr>
        <p:txBody>
          <a:bodyPr wrap="square" lIns="0" tIns="0" rIns="0" bIns="0" rtlCol="0" anchor="ctr"/>
          <a:lstStyle/>
          <a:p>
            <a:pPr algn="ctr" indent="0" marL="0">
              <a:buNone/>
            </a:pPr>
            <a:r>
              <a:rPr lang="en-US" sz="900" b="1" dirty="0">
                <a:solidFill>
                  <a:srgbClr val="9A5B00"/>
                </a:solidFill>
                <a:latin typeface="Calibri" pitchFamily="34" charset="0"/>
                <a:ea typeface="Calibri" pitchFamily="34" charset="-122"/>
                <a:cs typeface="Calibri" pitchFamily="34" charset="-120"/>
              </a:rPr>
              <a:t>UQ</a:t>
            </a:r>
            <a:endParaRPr lang="en-US" sz="900" dirty="0"/>
          </a:p>
        </p:txBody>
      </p:sp>
      <p:sp>
        <p:nvSpPr>
          <p:cNvPr id="15" name="Text 13"/>
          <p:cNvSpPr txBox="1"/>
          <p:nvPr/>
        </p:nvSpPr>
        <p:spPr>
          <a:xfrm>
            <a:off x="731520" y="3355848"/>
            <a:ext cx="2468880" cy="329184"/>
          </a:xfrm>
          <a:prstGeom prst="rect">
            <a:avLst/>
          </a:prstGeom>
          <a:noFill/>
          <a:ln/>
        </p:spPr>
        <p:txBody>
          <a:bodyPr wrap="square" lIns="0" tIns="0" rIns="0" bIns="0" rtlCol="0" anchor="ctr"/>
          <a:lstStyle/>
          <a:p>
            <a:pPr indent="0" marL="0">
              <a:buNone/>
            </a:pPr>
            <a:r>
              <a:rPr lang="en-US" sz="1200" dirty="0">
                <a:solidFill>
                  <a:srgbClr val="13203A"/>
                </a:solidFill>
                <a:latin typeface="Courier New" pitchFamily="34" charset="0"/>
                <a:ea typeface="Courier New" pitchFamily="34" charset="-122"/>
                <a:cs typeface="Courier New" pitchFamily="34" charset="-120"/>
              </a:rPr>
              <a:t>phone</a:t>
            </a:r>
            <a:pPr indent="0" marL="0">
              <a:buNone/>
            </a:pPr>
            <a:r>
              <a:rPr lang="en-US" sz="1200" dirty="0">
                <a:solidFill>
                  <a:srgbClr val="4A5568"/>
                </a:solidFill>
                <a:latin typeface="Courier New" pitchFamily="34" charset="0"/>
                <a:ea typeface="Courier New" pitchFamily="34" charset="-122"/>
                <a:cs typeface="Courier New" pitchFamily="34" charset="-120"/>
              </a:rPr>
              <a:t>  unique</a:t>
            </a:r>
            <a:endParaRPr lang="en-US" sz="1200" dirty="0"/>
          </a:p>
        </p:txBody>
      </p:sp>
      <p:sp>
        <p:nvSpPr>
          <p:cNvPr id="16" name="Shape 14"/>
          <p:cNvSpPr/>
          <p:nvPr/>
        </p:nvSpPr>
        <p:spPr>
          <a:xfrm>
            <a:off x="3200400" y="3374136"/>
            <a:ext cx="548640" cy="384048"/>
          </a:xfrm>
          <a:prstGeom prst="roundRect">
            <a:avLst>
              <a:gd name="adj" fmla="val 50000"/>
            </a:avLst>
          </a:prstGeom>
          <a:solidFill>
            <a:srgbClr val="FFF1D6"/>
          </a:solidFill>
          <a:ln w="12700">
            <a:solidFill>
              <a:srgbClr val="FFF1D6"/>
            </a:solidFill>
            <a:prstDash val="solid"/>
          </a:ln>
        </p:spPr>
      </p:sp>
      <p:sp>
        <p:nvSpPr>
          <p:cNvPr id="17" name="Text 15"/>
          <p:cNvSpPr txBox="1"/>
          <p:nvPr/>
        </p:nvSpPr>
        <p:spPr>
          <a:xfrm>
            <a:off x="3200400" y="3374136"/>
            <a:ext cx="548640" cy="384048"/>
          </a:xfrm>
          <a:prstGeom prst="rect">
            <a:avLst/>
          </a:prstGeom>
          <a:noFill/>
          <a:ln/>
        </p:spPr>
        <p:txBody>
          <a:bodyPr wrap="square" lIns="0" tIns="0" rIns="0" bIns="0" rtlCol="0" anchor="ctr"/>
          <a:lstStyle/>
          <a:p>
            <a:pPr algn="ctr" indent="0" marL="0">
              <a:buNone/>
            </a:pPr>
            <a:r>
              <a:rPr lang="en-US" sz="900" b="1" dirty="0">
                <a:solidFill>
                  <a:srgbClr val="9A5B00"/>
                </a:solidFill>
                <a:latin typeface="Calibri" pitchFamily="34" charset="0"/>
                <a:ea typeface="Calibri" pitchFamily="34" charset="-122"/>
                <a:cs typeface="Calibri" pitchFamily="34" charset="-120"/>
              </a:rPr>
              <a:t>UQ</a:t>
            </a:r>
            <a:endParaRPr lang="en-US" sz="900" dirty="0"/>
          </a:p>
        </p:txBody>
      </p:sp>
      <p:sp>
        <p:nvSpPr>
          <p:cNvPr id="18" name="Text 16"/>
          <p:cNvSpPr txBox="1"/>
          <p:nvPr/>
        </p:nvSpPr>
        <p:spPr>
          <a:xfrm>
            <a:off x="731520" y="3721608"/>
            <a:ext cx="2468880" cy="329184"/>
          </a:xfrm>
          <a:prstGeom prst="rect">
            <a:avLst/>
          </a:prstGeom>
          <a:noFill/>
          <a:ln/>
        </p:spPr>
        <p:txBody>
          <a:bodyPr wrap="square" lIns="0" tIns="0" rIns="0" bIns="0" rtlCol="0" anchor="ctr"/>
          <a:lstStyle/>
          <a:p>
            <a:pPr indent="0" marL="0">
              <a:buNone/>
            </a:pPr>
            <a:r>
              <a:rPr lang="en-US" sz="1200" dirty="0">
                <a:solidFill>
                  <a:srgbClr val="13203A"/>
                </a:solidFill>
                <a:latin typeface="Courier New" pitchFamily="34" charset="0"/>
                <a:ea typeface="Courier New" pitchFamily="34" charset="-122"/>
                <a:cs typeface="Courier New" pitchFamily="34" charset="-120"/>
              </a:rPr>
              <a:t>password_hash</a:t>
            </a:r>
            <a:pPr indent="0" marL="0">
              <a:buNone/>
            </a:pPr>
            <a:r>
              <a:rPr lang="en-US" sz="1200" dirty="0">
                <a:solidFill>
                  <a:srgbClr val="4A5568"/>
                </a:solidFill>
                <a:latin typeface="Courier New" pitchFamily="34" charset="0"/>
                <a:ea typeface="Courier New" pitchFamily="34" charset="-122"/>
                <a:cs typeface="Courier New" pitchFamily="34" charset="-120"/>
              </a:rPr>
              <a:t>  bcrypt</a:t>
            </a:r>
            <a:endParaRPr lang="en-US" sz="1200" dirty="0"/>
          </a:p>
        </p:txBody>
      </p:sp>
      <p:sp>
        <p:nvSpPr>
          <p:cNvPr id="19" name="Text 17"/>
          <p:cNvSpPr txBox="1"/>
          <p:nvPr/>
        </p:nvSpPr>
        <p:spPr>
          <a:xfrm>
            <a:off x="731520" y="4087368"/>
            <a:ext cx="2468880" cy="329184"/>
          </a:xfrm>
          <a:prstGeom prst="rect">
            <a:avLst/>
          </a:prstGeom>
          <a:noFill/>
          <a:ln/>
        </p:spPr>
        <p:txBody>
          <a:bodyPr wrap="square" lIns="0" tIns="0" rIns="0" bIns="0" rtlCol="0" anchor="ctr"/>
          <a:lstStyle/>
          <a:p>
            <a:pPr indent="0" marL="0">
              <a:buNone/>
            </a:pPr>
            <a:r>
              <a:rPr lang="en-US" sz="1200" dirty="0">
                <a:solidFill>
                  <a:srgbClr val="13203A"/>
                </a:solidFill>
                <a:latin typeface="Courier New" pitchFamily="34" charset="0"/>
                <a:ea typeface="Courier New" pitchFamily="34" charset="-122"/>
                <a:cs typeface="Courier New" pitchFamily="34" charset="-120"/>
              </a:rPr>
              <a:t>location_x/y</a:t>
            </a:r>
            <a:pPr indent="0" marL="0">
              <a:buNone/>
            </a:pPr>
            <a:r>
              <a:rPr lang="en-US" sz="1200" dirty="0">
                <a:solidFill>
                  <a:srgbClr val="4A5568"/>
                </a:solidFill>
                <a:latin typeface="Courier New" pitchFamily="34" charset="0"/>
                <a:ea typeface="Courier New" pitchFamily="34" charset="-122"/>
                <a:cs typeface="Courier New" pitchFamily="34" charset="-120"/>
              </a:rPr>
              <a:t>  double</a:t>
            </a:r>
            <a:endParaRPr lang="en-US" sz="1200" dirty="0"/>
          </a:p>
        </p:txBody>
      </p:sp>
      <p:sp>
        <p:nvSpPr>
          <p:cNvPr id="20" name="Shape 18"/>
          <p:cNvSpPr/>
          <p:nvPr/>
        </p:nvSpPr>
        <p:spPr>
          <a:xfrm>
            <a:off x="4389120" y="1691640"/>
            <a:ext cx="3383280" cy="2880360"/>
          </a:xfrm>
          <a:prstGeom prst="roundRect">
            <a:avLst>
              <a:gd name="adj" fmla="val 2540"/>
            </a:avLst>
          </a:prstGeom>
          <a:solidFill>
            <a:srgbClr val="FFFFFF"/>
          </a:solidFill>
          <a:ln w="25400">
            <a:solidFill>
              <a:srgbClr val="13203A"/>
            </a:solidFill>
            <a:prstDash val="solid"/>
          </a:ln>
        </p:spPr>
      </p:sp>
      <p:sp>
        <p:nvSpPr>
          <p:cNvPr id="21" name="Shape 19"/>
          <p:cNvSpPr/>
          <p:nvPr/>
        </p:nvSpPr>
        <p:spPr>
          <a:xfrm>
            <a:off x="4407408" y="1709928"/>
            <a:ext cx="3346704" cy="457200"/>
          </a:xfrm>
          <a:prstGeom prst="rect">
            <a:avLst/>
          </a:prstGeom>
          <a:solidFill>
            <a:srgbClr val="13203A"/>
          </a:solidFill>
          <a:ln w="12700">
            <a:solidFill>
              <a:srgbClr val="13203A"/>
            </a:solidFill>
            <a:prstDash val="solid"/>
          </a:ln>
        </p:spPr>
      </p:sp>
      <p:sp>
        <p:nvSpPr>
          <p:cNvPr id="22" name="Text 20"/>
          <p:cNvSpPr txBox="1"/>
          <p:nvPr/>
        </p:nvSpPr>
        <p:spPr>
          <a:xfrm>
            <a:off x="4572000" y="1709928"/>
            <a:ext cx="3017520" cy="457200"/>
          </a:xfrm>
          <a:prstGeom prst="rect">
            <a:avLst/>
          </a:prstGeom>
          <a:noFill/>
          <a:ln/>
        </p:spPr>
        <p:txBody>
          <a:bodyPr wrap="square" lIns="0" tIns="0" rIns="0" bIns="0"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assignments</a:t>
            </a:r>
            <a:endParaRPr lang="en-US" sz="1600" dirty="0"/>
          </a:p>
        </p:txBody>
      </p:sp>
      <p:sp>
        <p:nvSpPr>
          <p:cNvPr id="23" name="Text 21"/>
          <p:cNvSpPr txBox="1"/>
          <p:nvPr/>
        </p:nvSpPr>
        <p:spPr>
          <a:xfrm>
            <a:off x="4572000" y="2258568"/>
            <a:ext cx="2468880" cy="329184"/>
          </a:xfrm>
          <a:prstGeom prst="rect">
            <a:avLst/>
          </a:prstGeom>
          <a:noFill/>
          <a:ln/>
        </p:spPr>
        <p:txBody>
          <a:bodyPr wrap="square" lIns="0" tIns="0" rIns="0" bIns="0" rtlCol="0" anchor="ctr"/>
          <a:lstStyle/>
          <a:p>
            <a:pPr indent="0" marL="0">
              <a:buNone/>
            </a:pPr>
            <a:r>
              <a:rPr lang="en-US" sz="1200" b="1" dirty="0">
                <a:solidFill>
                  <a:srgbClr val="13203A"/>
                </a:solidFill>
                <a:latin typeface="Courier New" pitchFamily="34" charset="0"/>
                <a:ea typeface="Courier New" pitchFamily="34" charset="-122"/>
                <a:cs typeface="Courier New" pitchFamily="34" charset="-120"/>
              </a:rPr>
              <a:t>id</a:t>
            </a:r>
            <a:pPr indent="0" marL="0">
              <a:buNone/>
            </a:pPr>
            <a:r>
              <a:rPr lang="en-US" sz="1200" dirty="0">
                <a:solidFill>
                  <a:srgbClr val="4A5568"/>
                </a:solidFill>
                <a:latin typeface="Courier New" pitchFamily="34" charset="0"/>
                <a:ea typeface="Courier New" pitchFamily="34" charset="-122"/>
                <a:cs typeface="Courier New" pitchFamily="34" charset="-120"/>
              </a:rPr>
              <a:t>  bigint</a:t>
            </a:r>
            <a:endParaRPr lang="en-US" sz="1200" dirty="0"/>
          </a:p>
        </p:txBody>
      </p:sp>
      <p:sp>
        <p:nvSpPr>
          <p:cNvPr id="24" name="Shape 22"/>
          <p:cNvSpPr/>
          <p:nvPr/>
        </p:nvSpPr>
        <p:spPr>
          <a:xfrm>
            <a:off x="7040880" y="2276856"/>
            <a:ext cx="548640" cy="384048"/>
          </a:xfrm>
          <a:prstGeom prst="roundRect">
            <a:avLst>
              <a:gd name="adj" fmla="val 50000"/>
            </a:avLst>
          </a:prstGeom>
          <a:solidFill>
            <a:srgbClr val="FFF1D6"/>
          </a:solidFill>
          <a:ln w="12700">
            <a:solidFill>
              <a:srgbClr val="FFF1D6"/>
            </a:solidFill>
            <a:prstDash val="solid"/>
          </a:ln>
        </p:spPr>
      </p:sp>
      <p:sp>
        <p:nvSpPr>
          <p:cNvPr id="25" name="Text 23"/>
          <p:cNvSpPr txBox="1"/>
          <p:nvPr/>
        </p:nvSpPr>
        <p:spPr>
          <a:xfrm>
            <a:off x="7040880" y="2276856"/>
            <a:ext cx="548640" cy="384048"/>
          </a:xfrm>
          <a:prstGeom prst="rect">
            <a:avLst/>
          </a:prstGeom>
          <a:noFill/>
          <a:ln/>
        </p:spPr>
        <p:txBody>
          <a:bodyPr wrap="square" lIns="0" tIns="0" rIns="0" bIns="0" rtlCol="0" anchor="ctr"/>
          <a:lstStyle/>
          <a:p>
            <a:pPr algn="ctr" indent="0" marL="0">
              <a:buNone/>
            </a:pPr>
            <a:r>
              <a:rPr lang="en-US" sz="900" b="1" dirty="0">
                <a:solidFill>
                  <a:srgbClr val="13203A"/>
                </a:solidFill>
                <a:latin typeface="Calibri" pitchFamily="34" charset="0"/>
                <a:ea typeface="Calibri" pitchFamily="34" charset="-122"/>
                <a:cs typeface="Calibri" pitchFamily="34" charset="-120"/>
              </a:rPr>
              <a:t>PK</a:t>
            </a:r>
            <a:endParaRPr lang="en-US" sz="900" dirty="0"/>
          </a:p>
        </p:txBody>
      </p:sp>
      <p:sp>
        <p:nvSpPr>
          <p:cNvPr id="26" name="Text 24"/>
          <p:cNvSpPr txBox="1"/>
          <p:nvPr/>
        </p:nvSpPr>
        <p:spPr>
          <a:xfrm>
            <a:off x="4572000" y="2624328"/>
            <a:ext cx="2468880" cy="329184"/>
          </a:xfrm>
          <a:prstGeom prst="rect">
            <a:avLst/>
          </a:prstGeom>
          <a:noFill/>
          <a:ln/>
        </p:spPr>
        <p:txBody>
          <a:bodyPr wrap="square" lIns="0" tIns="0" rIns="0" bIns="0" rtlCol="0" anchor="ctr"/>
          <a:lstStyle/>
          <a:p>
            <a:pPr indent="0" marL="0">
              <a:buNone/>
            </a:pPr>
            <a:r>
              <a:rPr lang="en-US" sz="1200" b="1" dirty="0">
                <a:solidFill>
                  <a:srgbClr val="13203A"/>
                </a:solidFill>
                <a:latin typeface="Courier New" pitchFamily="34" charset="0"/>
                <a:ea typeface="Courier New" pitchFamily="34" charset="-122"/>
                <a:cs typeface="Courier New" pitchFamily="34" charset="-120"/>
              </a:rPr>
              <a:t>driver_id</a:t>
            </a:r>
            <a:pPr indent="0" marL="0">
              <a:buNone/>
            </a:pPr>
            <a:r>
              <a:rPr lang="en-US" sz="1200" dirty="0">
                <a:solidFill>
                  <a:srgbClr val="4A5568"/>
                </a:solidFill>
                <a:latin typeface="Courier New" pitchFamily="34" charset="0"/>
                <a:ea typeface="Courier New" pitchFamily="34" charset="-122"/>
                <a:cs typeface="Courier New" pitchFamily="34" charset="-120"/>
              </a:rPr>
              <a:t>  → drivers</a:t>
            </a:r>
            <a:endParaRPr lang="en-US" sz="1200" dirty="0"/>
          </a:p>
        </p:txBody>
      </p:sp>
      <p:sp>
        <p:nvSpPr>
          <p:cNvPr id="27" name="Shape 25"/>
          <p:cNvSpPr/>
          <p:nvPr/>
        </p:nvSpPr>
        <p:spPr>
          <a:xfrm>
            <a:off x="7040880" y="2642616"/>
            <a:ext cx="548640" cy="384048"/>
          </a:xfrm>
          <a:prstGeom prst="roundRect">
            <a:avLst>
              <a:gd name="adj" fmla="val 50000"/>
            </a:avLst>
          </a:prstGeom>
          <a:solidFill>
            <a:srgbClr val="FFF1D6"/>
          </a:solidFill>
          <a:ln w="12700">
            <a:solidFill>
              <a:srgbClr val="FFF1D6"/>
            </a:solidFill>
            <a:prstDash val="solid"/>
          </a:ln>
        </p:spPr>
      </p:sp>
      <p:sp>
        <p:nvSpPr>
          <p:cNvPr id="28" name="Text 26"/>
          <p:cNvSpPr txBox="1"/>
          <p:nvPr/>
        </p:nvSpPr>
        <p:spPr>
          <a:xfrm>
            <a:off x="7040880" y="2642616"/>
            <a:ext cx="548640" cy="384048"/>
          </a:xfrm>
          <a:prstGeom prst="rect">
            <a:avLst/>
          </a:prstGeom>
          <a:noFill/>
          <a:ln/>
        </p:spPr>
        <p:txBody>
          <a:bodyPr wrap="square" lIns="0" tIns="0" rIns="0" bIns="0" rtlCol="0" anchor="ctr"/>
          <a:lstStyle/>
          <a:p>
            <a:pPr algn="ctr" indent="0" marL="0">
              <a:buNone/>
            </a:pPr>
            <a:r>
              <a:rPr lang="en-US" sz="900" b="1" dirty="0">
                <a:solidFill>
                  <a:srgbClr val="9A5B00"/>
                </a:solidFill>
                <a:latin typeface="Calibri" pitchFamily="34" charset="0"/>
                <a:ea typeface="Calibri" pitchFamily="34" charset="-122"/>
                <a:cs typeface="Calibri" pitchFamily="34" charset="-120"/>
              </a:rPr>
              <a:t>FK</a:t>
            </a:r>
            <a:endParaRPr lang="en-US" sz="900" dirty="0"/>
          </a:p>
        </p:txBody>
      </p:sp>
      <p:sp>
        <p:nvSpPr>
          <p:cNvPr id="29" name="Text 27"/>
          <p:cNvSpPr txBox="1"/>
          <p:nvPr/>
        </p:nvSpPr>
        <p:spPr>
          <a:xfrm>
            <a:off x="4572000" y="2990088"/>
            <a:ext cx="2468880" cy="329184"/>
          </a:xfrm>
          <a:prstGeom prst="rect">
            <a:avLst/>
          </a:prstGeom>
          <a:noFill/>
          <a:ln/>
        </p:spPr>
        <p:txBody>
          <a:bodyPr wrap="square" lIns="0" tIns="0" rIns="0" bIns="0" rtlCol="0" anchor="ctr"/>
          <a:lstStyle/>
          <a:p>
            <a:pPr indent="0" marL="0">
              <a:buNone/>
            </a:pPr>
            <a:r>
              <a:rPr lang="en-US" sz="1200" b="1" dirty="0">
                <a:solidFill>
                  <a:srgbClr val="13203A"/>
                </a:solidFill>
                <a:latin typeface="Courier New" pitchFamily="34" charset="0"/>
                <a:ea typeface="Courier New" pitchFamily="34" charset="-122"/>
                <a:cs typeface="Courier New" pitchFamily="34" charset="-120"/>
              </a:rPr>
              <a:t>vehicle_id</a:t>
            </a:r>
            <a:pPr indent="0" marL="0">
              <a:buNone/>
            </a:pPr>
            <a:r>
              <a:rPr lang="en-US" sz="1200" dirty="0">
                <a:solidFill>
                  <a:srgbClr val="4A5568"/>
                </a:solidFill>
                <a:latin typeface="Courier New" pitchFamily="34" charset="0"/>
                <a:ea typeface="Courier New" pitchFamily="34" charset="-122"/>
                <a:cs typeface="Courier New" pitchFamily="34" charset="-120"/>
              </a:rPr>
              <a:t>  → vehicles</a:t>
            </a:r>
            <a:endParaRPr lang="en-US" sz="1200" dirty="0"/>
          </a:p>
        </p:txBody>
      </p:sp>
      <p:sp>
        <p:nvSpPr>
          <p:cNvPr id="30" name="Shape 28"/>
          <p:cNvSpPr/>
          <p:nvPr/>
        </p:nvSpPr>
        <p:spPr>
          <a:xfrm>
            <a:off x="7040880" y="3008376"/>
            <a:ext cx="548640" cy="384048"/>
          </a:xfrm>
          <a:prstGeom prst="roundRect">
            <a:avLst>
              <a:gd name="adj" fmla="val 50000"/>
            </a:avLst>
          </a:prstGeom>
          <a:solidFill>
            <a:srgbClr val="FFF1D6"/>
          </a:solidFill>
          <a:ln w="12700">
            <a:solidFill>
              <a:srgbClr val="FFF1D6"/>
            </a:solidFill>
            <a:prstDash val="solid"/>
          </a:ln>
        </p:spPr>
      </p:sp>
      <p:sp>
        <p:nvSpPr>
          <p:cNvPr id="31" name="Text 29"/>
          <p:cNvSpPr txBox="1"/>
          <p:nvPr/>
        </p:nvSpPr>
        <p:spPr>
          <a:xfrm>
            <a:off x="7040880" y="3008376"/>
            <a:ext cx="548640" cy="384048"/>
          </a:xfrm>
          <a:prstGeom prst="rect">
            <a:avLst/>
          </a:prstGeom>
          <a:noFill/>
          <a:ln/>
        </p:spPr>
        <p:txBody>
          <a:bodyPr wrap="square" lIns="0" tIns="0" rIns="0" bIns="0" rtlCol="0" anchor="ctr"/>
          <a:lstStyle/>
          <a:p>
            <a:pPr algn="ctr" indent="0" marL="0">
              <a:buNone/>
            </a:pPr>
            <a:r>
              <a:rPr lang="en-US" sz="900" b="1" dirty="0">
                <a:solidFill>
                  <a:srgbClr val="9A5B00"/>
                </a:solidFill>
                <a:latin typeface="Calibri" pitchFamily="34" charset="0"/>
                <a:ea typeface="Calibri" pitchFamily="34" charset="-122"/>
                <a:cs typeface="Calibri" pitchFamily="34" charset="-120"/>
              </a:rPr>
              <a:t>FK</a:t>
            </a:r>
            <a:endParaRPr lang="en-US" sz="900" dirty="0"/>
          </a:p>
        </p:txBody>
      </p:sp>
      <p:sp>
        <p:nvSpPr>
          <p:cNvPr id="32" name="Text 30"/>
          <p:cNvSpPr txBox="1"/>
          <p:nvPr/>
        </p:nvSpPr>
        <p:spPr>
          <a:xfrm>
            <a:off x="4572000" y="3355848"/>
            <a:ext cx="2468880" cy="329184"/>
          </a:xfrm>
          <a:prstGeom prst="rect">
            <a:avLst/>
          </a:prstGeom>
          <a:noFill/>
          <a:ln/>
        </p:spPr>
        <p:txBody>
          <a:bodyPr wrap="square" lIns="0" tIns="0" rIns="0" bIns="0" rtlCol="0" anchor="ctr"/>
          <a:lstStyle/>
          <a:p>
            <a:pPr indent="0" marL="0">
              <a:buNone/>
            </a:pPr>
            <a:r>
              <a:rPr lang="en-US" sz="1200" dirty="0">
                <a:solidFill>
                  <a:srgbClr val="13203A"/>
                </a:solidFill>
                <a:latin typeface="Courier New" pitchFamily="34" charset="0"/>
                <a:ea typeface="Courier New" pitchFamily="34" charset="-122"/>
                <a:cs typeface="Courier New" pitchFamily="34" charset="-120"/>
              </a:rPr>
              <a:t>start_time</a:t>
            </a:r>
            <a:pPr indent="0" marL="0">
              <a:buNone/>
            </a:pPr>
            <a:r>
              <a:rPr lang="en-US" sz="1200" dirty="0">
                <a:solidFill>
                  <a:srgbClr val="4A5568"/>
                </a:solidFill>
                <a:latin typeface="Courier New" pitchFamily="34" charset="0"/>
                <a:ea typeface="Courier New" pitchFamily="34" charset="-122"/>
                <a:cs typeface="Courier New" pitchFamily="34" charset="-120"/>
              </a:rPr>
              <a:t>  timestamp</a:t>
            </a:r>
            <a:endParaRPr lang="en-US" sz="1200" dirty="0"/>
          </a:p>
        </p:txBody>
      </p:sp>
      <p:sp>
        <p:nvSpPr>
          <p:cNvPr id="33" name="Text 31"/>
          <p:cNvSpPr txBox="1"/>
          <p:nvPr/>
        </p:nvSpPr>
        <p:spPr>
          <a:xfrm>
            <a:off x="4572000" y="3721608"/>
            <a:ext cx="2468880" cy="329184"/>
          </a:xfrm>
          <a:prstGeom prst="rect">
            <a:avLst/>
          </a:prstGeom>
          <a:noFill/>
          <a:ln/>
        </p:spPr>
        <p:txBody>
          <a:bodyPr wrap="square" lIns="0" tIns="0" rIns="0" bIns="0" rtlCol="0" anchor="ctr"/>
          <a:lstStyle/>
          <a:p>
            <a:pPr indent="0" marL="0">
              <a:buNone/>
            </a:pPr>
            <a:r>
              <a:rPr lang="en-US" sz="1200" dirty="0">
                <a:solidFill>
                  <a:srgbClr val="13203A"/>
                </a:solidFill>
                <a:latin typeface="Courier New" pitchFamily="34" charset="0"/>
                <a:ea typeface="Courier New" pitchFamily="34" charset="-122"/>
                <a:cs typeface="Courier New" pitchFamily="34" charset="-120"/>
              </a:rPr>
              <a:t>end_time</a:t>
            </a:r>
            <a:pPr indent="0" marL="0">
              <a:buNone/>
            </a:pPr>
            <a:r>
              <a:rPr lang="en-US" sz="1200" dirty="0">
                <a:solidFill>
                  <a:srgbClr val="4A5568"/>
                </a:solidFill>
                <a:latin typeface="Courier New" pitchFamily="34" charset="0"/>
                <a:ea typeface="Courier New" pitchFamily="34" charset="-122"/>
                <a:cs typeface="Courier New" pitchFamily="34" charset="-120"/>
              </a:rPr>
              <a:t>  timestamp</a:t>
            </a:r>
            <a:endParaRPr lang="en-US" sz="1200" dirty="0"/>
          </a:p>
        </p:txBody>
      </p:sp>
      <p:sp>
        <p:nvSpPr>
          <p:cNvPr id="34" name="Text 32"/>
          <p:cNvSpPr txBox="1"/>
          <p:nvPr/>
        </p:nvSpPr>
        <p:spPr>
          <a:xfrm>
            <a:off x="4572000" y="4087368"/>
            <a:ext cx="2468880" cy="329184"/>
          </a:xfrm>
          <a:prstGeom prst="rect">
            <a:avLst/>
          </a:prstGeom>
          <a:noFill/>
          <a:ln/>
        </p:spPr>
        <p:txBody>
          <a:bodyPr wrap="square" lIns="0" tIns="0" rIns="0" bIns="0" rtlCol="0" anchor="ctr"/>
          <a:lstStyle/>
          <a:p>
            <a:pPr indent="0" marL="0">
              <a:buNone/>
            </a:pPr>
            <a:r>
              <a:rPr lang="en-US" sz="1200" dirty="0">
                <a:solidFill>
                  <a:srgbClr val="13203A"/>
                </a:solidFill>
                <a:latin typeface="Courier New" pitchFamily="34" charset="0"/>
                <a:ea typeface="Courier New" pitchFamily="34" charset="-122"/>
                <a:cs typeface="Courier New" pitchFamily="34" charset="-120"/>
              </a:rPr>
              <a:t>status</a:t>
            </a:r>
            <a:pPr indent="0" marL="0">
              <a:buNone/>
            </a:pPr>
            <a:r>
              <a:rPr lang="en-US" sz="1200" dirty="0">
                <a:solidFill>
                  <a:srgbClr val="4A5568"/>
                </a:solidFill>
                <a:latin typeface="Courier New" pitchFamily="34" charset="0"/>
                <a:ea typeface="Courier New" pitchFamily="34" charset="-122"/>
                <a:cs typeface="Courier New" pitchFamily="34" charset="-120"/>
              </a:rPr>
              <a:t>  SENT|ACC|REJ</a:t>
            </a:r>
            <a:endParaRPr lang="en-US" sz="1200" dirty="0"/>
          </a:p>
        </p:txBody>
      </p:sp>
      <p:sp>
        <p:nvSpPr>
          <p:cNvPr id="35" name="Shape 33"/>
          <p:cNvSpPr/>
          <p:nvPr/>
        </p:nvSpPr>
        <p:spPr>
          <a:xfrm>
            <a:off x="8229600" y="1691640"/>
            <a:ext cx="3383280" cy="1783080"/>
          </a:xfrm>
          <a:prstGeom prst="roundRect">
            <a:avLst>
              <a:gd name="adj" fmla="val 4103"/>
            </a:avLst>
          </a:prstGeom>
          <a:solidFill>
            <a:srgbClr val="FFFFFF"/>
          </a:solidFill>
          <a:ln w="12700">
            <a:solidFill>
              <a:srgbClr val="DDE1E8"/>
            </a:solidFill>
            <a:prstDash val="solid"/>
          </a:ln>
        </p:spPr>
      </p:sp>
      <p:sp>
        <p:nvSpPr>
          <p:cNvPr id="36" name="Shape 34"/>
          <p:cNvSpPr/>
          <p:nvPr/>
        </p:nvSpPr>
        <p:spPr>
          <a:xfrm>
            <a:off x="8247888" y="1709928"/>
            <a:ext cx="3346704" cy="457200"/>
          </a:xfrm>
          <a:prstGeom prst="rect">
            <a:avLst/>
          </a:prstGeom>
          <a:solidFill>
            <a:srgbClr val="13203A"/>
          </a:solidFill>
          <a:ln w="12700">
            <a:solidFill>
              <a:srgbClr val="13203A"/>
            </a:solidFill>
            <a:prstDash val="solid"/>
          </a:ln>
        </p:spPr>
      </p:sp>
      <p:sp>
        <p:nvSpPr>
          <p:cNvPr id="37" name="Text 35"/>
          <p:cNvSpPr txBox="1"/>
          <p:nvPr/>
        </p:nvSpPr>
        <p:spPr>
          <a:xfrm>
            <a:off x="8412480" y="1709928"/>
            <a:ext cx="3017520" cy="457200"/>
          </a:xfrm>
          <a:prstGeom prst="rect">
            <a:avLst/>
          </a:prstGeom>
          <a:noFill/>
          <a:ln/>
        </p:spPr>
        <p:txBody>
          <a:bodyPr wrap="square" lIns="0" tIns="0" rIns="0" bIns="0"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vehicles</a:t>
            </a:r>
            <a:endParaRPr lang="en-US" sz="1600" dirty="0"/>
          </a:p>
        </p:txBody>
      </p:sp>
      <p:sp>
        <p:nvSpPr>
          <p:cNvPr id="38" name="Text 36"/>
          <p:cNvSpPr txBox="1"/>
          <p:nvPr/>
        </p:nvSpPr>
        <p:spPr>
          <a:xfrm>
            <a:off x="8412480" y="2258568"/>
            <a:ext cx="2468880" cy="329184"/>
          </a:xfrm>
          <a:prstGeom prst="rect">
            <a:avLst/>
          </a:prstGeom>
          <a:noFill/>
          <a:ln/>
        </p:spPr>
        <p:txBody>
          <a:bodyPr wrap="square" lIns="0" tIns="0" rIns="0" bIns="0" rtlCol="0" anchor="ctr"/>
          <a:lstStyle/>
          <a:p>
            <a:pPr indent="0" marL="0">
              <a:buNone/>
            </a:pPr>
            <a:r>
              <a:rPr lang="en-US" sz="1200" b="1" dirty="0">
                <a:solidFill>
                  <a:srgbClr val="13203A"/>
                </a:solidFill>
                <a:latin typeface="Courier New" pitchFamily="34" charset="0"/>
                <a:ea typeface="Courier New" pitchFamily="34" charset="-122"/>
                <a:cs typeface="Courier New" pitchFamily="34" charset="-120"/>
              </a:rPr>
              <a:t>id</a:t>
            </a:r>
            <a:pPr indent="0" marL="0">
              <a:buNone/>
            </a:pPr>
            <a:r>
              <a:rPr lang="en-US" sz="1200" dirty="0">
                <a:solidFill>
                  <a:srgbClr val="4A5568"/>
                </a:solidFill>
                <a:latin typeface="Courier New" pitchFamily="34" charset="0"/>
                <a:ea typeface="Courier New" pitchFamily="34" charset="-122"/>
                <a:cs typeface="Courier New" pitchFamily="34" charset="-120"/>
              </a:rPr>
              <a:t>  bigint</a:t>
            </a:r>
            <a:endParaRPr lang="en-US" sz="1200" dirty="0"/>
          </a:p>
        </p:txBody>
      </p:sp>
      <p:sp>
        <p:nvSpPr>
          <p:cNvPr id="39" name="Shape 37"/>
          <p:cNvSpPr/>
          <p:nvPr/>
        </p:nvSpPr>
        <p:spPr>
          <a:xfrm>
            <a:off x="10881360" y="2276856"/>
            <a:ext cx="548640" cy="384048"/>
          </a:xfrm>
          <a:prstGeom prst="roundRect">
            <a:avLst>
              <a:gd name="adj" fmla="val 50000"/>
            </a:avLst>
          </a:prstGeom>
          <a:solidFill>
            <a:srgbClr val="FFF1D6"/>
          </a:solidFill>
          <a:ln w="12700">
            <a:solidFill>
              <a:srgbClr val="FFF1D6"/>
            </a:solidFill>
            <a:prstDash val="solid"/>
          </a:ln>
        </p:spPr>
      </p:sp>
      <p:sp>
        <p:nvSpPr>
          <p:cNvPr id="40" name="Text 38"/>
          <p:cNvSpPr txBox="1"/>
          <p:nvPr/>
        </p:nvSpPr>
        <p:spPr>
          <a:xfrm>
            <a:off x="10881360" y="2276856"/>
            <a:ext cx="548640" cy="384048"/>
          </a:xfrm>
          <a:prstGeom prst="rect">
            <a:avLst/>
          </a:prstGeom>
          <a:noFill/>
          <a:ln/>
        </p:spPr>
        <p:txBody>
          <a:bodyPr wrap="square" lIns="0" tIns="0" rIns="0" bIns="0" rtlCol="0" anchor="ctr"/>
          <a:lstStyle/>
          <a:p>
            <a:pPr algn="ctr" indent="0" marL="0">
              <a:buNone/>
            </a:pPr>
            <a:r>
              <a:rPr lang="en-US" sz="900" b="1" dirty="0">
                <a:solidFill>
                  <a:srgbClr val="13203A"/>
                </a:solidFill>
                <a:latin typeface="Calibri" pitchFamily="34" charset="0"/>
                <a:ea typeface="Calibri" pitchFamily="34" charset="-122"/>
                <a:cs typeface="Calibri" pitchFamily="34" charset="-120"/>
              </a:rPr>
              <a:t>PK</a:t>
            </a:r>
            <a:endParaRPr lang="en-US" sz="900" dirty="0"/>
          </a:p>
        </p:txBody>
      </p:sp>
      <p:sp>
        <p:nvSpPr>
          <p:cNvPr id="41" name="Text 39"/>
          <p:cNvSpPr txBox="1"/>
          <p:nvPr/>
        </p:nvSpPr>
        <p:spPr>
          <a:xfrm>
            <a:off x="8412480" y="2624328"/>
            <a:ext cx="2468880" cy="329184"/>
          </a:xfrm>
          <a:prstGeom prst="rect">
            <a:avLst/>
          </a:prstGeom>
          <a:noFill/>
          <a:ln/>
        </p:spPr>
        <p:txBody>
          <a:bodyPr wrap="square" lIns="0" tIns="0" rIns="0" bIns="0" rtlCol="0" anchor="ctr"/>
          <a:lstStyle/>
          <a:p>
            <a:pPr indent="0" marL="0">
              <a:buNone/>
            </a:pPr>
            <a:r>
              <a:rPr lang="en-US" sz="1200" dirty="0">
                <a:solidFill>
                  <a:srgbClr val="13203A"/>
                </a:solidFill>
                <a:latin typeface="Courier New" pitchFamily="34" charset="0"/>
                <a:ea typeface="Courier New" pitchFamily="34" charset="-122"/>
                <a:cs typeface="Courier New" pitchFamily="34" charset="-120"/>
              </a:rPr>
              <a:t>make_model</a:t>
            </a:r>
            <a:pPr indent="0" marL="0">
              <a:buNone/>
            </a:pPr>
            <a:r>
              <a:rPr lang="en-US" sz="1200" dirty="0">
                <a:solidFill>
                  <a:srgbClr val="4A5568"/>
                </a:solidFill>
                <a:latin typeface="Courier New" pitchFamily="34" charset="0"/>
                <a:ea typeface="Courier New" pitchFamily="34" charset="-122"/>
                <a:cs typeface="Courier New" pitchFamily="34" charset="-120"/>
              </a:rPr>
              <a:t>  varchar</a:t>
            </a:r>
            <a:endParaRPr lang="en-US" sz="1200" dirty="0"/>
          </a:p>
        </p:txBody>
      </p:sp>
      <p:sp>
        <p:nvSpPr>
          <p:cNvPr id="42" name="Text 40"/>
          <p:cNvSpPr txBox="1"/>
          <p:nvPr/>
        </p:nvSpPr>
        <p:spPr>
          <a:xfrm>
            <a:off x="8412480" y="2990088"/>
            <a:ext cx="2468880" cy="329184"/>
          </a:xfrm>
          <a:prstGeom prst="rect">
            <a:avLst/>
          </a:prstGeom>
          <a:noFill/>
          <a:ln/>
        </p:spPr>
        <p:txBody>
          <a:bodyPr wrap="square" lIns="0" tIns="0" rIns="0" bIns="0" rtlCol="0" anchor="ctr"/>
          <a:lstStyle/>
          <a:p>
            <a:pPr indent="0" marL="0">
              <a:buNone/>
            </a:pPr>
            <a:r>
              <a:rPr lang="en-US" sz="1200" dirty="0">
                <a:solidFill>
                  <a:srgbClr val="13203A"/>
                </a:solidFill>
                <a:latin typeface="Courier New" pitchFamily="34" charset="0"/>
                <a:ea typeface="Courier New" pitchFamily="34" charset="-122"/>
                <a:cs typeface="Courier New" pitchFamily="34" charset="-120"/>
              </a:rPr>
              <a:t>license_plate</a:t>
            </a:r>
            <a:pPr indent="0" marL="0">
              <a:buNone/>
            </a:pPr>
            <a:r>
              <a:rPr lang="en-US" sz="1200" dirty="0">
                <a:solidFill>
                  <a:srgbClr val="4A5568"/>
                </a:solidFill>
                <a:latin typeface="Courier New" pitchFamily="34" charset="0"/>
                <a:ea typeface="Courier New" pitchFamily="34" charset="-122"/>
                <a:cs typeface="Courier New" pitchFamily="34" charset="-120"/>
              </a:rPr>
              <a:t>  unique</a:t>
            </a:r>
            <a:endParaRPr lang="en-US" sz="1200" dirty="0"/>
          </a:p>
        </p:txBody>
      </p:sp>
      <p:sp>
        <p:nvSpPr>
          <p:cNvPr id="43" name="Shape 41"/>
          <p:cNvSpPr/>
          <p:nvPr/>
        </p:nvSpPr>
        <p:spPr>
          <a:xfrm>
            <a:off x="10881360" y="3008376"/>
            <a:ext cx="548640" cy="384048"/>
          </a:xfrm>
          <a:prstGeom prst="roundRect">
            <a:avLst>
              <a:gd name="adj" fmla="val 50000"/>
            </a:avLst>
          </a:prstGeom>
          <a:solidFill>
            <a:srgbClr val="FFF1D6"/>
          </a:solidFill>
          <a:ln w="12700">
            <a:solidFill>
              <a:srgbClr val="FFF1D6"/>
            </a:solidFill>
            <a:prstDash val="solid"/>
          </a:ln>
        </p:spPr>
      </p:sp>
      <p:sp>
        <p:nvSpPr>
          <p:cNvPr id="44" name="Text 42"/>
          <p:cNvSpPr txBox="1"/>
          <p:nvPr/>
        </p:nvSpPr>
        <p:spPr>
          <a:xfrm>
            <a:off x="10881360" y="3008376"/>
            <a:ext cx="548640" cy="384048"/>
          </a:xfrm>
          <a:prstGeom prst="rect">
            <a:avLst/>
          </a:prstGeom>
          <a:noFill/>
          <a:ln/>
        </p:spPr>
        <p:txBody>
          <a:bodyPr wrap="square" lIns="0" tIns="0" rIns="0" bIns="0" rtlCol="0" anchor="ctr"/>
          <a:lstStyle/>
          <a:p>
            <a:pPr algn="ctr" indent="0" marL="0">
              <a:buNone/>
            </a:pPr>
            <a:r>
              <a:rPr lang="en-US" sz="900" b="1" dirty="0">
                <a:solidFill>
                  <a:srgbClr val="9A5B00"/>
                </a:solidFill>
                <a:latin typeface="Calibri" pitchFamily="34" charset="0"/>
                <a:ea typeface="Calibri" pitchFamily="34" charset="-122"/>
                <a:cs typeface="Calibri" pitchFamily="34" charset="-120"/>
              </a:rPr>
              <a:t>UQ</a:t>
            </a:r>
            <a:endParaRPr lang="en-US" sz="900" dirty="0"/>
          </a:p>
        </p:txBody>
      </p:sp>
      <p:sp>
        <p:nvSpPr>
          <p:cNvPr id="45" name="Shape 43"/>
          <p:cNvSpPr/>
          <p:nvPr/>
        </p:nvSpPr>
        <p:spPr>
          <a:xfrm flipH="1">
            <a:off x="3931920" y="3017520"/>
            <a:ext cx="457200" cy="914"/>
          </a:xfrm>
          <a:prstGeom prst="line">
            <a:avLst/>
          </a:prstGeom>
          <a:noFill/>
          <a:ln w="25400">
            <a:solidFill>
              <a:srgbClr val="13203A"/>
            </a:solidFill>
            <a:prstDash val="solid"/>
            <a:tailEnd type="triangle"/>
          </a:ln>
        </p:spPr>
      </p:sp>
      <p:sp>
        <p:nvSpPr>
          <p:cNvPr id="46" name="Shape 44"/>
          <p:cNvSpPr/>
          <p:nvPr/>
        </p:nvSpPr>
        <p:spPr>
          <a:xfrm>
            <a:off x="7772400" y="3017520"/>
            <a:ext cx="457200" cy="914"/>
          </a:xfrm>
          <a:prstGeom prst="line">
            <a:avLst/>
          </a:prstGeom>
          <a:noFill/>
          <a:ln w="25400">
            <a:solidFill>
              <a:srgbClr val="13203A"/>
            </a:solidFill>
            <a:prstDash val="solid"/>
            <a:tailEnd type="triangle"/>
          </a:ln>
        </p:spPr>
      </p:sp>
      <p:sp>
        <p:nvSpPr>
          <p:cNvPr id="47" name="Shape 45"/>
          <p:cNvSpPr/>
          <p:nvPr/>
        </p:nvSpPr>
        <p:spPr>
          <a:xfrm>
            <a:off x="8229600" y="3886200"/>
            <a:ext cx="3383280" cy="2148840"/>
          </a:xfrm>
          <a:prstGeom prst="roundRect">
            <a:avLst>
              <a:gd name="adj" fmla="val 4255"/>
            </a:avLst>
          </a:prstGeom>
          <a:solidFill>
            <a:srgbClr val="F3F5F8"/>
          </a:solidFill>
          <a:ln w="12700">
            <a:solidFill>
              <a:srgbClr val="F3F5F8"/>
            </a:solidFill>
            <a:prstDash val="solid"/>
          </a:ln>
        </p:spPr>
      </p:sp>
      <p:sp>
        <p:nvSpPr>
          <p:cNvPr id="48" name="Text 46"/>
          <p:cNvSpPr txBox="1"/>
          <p:nvPr/>
        </p:nvSpPr>
        <p:spPr>
          <a:xfrm>
            <a:off x="8412480" y="4023360"/>
            <a:ext cx="3017520" cy="320040"/>
          </a:xfrm>
          <a:prstGeom prst="rect">
            <a:avLst/>
          </a:prstGeom>
          <a:noFill/>
          <a:ln/>
        </p:spPr>
        <p:txBody>
          <a:bodyPr wrap="square" lIns="0" tIns="0" rIns="0" bIns="0" rtlCol="0" anchor="t"/>
          <a:lstStyle/>
          <a:p>
            <a:pPr indent="0" marL="0">
              <a:buNone/>
            </a:pPr>
            <a:r>
              <a:rPr lang="en-US" sz="1400" b="1" dirty="0">
                <a:solidFill>
                  <a:srgbClr val="13203A"/>
                </a:solidFill>
                <a:latin typeface="Calibri" pitchFamily="34" charset="0"/>
                <a:ea typeface="Calibri" pitchFamily="34" charset="-122"/>
                <a:cs typeface="Calibri" pitchFamily="34" charset="-120"/>
              </a:rPr>
              <a:t>Database-level safeguards</a:t>
            </a:r>
            <a:endParaRPr lang="en-US" sz="1400" dirty="0"/>
          </a:p>
        </p:txBody>
      </p:sp>
      <p:sp>
        <p:nvSpPr>
          <p:cNvPr id="49" name="Text 47"/>
          <p:cNvSpPr txBox="1"/>
          <p:nvPr/>
        </p:nvSpPr>
        <p:spPr>
          <a:xfrm>
            <a:off x="8412480" y="4389120"/>
            <a:ext cx="3063240" cy="15544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A5568"/>
                </a:solidFill>
                <a:latin typeface="Calibri" pitchFamily="34" charset="0"/>
                <a:ea typeface="Calibri" pitchFamily="34" charset="-122"/>
                <a:cs typeface="Calibri" pitchFamily="34" charset="-120"/>
              </a:rPr>
              <a:t>CHECK end_time &gt; start_time</a:t>
            </a:r>
            <a:endParaRPr lang="en-US" sz="1150" dirty="0"/>
          </a:p>
          <a:p>
            <a:pPr marL="342900" indent="-342900">
              <a:spcAft>
                <a:spcPts val="300"/>
              </a:spcAft>
              <a:buSzPct val="100000"/>
              <a:buChar char="•"/>
            </a:pPr>
            <a:r>
              <a:rPr lang="en-US" sz="1150" dirty="0">
                <a:solidFill>
                  <a:srgbClr val="4A5568"/>
                </a:solidFill>
                <a:latin typeface="Calibri" pitchFamily="34" charset="0"/>
                <a:ea typeface="Calibri" pitchFamily="34" charset="-122"/>
                <a:cs typeface="Calibri" pitchFamily="34" charset="-120"/>
              </a:rPr>
              <a:t>CHECK status in (SENT, ACCEPTED, REJECTED)</a:t>
            </a:r>
            <a:endParaRPr lang="en-US" sz="1150" dirty="0"/>
          </a:p>
          <a:p>
            <a:pPr marL="342900" indent="-342900">
              <a:spcAft>
                <a:spcPts val="300"/>
              </a:spcAft>
              <a:buSzPct val="100000"/>
              <a:buChar char="•"/>
            </a:pPr>
            <a:r>
              <a:rPr lang="en-US" sz="1150" dirty="0">
                <a:solidFill>
                  <a:srgbClr val="4A5568"/>
                </a:solidFill>
                <a:latin typeface="Calibri" pitchFamily="34" charset="0"/>
                <a:ea typeface="Calibri" pitchFamily="34" charset="-122"/>
                <a:cs typeface="Calibri" pitchFamily="34" charset="-120"/>
              </a:rPr>
              <a:t>ON DELETE CASCADE on foreign keys</a:t>
            </a:r>
            <a:endParaRPr lang="en-US" sz="1150" dirty="0"/>
          </a:p>
          <a:p>
            <a:pPr marL="342900" indent="-342900">
              <a:spcAft>
                <a:spcPts val="300"/>
              </a:spcAft>
              <a:buSzPct val="100000"/>
              <a:buChar char="•"/>
            </a:pPr>
            <a:r>
              <a:rPr lang="en-US" sz="1150" dirty="0">
                <a:solidFill>
                  <a:srgbClr val="4A5568"/>
                </a:solidFill>
                <a:latin typeface="Calibri" pitchFamily="34" charset="0"/>
                <a:ea typeface="Calibri" pitchFamily="34" charset="-122"/>
                <a:cs typeface="Calibri" pitchFamily="34" charset="-120"/>
              </a:rPr>
              <a:t>Indexes on (driver, start) and (vehicle, start)</a:t>
            </a:r>
            <a:endParaRPr lang="en-US" sz="1150" dirty="0"/>
          </a:p>
        </p:txBody>
      </p:sp>
      <p:sp>
        <p:nvSpPr>
          <p:cNvPr id="50" name="Text 48"/>
          <p:cNvSpPr txBox="1"/>
          <p:nvPr/>
        </p:nvSpPr>
        <p:spPr>
          <a:xfrm>
            <a:off x="548640" y="6172200"/>
            <a:ext cx="7498080" cy="320040"/>
          </a:xfrm>
          <a:prstGeom prst="rect">
            <a:avLst/>
          </a:prstGeom>
          <a:noFill/>
          <a:ln/>
        </p:spPr>
        <p:txBody>
          <a:bodyPr wrap="square" lIns="0" tIns="0" rIns="0" bIns="0" rtlCol="0" anchor="t"/>
          <a:lstStyle/>
          <a:p>
            <a:pPr indent="0" marL="0">
              <a:buNone/>
            </a:pPr>
            <a:r>
              <a:rPr lang="en-US" sz="1200" i="1" dirty="0">
                <a:solidFill>
                  <a:srgbClr val="4A5568"/>
                </a:solidFill>
                <a:latin typeface="Calibri" pitchFamily="34" charset="0"/>
                <a:ea typeface="Calibri" pitchFamily="34" charset="-122"/>
                <a:cs typeface="Calibri" pitchFamily="34" charset="-120"/>
              </a:rPr>
              <a:t>Schema is created by a Flyway migration (V1__init_schema.sql) on first start; Hibernate only validates it.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300" kern="0" dirty="0">
                <a:solidFill>
                  <a:srgbClr val="9A5B00"/>
                </a:solidFill>
                <a:latin typeface="Calibri" pitchFamily="34" charset="0"/>
                <a:ea typeface="Calibri" pitchFamily="34" charset="-122"/>
                <a:cs typeface="Calibri" pitchFamily="34" charset="-120"/>
              </a:rPr>
              <a:t>BUSINESS LOGIC</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3203A"/>
                </a:solidFill>
                <a:latin typeface="Cambria" pitchFamily="34" charset="0"/>
                <a:ea typeface="Cambria" pitchFamily="34" charset="-122"/>
                <a:cs typeface="Cambria" pitchFamily="34" charset="-120"/>
              </a:rPr>
              <a:t>Assignment lifecycle and scheduling rules</a:t>
            </a:r>
            <a:endParaRPr lang="en-US" sz="3400" dirty="0"/>
          </a:p>
        </p:txBody>
      </p:sp>
      <p:sp>
        <p:nvSpPr>
          <p:cNvPr id="4" name="Text 2"/>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4A5568"/>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548640" y="1645920"/>
            <a:ext cx="11064240" cy="1737360"/>
          </a:xfrm>
          <a:prstGeom prst="roundRect">
            <a:avLst>
              <a:gd name="adj" fmla="val 5263"/>
            </a:avLst>
          </a:prstGeom>
          <a:solidFill>
            <a:srgbClr val="F3F5F8"/>
          </a:solidFill>
          <a:ln w="12700">
            <a:solidFill>
              <a:srgbClr val="F3F5F8"/>
            </a:solidFill>
            <a:prstDash val="solid"/>
          </a:ln>
        </p:spPr>
      </p:sp>
      <p:sp>
        <p:nvSpPr>
          <p:cNvPr id="6" name="Text 4"/>
          <p:cNvSpPr txBox="1"/>
          <p:nvPr/>
        </p:nvSpPr>
        <p:spPr>
          <a:xfrm>
            <a:off x="868680" y="1783080"/>
            <a:ext cx="2743200" cy="320040"/>
          </a:xfrm>
          <a:prstGeom prst="rect">
            <a:avLst/>
          </a:prstGeom>
          <a:noFill/>
          <a:ln/>
        </p:spPr>
        <p:txBody>
          <a:bodyPr wrap="square" lIns="0" tIns="0" rIns="0" bIns="0" rtlCol="0" anchor="t"/>
          <a:lstStyle/>
          <a:p>
            <a:pPr indent="0" marL="0">
              <a:buNone/>
            </a:pPr>
            <a:r>
              <a:rPr lang="en-US" sz="1400" b="1" dirty="0">
                <a:solidFill>
                  <a:srgbClr val="13203A"/>
                </a:solidFill>
                <a:latin typeface="Calibri" pitchFamily="34" charset="0"/>
                <a:ea typeface="Calibri" pitchFamily="34" charset="-122"/>
                <a:cs typeface="Calibri" pitchFamily="34" charset="-120"/>
              </a:rPr>
              <a:t>Lifecycle</a:t>
            </a:r>
            <a:endParaRPr lang="en-US" sz="1400" dirty="0"/>
          </a:p>
        </p:txBody>
      </p:sp>
      <p:sp>
        <p:nvSpPr>
          <p:cNvPr id="7" name="Shape 5"/>
          <p:cNvSpPr/>
          <p:nvPr/>
        </p:nvSpPr>
        <p:spPr>
          <a:xfrm>
            <a:off x="868680" y="2331720"/>
            <a:ext cx="2286000" cy="384048"/>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868680" y="2331720"/>
            <a:ext cx="2286000" cy="384048"/>
          </a:xfrm>
          <a:prstGeom prst="rect">
            <a:avLst/>
          </a:prstGeom>
          <a:noFill/>
          <a:ln/>
        </p:spPr>
        <p:txBody>
          <a:bodyPr wrap="square" lIns="0" tIns="0" rIns="0" bIns="0" rtlCol="0" anchor="ctr"/>
          <a:lstStyle/>
          <a:p>
            <a:pPr algn="ctr" indent="0" marL="0">
              <a:buNone/>
            </a:pPr>
            <a:r>
              <a:rPr lang="en-US" sz="1300" b="1" dirty="0">
                <a:solidFill>
                  <a:srgbClr val="13203A"/>
                </a:solidFill>
                <a:latin typeface="Calibri" pitchFamily="34" charset="0"/>
                <a:ea typeface="Calibri" pitchFamily="34" charset="-122"/>
                <a:cs typeface="Calibri" pitchFamily="34" charset="-120"/>
              </a:rPr>
              <a:t>Admin creates request</a:t>
            </a:r>
            <a:endParaRPr lang="en-US" sz="1300" dirty="0"/>
          </a:p>
        </p:txBody>
      </p:sp>
      <p:sp>
        <p:nvSpPr>
          <p:cNvPr id="9" name="Shape 7"/>
          <p:cNvSpPr/>
          <p:nvPr/>
        </p:nvSpPr>
        <p:spPr>
          <a:xfrm>
            <a:off x="3246120" y="2523744"/>
            <a:ext cx="548640" cy="914"/>
          </a:xfrm>
          <a:prstGeom prst="line">
            <a:avLst/>
          </a:prstGeom>
          <a:noFill/>
          <a:ln w="25400">
            <a:solidFill>
              <a:srgbClr val="4A5568"/>
            </a:solidFill>
            <a:prstDash val="solid"/>
            <a:tailEnd type="triangle"/>
          </a:ln>
        </p:spPr>
      </p:sp>
      <p:sp>
        <p:nvSpPr>
          <p:cNvPr id="10" name="Shape 8"/>
          <p:cNvSpPr/>
          <p:nvPr/>
        </p:nvSpPr>
        <p:spPr>
          <a:xfrm>
            <a:off x="3886200" y="2331720"/>
            <a:ext cx="1280160" cy="384048"/>
          </a:xfrm>
          <a:prstGeom prst="roundRect">
            <a:avLst>
              <a:gd name="adj" fmla="val 50000"/>
            </a:avLst>
          </a:prstGeom>
          <a:solidFill>
            <a:srgbClr val="FFF1D6"/>
          </a:solidFill>
          <a:ln w="12700">
            <a:solidFill>
              <a:srgbClr val="FFF1D6"/>
            </a:solidFill>
            <a:prstDash val="solid"/>
          </a:ln>
        </p:spPr>
      </p:sp>
      <p:sp>
        <p:nvSpPr>
          <p:cNvPr id="11" name="Text 9"/>
          <p:cNvSpPr txBox="1"/>
          <p:nvPr/>
        </p:nvSpPr>
        <p:spPr>
          <a:xfrm>
            <a:off x="3886200" y="2331720"/>
            <a:ext cx="1280160" cy="384048"/>
          </a:xfrm>
          <a:prstGeom prst="rect">
            <a:avLst/>
          </a:prstGeom>
          <a:noFill/>
          <a:ln/>
        </p:spPr>
        <p:txBody>
          <a:bodyPr wrap="square" lIns="0" tIns="0" rIns="0" bIns="0" rtlCol="0" anchor="ctr"/>
          <a:lstStyle/>
          <a:p>
            <a:pPr algn="ctr" indent="0" marL="0">
              <a:buNone/>
            </a:pPr>
            <a:r>
              <a:rPr lang="en-US" sz="1400" b="1" dirty="0">
                <a:solidFill>
                  <a:srgbClr val="7A4A00"/>
                </a:solidFill>
                <a:latin typeface="Calibri" pitchFamily="34" charset="0"/>
                <a:ea typeface="Calibri" pitchFamily="34" charset="-122"/>
                <a:cs typeface="Calibri" pitchFamily="34" charset="-120"/>
              </a:rPr>
              <a:t>SENT</a:t>
            </a:r>
            <a:endParaRPr lang="en-US" sz="1400" dirty="0"/>
          </a:p>
        </p:txBody>
      </p:sp>
      <p:sp>
        <p:nvSpPr>
          <p:cNvPr id="12" name="Shape 10"/>
          <p:cNvSpPr/>
          <p:nvPr/>
        </p:nvSpPr>
        <p:spPr>
          <a:xfrm flipV="1">
            <a:off x="5257800" y="2194560"/>
            <a:ext cx="548640" cy="329184"/>
          </a:xfrm>
          <a:prstGeom prst="line">
            <a:avLst/>
          </a:prstGeom>
          <a:noFill/>
          <a:ln w="25400">
            <a:solidFill>
              <a:srgbClr val="4A5568"/>
            </a:solidFill>
            <a:prstDash val="solid"/>
            <a:tailEnd type="triangle"/>
          </a:ln>
        </p:spPr>
      </p:sp>
      <p:sp>
        <p:nvSpPr>
          <p:cNvPr id="13" name="Shape 11"/>
          <p:cNvSpPr/>
          <p:nvPr/>
        </p:nvSpPr>
        <p:spPr>
          <a:xfrm>
            <a:off x="5257800" y="2523744"/>
            <a:ext cx="548640" cy="356616"/>
          </a:xfrm>
          <a:prstGeom prst="line">
            <a:avLst/>
          </a:prstGeom>
          <a:noFill/>
          <a:ln w="25400">
            <a:solidFill>
              <a:srgbClr val="4A5568"/>
            </a:solidFill>
            <a:prstDash val="solid"/>
            <a:tailEnd type="triangle"/>
          </a:ln>
        </p:spPr>
      </p:sp>
      <p:sp>
        <p:nvSpPr>
          <p:cNvPr id="14" name="Shape 12"/>
          <p:cNvSpPr/>
          <p:nvPr/>
        </p:nvSpPr>
        <p:spPr>
          <a:xfrm>
            <a:off x="5897880" y="1965960"/>
            <a:ext cx="1645920" cy="384048"/>
          </a:xfrm>
          <a:prstGeom prst="roundRect">
            <a:avLst>
              <a:gd name="adj" fmla="val 50000"/>
            </a:avLst>
          </a:prstGeom>
          <a:solidFill>
            <a:srgbClr val="DCF3E4"/>
          </a:solidFill>
          <a:ln w="12700">
            <a:solidFill>
              <a:srgbClr val="DCF3E4"/>
            </a:solidFill>
            <a:prstDash val="solid"/>
          </a:ln>
        </p:spPr>
      </p:sp>
      <p:sp>
        <p:nvSpPr>
          <p:cNvPr id="15" name="Text 13"/>
          <p:cNvSpPr txBox="1"/>
          <p:nvPr/>
        </p:nvSpPr>
        <p:spPr>
          <a:xfrm>
            <a:off x="5897880" y="1965960"/>
            <a:ext cx="1645920" cy="384048"/>
          </a:xfrm>
          <a:prstGeom prst="rect">
            <a:avLst/>
          </a:prstGeom>
          <a:noFill/>
          <a:ln/>
        </p:spPr>
        <p:txBody>
          <a:bodyPr wrap="square" lIns="0" tIns="0" rIns="0" bIns="0" rtlCol="0" anchor="ctr"/>
          <a:lstStyle/>
          <a:p>
            <a:pPr algn="ctr" indent="0" marL="0">
              <a:buNone/>
            </a:pPr>
            <a:r>
              <a:rPr lang="en-US" sz="1400" b="1" dirty="0">
                <a:solidFill>
                  <a:srgbClr val="17693A"/>
                </a:solidFill>
                <a:latin typeface="Calibri" pitchFamily="34" charset="0"/>
                <a:ea typeface="Calibri" pitchFamily="34" charset="-122"/>
                <a:cs typeface="Calibri" pitchFamily="34" charset="-120"/>
              </a:rPr>
              <a:t>ACCEPTED</a:t>
            </a:r>
            <a:endParaRPr lang="en-US" sz="1400" dirty="0"/>
          </a:p>
        </p:txBody>
      </p:sp>
      <p:sp>
        <p:nvSpPr>
          <p:cNvPr id="16" name="Shape 14"/>
          <p:cNvSpPr/>
          <p:nvPr/>
        </p:nvSpPr>
        <p:spPr>
          <a:xfrm>
            <a:off x="5897880" y="2697480"/>
            <a:ext cx="1645920" cy="384048"/>
          </a:xfrm>
          <a:prstGeom prst="roundRect">
            <a:avLst>
              <a:gd name="adj" fmla="val 50000"/>
            </a:avLst>
          </a:prstGeom>
          <a:solidFill>
            <a:srgbClr val="FBE3E3"/>
          </a:solidFill>
          <a:ln w="12700">
            <a:solidFill>
              <a:srgbClr val="FBE3E3"/>
            </a:solidFill>
            <a:prstDash val="solid"/>
          </a:ln>
        </p:spPr>
      </p:sp>
      <p:sp>
        <p:nvSpPr>
          <p:cNvPr id="17" name="Text 15"/>
          <p:cNvSpPr txBox="1"/>
          <p:nvPr/>
        </p:nvSpPr>
        <p:spPr>
          <a:xfrm>
            <a:off x="5897880" y="2697480"/>
            <a:ext cx="1645920" cy="384048"/>
          </a:xfrm>
          <a:prstGeom prst="rect">
            <a:avLst/>
          </a:prstGeom>
          <a:noFill/>
          <a:ln/>
        </p:spPr>
        <p:txBody>
          <a:bodyPr wrap="square" lIns="0" tIns="0" rIns="0" bIns="0" rtlCol="0" anchor="ctr"/>
          <a:lstStyle/>
          <a:p>
            <a:pPr algn="ctr" indent="0" marL="0">
              <a:buNone/>
            </a:pPr>
            <a:r>
              <a:rPr lang="en-US" sz="1400" b="1" dirty="0">
                <a:solidFill>
                  <a:srgbClr val="9B2323"/>
                </a:solidFill>
                <a:latin typeface="Calibri" pitchFamily="34" charset="0"/>
                <a:ea typeface="Calibri" pitchFamily="34" charset="-122"/>
                <a:cs typeface="Calibri" pitchFamily="34" charset="-120"/>
              </a:rPr>
              <a:t>REJECTED</a:t>
            </a:r>
            <a:endParaRPr lang="en-US" sz="1400" dirty="0"/>
          </a:p>
        </p:txBody>
      </p:sp>
      <p:sp>
        <p:nvSpPr>
          <p:cNvPr id="18" name="Text 16"/>
          <p:cNvSpPr txBox="1"/>
          <p:nvPr/>
        </p:nvSpPr>
        <p:spPr>
          <a:xfrm>
            <a:off x="7772400" y="1965960"/>
            <a:ext cx="3657600" cy="41148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Driver accepts → the driver is scheduled on that vehicle for the window.</a:t>
            </a:r>
            <a:endParaRPr lang="en-US" sz="1300" dirty="0"/>
          </a:p>
        </p:txBody>
      </p:sp>
      <p:sp>
        <p:nvSpPr>
          <p:cNvPr id="19" name="Text 17"/>
          <p:cNvSpPr txBox="1"/>
          <p:nvPr/>
        </p:nvSpPr>
        <p:spPr>
          <a:xfrm>
            <a:off x="7772400" y="2697480"/>
            <a:ext cx="3657600" cy="41148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Driver rejects → the request is closed. Admin can unassign at any time.</a:t>
            </a:r>
            <a:endParaRPr lang="en-US" sz="1300" dirty="0"/>
          </a:p>
        </p:txBody>
      </p:sp>
      <p:sp>
        <p:nvSpPr>
          <p:cNvPr id="20" name="Shape 18"/>
          <p:cNvSpPr/>
          <p:nvPr/>
        </p:nvSpPr>
        <p:spPr>
          <a:xfrm>
            <a:off x="548640" y="3703320"/>
            <a:ext cx="2606040" cy="2377440"/>
          </a:xfrm>
          <a:prstGeom prst="roundRect">
            <a:avLst>
              <a:gd name="adj" fmla="val 3846"/>
            </a:avLst>
          </a:prstGeom>
          <a:solidFill>
            <a:srgbClr val="F3F5F8"/>
          </a:solidFill>
          <a:ln w="12700">
            <a:solidFill>
              <a:srgbClr val="F3F5F8"/>
            </a:solidFill>
            <a:prstDash val="solid"/>
          </a:ln>
        </p:spPr>
      </p:sp>
      <p:sp>
        <p:nvSpPr>
          <p:cNvPr id="21" name="Shape 19"/>
          <p:cNvSpPr/>
          <p:nvPr/>
        </p:nvSpPr>
        <p:spPr>
          <a:xfrm>
            <a:off x="822960" y="3977640"/>
            <a:ext cx="548640" cy="548640"/>
          </a:xfrm>
          <a:prstGeom prst="ellipse">
            <a:avLst/>
          </a:prstGeom>
          <a:solidFill>
            <a:srgbClr val="F2A541"/>
          </a:solidFill>
          <a:ln w="12700">
            <a:solidFill>
              <a:srgbClr val="F2A541"/>
            </a:solidFill>
            <a:prstDash val="solid"/>
          </a:ln>
        </p:spPr>
      </p:sp>
      <p:pic>
        <p:nvPicPr>
          <p:cNvPr id="22" name="Image 0" descr="preencoded.png">    </p:cNvPr>
          <p:cNvPicPr>
            <a:picLocks noChangeAspect="1"/>
          </p:cNvPicPr>
          <p:nvPr/>
        </p:nvPicPr>
        <p:blipFill>
          <a:blip r:embed="rId1"/>
          <a:stretch>
            <a:fillRect/>
          </a:stretch>
        </p:blipFill>
        <p:spPr>
          <a:xfrm>
            <a:off x="960120" y="4114800"/>
            <a:ext cx="274320" cy="274320"/>
          </a:xfrm>
          <a:prstGeom prst="rect">
            <a:avLst/>
          </a:prstGeom>
        </p:spPr>
      </p:pic>
      <p:sp>
        <p:nvSpPr>
          <p:cNvPr id="23" name="Text 20"/>
          <p:cNvSpPr txBox="1"/>
          <p:nvPr/>
        </p:nvSpPr>
        <p:spPr>
          <a:xfrm>
            <a:off x="822960" y="4663440"/>
            <a:ext cx="2057400" cy="365760"/>
          </a:xfrm>
          <a:prstGeom prst="rect">
            <a:avLst/>
          </a:prstGeom>
          <a:noFill/>
          <a:ln/>
        </p:spPr>
        <p:txBody>
          <a:bodyPr wrap="square" lIns="0" tIns="0" rIns="0" bIns="0" rtlCol="0" anchor="t"/>
          <a:lstStyle/>
          <a:p>
            <a:pPr indent="0" marL="0">
              <a:buNone/>
            </a:pPr>
            <a:r>
              <a:rPr lang="en-US" sz="1600" b="1" dirty="0">
                <a:solidFill>
                  <a:srgbClr val="13203A"/>
                </a:solidFill>
                <a:latin typeface="Calibri" pitchFamily="34" charset="0"/>
                <a:ea typeface="Calibri" pitchFamily="34" charset="-122"/>
                <a:cs typeface="Calibri" pitchFamily="34" charset="-120"/>
              </a:rPr>
              <a:t>Vehicle rule</a:t>
            </a:r>
            <a:endParaRPr lang="en-US" sz="1600" dirty="0"/>
          </a:p>
        </p:txBody>
      </p:sp>
      <p:sp>
        <p:nvSpPr>
          <p:cNvPr id="24" name="Text 21"/>
          <p:cNvSpPr txBox="1"/>
          <p:nvPr/>
        </p:nvSpPr>
        <p:spPr>
          <a:xfrm>
            <a:off x="822960" y="5029200"/>
            <a:ext cx="2057400" cy="100584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A vehicle can’t have two overlapping ACCEPTED assignments.</a:t>
            </a:r>
            <a:endParaRPr lang="en-US" sz="1300" dirty="0"/>
          </a:p>
        </p:txBody>
      </p:sp>
      <p:sp>
        <p:nvSpPr>
          <p:cNvPr id="25" name="Shape 22"/>
          <p:cNvSpPr/>
          <p:nvPr/>
        </p:nvSpPr>
        <p:spPr>
          <a:xfrm>
            <a:off x="3337560" y="3703320"/>
            <a:ext cx="2606040" cy="2377440"/>
          </a:xfrm>
          <a:prstGeom prst="roundRect">
            <a:avLst>
              <a:gd name="adj" fmla="val 3846"/>
            </a:avLst>
          </a:prstGeom>
          <a:solidFill>
            <a:srgbClr val="F3F5F8"/>
          </a:solidFill>
          <a:ln w="12700">
            <a:solidFill>
              <a:srgbClr val="F3F5F8"/>
            </a:solidFill>
            <a:prstDash val="solid"/>
          </a:ln>
        </p:spPr>
      </p:sp>
      <p:sp>
        <p:nvSpPr>
          <p:cNvPr id="26" name="Shape 23"/>
          <p:cNvSpPr/>
          <p:nvPr/>
        </p:nvSpPr>
        <p:spPr>
          <a:xfrm>
            <a:off x="3611880" y="3977640"/>
            <a:ext cx="548640" cy="548640"/>
          </a:xfrm>
          <a:prstGeom prst="ellipse">
            <a:avLst/>
          </a:prstGeom>
          <a:solidFill>
            <a:srgbClr val="F2A541"/>
          </a:solidFill>
          <a:ln w="12700">
            <a:solidFill>
              <a:srgbClr val="F2A541"/>
            </a:solidFill>
            <a:prstDash val="solid"/>
          </a:ln>
        </p:spPr>
      </p:sp>
      <p:pic>
        <p:nvPicPr>
          <p:cNvPr id="27" name="Image 1" descr="preencoded.png">    </p:cNvPr>
          <p:cNvPicPr>
            <a:picLocks noChangeAspect="1"/>
          </p:cNvPicPr>
          <p:nvPr/>
        </p:nvPicPr>
        <p:blipFill>
          <a:blip r:embed="rId2"/>
          <a:stretch>
            <a:fillRect/>
          </a:stretch>
        </p:blipFill>
        <p:spPr>
          <a:xfrm>
            <a:off x="3749040" y="4114800"/>
            <a:ext cx="274320" cy="274320"/>
          </a:xfrm>
          <a:prstGeom prst="rect">
            <a:avLst/>
          </a:prstGeom>
        </p:spPr>
      </p:pic>
      <p:sp>
        <p:nvSpPr>
          <p:cNvPr id="28" name="Text 24"/>
          <p:cNvSpPr txBox="1"/>
          <p:nvPr/>
        </p:nvSpPr>
        <p:spPr>
          <a:xfrm>
            <a:off x="3611880" y="4663440"/>
            <a:ext cx="2057400" cy="365760"/>
          </a:xfrm>
          <a:prstGeom prst="rect">
            <a:avLst/>
          </a:prstGeom>
          <a:noFill/>
          <a:ln/>
        </p:spPr>
        <p:txBody>
          <a:bodyPr wrap="square" lIns="0" tIns="0" rIns="0" bIns="0" rtlCol="0" anchor="t"/>
          <a:lstStyle/>
          <a:p>
            <a:pPr indent="0" marL="0">
              <a:buNone/>
            </a:pPr>
            <a:r>
              <a:rPr lang="en-US" sz="1600" b="1" dirty="0">
                <a:solidFill>
                  <a:srgbClr val="13203A"/>
                </a:solidFill>
                <a:latin typeface="Calibri" pitchFamily="34" charset="0"/>
                <a:ea typeface="Calibri" pitchFamily="34" charset="-122"/>
                <a:cs typeface="Calibri" pitchFamily="34" charset="-120"/>
              </a:rPr>
              <a:t>Driver rule</a:t>
            </a:r>
            <a:endParaRPr lang="en-US" sz="1600" dirty="0"/>
          </a:p>
        </p:txBody>
      </p:sp>
      <p:sp>
        <p:nvSpPr>
          <p:cNvPr id="29" name="Text 25"/>
          <p:cNvSpPr txBox="1"/>
          <p:nvPr/>
        </p:nvSpPr>
        <p:spPr>
          <a:xfrm>
            <a:off x="3611880" y="5029200"/>
            <a:ext cx="2057400" cy="100584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A driver can’t hold two overlapping ACCEPTED assignments.</a:t>
            </a:r>
            <a:endParaRPr lang="en-US" sz="1300" dirty="0"/>
          </a:p>
        </p:txBody>
      </p:sp>
      <p:sp>
        <p:nvSpPr>
          <p:cNvPr id="30" name="Shape 26"/>
          <p:cNvSpPr/>
          <p:nvPr/>
        </p:nvSpPr>
        <p:spPr>
          <a:xfrm>
            <a:off x="6126480" y="3703320"/>
            <a:ext cx="2606040" cy="2377440"/>
          </a:xfrm>
          <a:prstGeom prst="roundRect">
            <a:avLst>
              <a:gd name="adj" fmla="val 3846"/>
            </a:avLst>
          </a:prstGeom>
          <a:solidFill>
            <a:srgbClr val="F3F5F8"/>
          </a:solidFill>
          <a:ln w="12700">
            <a:solidFill>
              <a:srgbClr val="F3F5F8"/>
            </a:solidFill>
            <a:prstDash val="solid"/>
          </a:ln>
        </p:spPr>
      </p:sp>
      <p:sp>
        <p:nvSpPr>
          <p:cNvPr id="31" name="Shape 27"/>
          <p:cNvSpPr/>
          <p:nvPr/>
        </p:nvSpPr>
        <p:spPr>
          <a:xfrm>
            <a:off x="6400800" y="3977640"/>
            <a:ext cx="548640" cy="548640"/>
          </a:xfrm>
          <a:prstGeom prst="ellipse">
            <a:avLst/>
          </a:prstGeom>
          <a:solidFill>
            <a:srgbClr val="F2A541"/>
          </a:solidFill>
          <a:ln w="12700">
            <a:solidFill>
              <a:srgbClr val="F2A541"/>
            </a:solidFill>
            <a:prstDash val="solid"/>
          </a:ln>
        </p:spPr>
      </p:sp>
      <p:pic>
        <p:nvPicPr>
          <p:cNvPr id="32" name="Image 2" descr="preencoded.png">    </p:cNvPr>
          <p:cNvPicPr>
            <a:picLocks noChangeAspect="1"/>
          </p:cNvPicPr>
          <p:nvPr/>
        </p:nvPicPr>
        <p:blipFill>
          <a:blip r:embed="rId3"/>
          <a:stretch>
            <a:fillRect/>
          </a:stretch>
        </p:blipFill>
        <p:spPr>
          <a:xfrm>
            <a:off x="6537960" y="4114800"/>
            <a:ext cx="274320" cy="274320"/>
          </a:xfrm>
          <a:prstGeom prst="rect">
            <a:avLst/>
          </a:prstGeom>
        </p:spPr>
      </p:pic>
      <p:sp>
        <p:nvSpPr>
          <p:cNvPr id="33" name="Text 28"/>
          <p:cNvSpPr txBox="1"/>
          <p:nvPr/>
        </p:nvSpPr>
        <p:spPr>
          <a:xfrm>
            <a:off x="6400800" y="4663440"/>
            <a:ext cx="2057400" cy="365760"/>
          </a:xfrm>
          <a:prstGeom prst="rect">
            <a:avLst/>
          </a:prstGeom>
          <a:noFill/>
          <a:ln/>
        </p:spPr>
        <p:txBody>
          <a:bodyPr wrap="square" lIns="0" tIns="0" rIns="0" bIns="0" rtlCol="0" anchor="t"/>
          <a:lstStyle/>
          <a:p>
            <a:pPr indent="0" marL="0">
              <a:buNone/>
            </a:pPr>
            <a:r>
              <a:rPr lang="en-US" sz="1600" b="1" dirty="0">
                <a:solidFill>
                  <a:srgbClr val="13203A"/>
                </a:solidFill>
                <a:latin typeface="Calibri" pitchFamily="34" charset="0"/>
                <a:ea typeface="Calibri" pitchFamily="34" charset="-122"/>
                <a:cs typeface="Calibri" pitchFamily="34" charset="-120"/>
              </a:rPr>
              <a:t>Time rule</a:t>
            </a:r>
            <a:endParaRPr lang="en-US" sz="1600" dirty="0"/>
          </a:p>
        </p:txBody>
      </p:sp>
      <p:sp>
        <p:nvSpPr>
          <p:cNvPr id="34" name="Text 29"/>
          <p:cNvSpPr txBox="1"/>
          <p:nvPr/>
        </p:nvSpPr>
        <p:spPr>
          <a:xfrm>
            <a:off x="6400800" y="5029200"/>
            <a:ext cx="2057400" cy="100584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End time must be after start time (API and database).</a:t>
            </a:r>
            <a:endParaRPr lang="en-US" sz="1300" dirty="0"/>
          </a:p>
        </p:txBody>
      </p:sp>
      <p:sp>
        <p:nvSpPr>
          <p:cNvPr id="35" name="Shape 30"/>
          <p:cNvSpPr/>
          <p:nvPr/>
        </p:nvSpPr>
        <p:spPr>
          <a:xfrm>
            <a:off x="8915400" y="3703320"/>
            <a:ext cx="2606040" cy="2377440"/>
          </a:xfrm>
          <a:prstGeom prst="roundRect">
            <a:avLst>
              <a:gd name="adj" fmla="val 3846"/>
            </a:avLst>
          </a:prstGeom>
          <a:solidFill>
            <a:srgbClr val="F3F5F8"/>
          </a:solidFill>
          <a:ln w="12700">
            <a:solidFill>
              <a:srgbClr val="F3F5F8"/>
            </a:solidFill>
            <a:prstDash val="solid"/>
          </a:ln>
        </p:spPr>
      </p:sp>
      <p:sp>
        <p:nvSpPr>
          <p:cNvPr id="36" name="Shape 31"/>
          <p:cNvSpPr/>
          <p:nvPr/>
        </p:nvSpPr>
        <p:spPr>
          <a:xfrm>
            <a:off x="9189720" y="3977640"/>
            <a:ext cx="548640" cy="548640"/>
          </a:xfrm>
          <a:prstGeom prst="ellipse">
            <a:avLst/>
          </a:prstGeom>
          <a:solidFill>
            <a:srgbClr val="F2A541"/>
          </a:solidFill>
          <a:ln w="12700">
            <a:solidFill>
              <a:srgbClr val="F2A541"/>
            </a:solidFill>
            <a:prstDash val="solid"/>
          </a:ln>
        </p:spPr>
      </p:sp>
      <p:pic>
        <p:nvPicPr>
          <p:cNvPr id="37" name="Image 3" descr="preencoded.png">    </p:cNvPr>
          <p:cNvPicPr>
            <a:picLocks noChangeAspect="1"/>
          </p:cNvPicPr>
          <p:nvPr/>
        </p:nvPicPr>
        <p:blipFill>
          <a:blip r:embed="rId4"/>
          <a:stretch>
            <a:fillRect/>
          </a:stretch>
        </p:blipFill>
        <p:spPr>
          <a:xfrm>
            <a:off x="9326880" y="4114800"/>
            <a:ext cx="274320" cy="274320"/>
          </a:xfrm>
          <a:prstGeom prst="rect">
            <a:avLst/>
          </a:prstGeom>
        </p:spPr>
      </p:pic>
      <p:sp>
        <p:nvSpPr>
          <p:cNvPr id="38" name="Text 32"/>
          <p:cNvSpPr txBox="1"/>
          <p:nvPr/>
        </p:nvSpPr>
        <p:spPr>
          <a:xfrm>
            <a:off x="9189720" y="4663440"/>
            <a:ext cx="2057400" cy="365760"/>
          </a:xfrm>
          <a:prstGeom prst="rect">
            <a:avLst/>
          </a:prstGeom>
          <a:noFill/>
          <a:ln/>
        </p:spPr>
        <p:txBody>
          <a:bodyPr wrap="square" lIns="0" tIns="0" rIns="0" bIns="0" rtlCol="0" anchor="t"/>
          <a:lstStyle/>
          <a:p>
            <a:pPr indent="0" marL="0">
              <a:buNone/>
            </a:pPr>
            <a:r>
              <a:rPr lang="en-US" sz="1600" b="1" dirty="0">
                <a:solidFill>
                  <a:srgbClr val="13203A"/>
                </a:solidFill>
                <a:latin typeface="Calibri" pitchFamily="34" charset="0"/>
                <a:ea typeface="Calibri" pitchFamily="34" charset="-122"/>
                <a:cs typeface="Calibri" pitchFamily="34" charset="-120"/>
              </a:rPr>
              <a:t>When checked</a:t>
            </a:r>
            <a:endParaRPr lang="en-US" sz="1600" dirty="0"/>
          </a:p>
        </p:txBody>
      </p:sp>
      <p:sp>
        <p:nvSpPr>
          <p:cNvPr id="39" name="Text 33"/>
          <p:cNvSpPr txBox="1"/>
          <p:nvPr/>
        </p:nvSpPr>
        <p:spPr>
          <a:xfrm>
            <a:off x="9189720" y="5029200"/>
            <a:ext cx="2057400" cy="100584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On creating a request and again when the driver accepts it.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300" kern="0" dirty="0">
                <a:solidFill>
                  <a:srgbClr val="9A5B00"/>
                </a:solidFill>
                <a:latin typeface="Calibri" pitchFamily="34" charset="0"/>
                <a:ea typeface="Calibri" pitchFamily="34" charset="-122"/>
                <a:cs typeface="Calibri" pitchFamily="34" charset="-120"/>
              </a:rPr>
              <a:t>BACKEND</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3203A"/>
                </a:solidFill>
                <a:latin typeface="Cambria" pitchFamily="34" charset="0"/>
                <a:ea typeface="Cambria" pitchFamily="34" charset="-122"/>
                <a:cs typeface="Cambria" pitchFamily="34" charset="-120"/>
              </a:rPr>
              <a:t>Layered Spring Boot design</a:t>
            </a:r>
            <a:endParaRPr lang="en-US" sz="3400" dirty="0"/>
          </a:p>
        </p:txBody>
      </p:sp>
      <p:sp>
        <p:nvSpPr>
          <p:cNvPr id="4" name="Text 2"/>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4A5568"/>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548640" y="1645920"/>
            <a:ext cx="6766560" cy="914400"/>
          </a:xfrm>
          <a:prstGeom prst="roundRect">
            <a:avLst>
              <a:gd name="adj" fmla="val 10000"/>
            </a:avLst>
          </a:prstGeom>
          <a:solidFill>
            <a:srgbClr val="13203A"/>
          </a:solidFill>
          <a:ln w="12700">
            <a:solidFill>
              <a:srgbClr val="13203A"/>
            </a:solidFill>
            <a:prstDash val="solid"/>
          </a:ln>
        </p:spPr>
      </p:sp>
      <p:sp>
        <p:nvSpPr>
          <p:cNvPr id="6" name="Shape 4"/>
          <p:cNvSpPr/>
          <p:nvPr/>
        </p:nvSpPr>
        <p:spPr>
          <a:xfrm>
            <a:off x="777240" y="1828800"/>
            <a:ext cx="548640" cy="548640"/>
          </a:xfrm>
          <a:prstGeom prst="ellipse">
            <a:avLst/>
          </a:prstGeom>
          <a:solidFill>
            <a:srgbClr val="F2A541"/>
          </a:solidFill>
          <a:ln w="12700">
            <a:solidFill>
              <a:srgbClr val="F2A541"/>
            </a:solidFill>
            <a:prstDash val="solid"/>
          </a:ln>
        </p:spPr>
      </p:sp>
      <p:pic>
        <p:nvPicPr>
          <p:cNvPr id="7" name="Image 0" descr="preencoded.png">    </p:cNvPr>
          <p:cNvPicPr>
            <a:picLocks noChangeAspect="1"/>
          </p:cNvPicPr>
          <p:nvPr/>
        </p:nvPicPr>
        <p:blipFill>
          <a:blip r:embed="rId1"/>
          <a:stretch>
            <a:fillRect/>
          </a:stretch>
        </p:blipFill>
        <p:spPr>
          <a:xfrm>
            <a:off x="914400" y="1965960"/>
            <a:ext cx="274320" cy="274320"/>
          </a:xfrm>
          <a:prstGeom prst="rect">
            <a:avLst/>
          </a:prstGeom>
        </p:spPr>
      </p:pic>
      <p:sp>
        <p:nvSpPr>
          <p:cNvPr id="8" name="Text 5"/>
          <p:cNvSpPr txBox="1"/>
          <p:nvPr/>
        </p:nvSpPr>
        <p:spPr>
          <a:xfrm>
            <a:off x="1508760" y="1755648"/>
            <a:ext cx="5577840"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Controllers</a:t>
            </a:r>
            <a:endParaRPr lang="en-US" sz="1600" dirty="0"/>
          </a:p>
        </p:txBody>
      </p:sp>
      <p:sp>
        <p:nvSpPr>
          <p:cNvPr id="9" name="Text 6"/>
          <p:cNvSpPr txBox="1"/>
          <p:nvPr/>
        </p:nvSpPr>
        <p:spPr>
          <a:xfrm>
            <a:off x="1508760" y="2075688"/>
            <a:ext cx="5669280" cy="457200"/>
          </a:xfrm>
          <a:prstGeom prst="rect">
            <a:avLst/>
          </a:prstGeom>
          <a:noFill/>
          <a:ln/>
        </p:spPr>
        <p:txBody>
          <a:bodyPr wrap="square" lIns="0" tIns="0" rIns="0" bIns="0" rtlCol="0" anchor="t"/>
          <a:lstStyle/>
          <a:p>
            <a:pPr indent="0" marL="0">
              <a:buNone/>
            </a:pPr>
            <a:r>
              <a:rPr lang="en-US" sz="1200" dirty="0">
                <a:solidFill>
                  <a:srgbClr val="B8C4D9"/>
                </a:solidFill>
                <a:latin typeface="Calibri" pitchFamily="34" charset="0"/>
                <a:ea typeface="Calibri" pitchFamily="34" charset="-122"/>
                <a:cs typeface="Calibri" pitchFamily="34" charset="-120"/>
              </a:rPr>
              <a:t>DriverController, VehicleController, AssignmentController, AuthController, AssistantController</a:t>
            </a:r>
            <a:endParaRPr lang="en-US" sz="1200" dirty="0"/>
          </a:p>
        </p:txBody>
      </p:sp>
      <p:sp>
        <p:nvSpPr>
          <p:cNvPr id="10" name="Shape 7"/>
          <p:cNvSpPr/>
          <p:nvPr/>
        </p:nvSpPr>
        <p:spPr>
          <a:xfrm>
            <a:off x="548640" y="2743200"/>
            <a:ext cx="6766560" cy="914400"/>
          </a:xfrm>
          <a:prstGeom prst="roundRect">
            <a:avLst>
              <a:gd name="adj" fmla="val 10000"/>
            </a:avLst>
          </a:prstGeom>
          <a:solidFill>
            <a:srgbClr val="F3F5F8"/>
          </a:solidFill>
          <a:ln w="12700">
            <a:solidFill>
              <a:srgbClr val="F3F5F8"/>
            </a:solidFill>
            <a:prstDash val="solid"/>
          </a:ln>
        </p:spPr>
      </p:sp>
      <p:sp>
        <p:nvSpPr>
          <p:cNvPr id="11" name="Shape 8"/>
          <p:cNvSpPr/>
          <p:nvPr/>
        </p:nvSpPr>
        <p:spPr>
          <a:xfrm>
            <a:off x="777240" y="2926080"/>
            <a:ext cx="548640" cy="548640"/>
          </a:xfrm>
          <a:prstGeom prst="ellipse">
            <a:avLst/>
          </a:prstGeom>
          <a:solidFill>
            <a:srgbClr val="F2A541"/>
          </a:solidFill>
          <a:ln w="12700">
            <a:solidFill>
              <a:srgbClr val="F2A541"/>
            </a:solidFill>
            <a:prstDash val="solid"/>
          </a:ln>
        </p:spPr>
      </p:sp>
      <p:pic>
        <p:nvPicPr>
          <p:cNvPr id="12" name="Image 1" descr="preencoded.png">    </p:cNvPr>
          <p:cNvPicPr>
            <a:picLocks noChangeAspect="1"/>
          </p:cNvPicPr>
          <p:nvPr/>
        </p:nvPicPr>
        <p:blipFill>
          <a:blip r:embed="rId2"/>
          <a:stretch>
            <a:fillRect/>
          </a:stretch>
        </p:blipFill>
        <p:spPr>
          <a:xfrm>
            <a:off x="914400" y="3063240"/>
            <a:ext cx="274320" cy="274320"/>
          </a:xfrm>
          <a:prstGeom prst="rect">
            <a:avLst/>
          </a:prstGeom>
        </p:spPr>
      </p:pic>
      <p:sp>
        <p:nvSpPr>
          <p:cNvPr id="13" name="Text 9"/>
          <p:cNvSpPr txBox="1"/>
          <p:nvPr/>
        </p:nvSpPr>
        <p:spPr>
          <a:xfrm>
            <a:off x="1508760" y="2852928"/>
            <a:ext cx="5577840" cy="320040"/>
          </a:xfrm>
          <a:prstGeom prst="rect">
            <a:avLst/>
          </a:prstGeom>
          <a:noFill/>
          <a:ln/>
        </p:spPr>
        <p:txBody>
          <a:bodyPr wrap="square" lIns="0" tIns="0" rIns="0" bIns="0" rtlCol="0" anchor="t"/>
          <a:lstStyle/>
          <a:p>
            <a:pPr indent="0" marL="0">
              <a:buNone/>
            </a:pPr>
            <a:r>
              <a:rPr lang="en-US" sz="1600" b="1" dirty="0">
                <a:solidFill>
                  <a:srgbClr val="13203A"/>
                </a:solidFill>
                <a:latin typeface="Calibri" pitchFamily="34" charset="0"/>
                <a:ea typeface="Calibri" pitchFamily="34" charset="-122"/>
                <a:cs typeface="Calibri" pitchFamily="34" charset="-120"/>
              </a:rPr>
              <a:t>Services</a:t>
            </a:r>
            <a:endParaRPr lang="en-US" sz="1600" dirty="0"/>
          </a:p>
        </p:txBody>
      </p:sp>
      <p:sp>
        <p:nvSpPr>
          <p:cNvPr id="14" name="Text 10"/>
          <p:cNvSpPr txBox="1"/>
          <p:nvPr/>
        </p:nvSpPr>
        <p:spPr>
          <a:xfrm>
            <a:off x="1508760" y="3172968"/>
            <a:ext cx="5669280" cy="45720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DriverService, VehicleService, AssignmentService: validation, overlap rules, transactions</a:t>
            </a:r>
            <a:endParaRPr lang="en-US" sz="1200" dirty="0"/>
          </a:p>
        </p:txBody>
      </p:sp>
      <p:sp>
        <p:nvSpPr>
          <p:cNvPr id="15" name="Shape 11"/>
          <p:cNvSpPr/>
          <p:nvPr/>
        </p:nvSpPr>
        <p:spPr>
          <a:xfrm>
            <a:off x="548640" y="3840480"/>
            <a:ext cx="6766560" cy="914400"/>
          </a:xfrm>
          <a:prstGeom prst="roundRect">
            <a:avLst>
              <a:gd name="adj" fmla="val 10000"/>
            </a:avLst>
          </a:prstGeom>
          <a:solidFill>
            <a:srgbClr val="F3F5F8"/>
          </a:solidFill>
          <a:ln w="12700">
            <a:solidFill>
              <a:srgbClr val="F3F5F8"/>
            </a:solidFill>
            <a:prstDash val="solid"/>
          </a:ln>
        </p:spPr>
      </p:sp>
      <p:sp>
        <p:nvSpPr>
          <p:cNvPr id="16" name="Shape 12"/>
          <p:cNvSpPr/>
          <p:nvPr/>
        </p:nvSpPr>
        <p:spPr>
          <a:xfrm>
            <a:off x="777240" y="4023360"/>
            <a:ext cx="548640" cy="548640"/>
          </a:xfrm>
          <a:prstGeom prst="ellipse">
            <a:avLst/>
          </a:prstGeom>
          <a:solidFill>
            <a:srgbClr val="F2A541"/>
          </a:solidFill>
          <a:ln w="12700">
            <a:solidFill>
              <a:srgbClr val="F2A541"/>
            </a:solidFill>
            <a:prstDash val="solid"/>
          </a:ln>
        </p:spPr>
      </p:sp>
      <p:pic>
        <p:nvPicPr>
          <p:cNvPr id="17" name="Image 2" descr="preencoded.png">    </p:cNvPr>
          <p:cNvPicPr>
            <a:picLocks noChangeAspect="1"/>
          </p:cNvPicPr>
          <p:nvPr/>
        </p:nvPicPr>
        <p:blipFill>
          <a:blip r:embed="rId3"/>
          <a:stretch>
            <a:fillRect/>
          </a:stretch>
        </p:blipFill>
        <p:spPr>
          <a:xfrm>
            <a:off x="914400" y="4160520"/>
            <a:ext cx="274320" cy="274320"/>
          </a:xfrm>
          <a:prstGeom prst="rect">
            <a:avLst/>
          </a:prstGeom>
        </p:spPr>
      </p:pic>
      <p:sp>
        <p:nvSpPr>
          <p:cNvPr id="18" name="Text 13"/>
          <p:cNvSpPr txBox="1"/>
          <p:nvPr/>
        </p:nvSpPr>
        <p:spPr>
          <a:xfrm>
            <a:off x="1508760" y="3950208"/>
            <a:ext cx="5577840" cy="320040"/>
          </a:xfrm>
          <a:prstGeom prst="rect">
            <a:avLst/>
          </a:prstGeom>
          <a:noFill/>
          <a:ln/>
        </p:spPr>
        <p:txBody>
          <a:bodyPr wrap="square" lIns="0" tIns="0" rIns="0" bIns="0" rtlCol="0" anchor="t"/>
          <a:lstStyle/>
          <a:p>
            <a:pPr indent="0" marL="0">
              <a:buNone/>
            </a:pPr>
            <a:r>
              <a:rPr lang="en-US" sz="1600" b="1" dirty="0">
                <a:solidFill>
                  <a:srgbClr val="13203A"/>
                </a:solidFill>
                <a:latin typeface="Calibri" pitchFamily="34" charset="0"/>
                <a:ea typeface="Calibri" pitchFamily="34" charset="-122"/>
                <a:cs typeface="Calibri" pitchFamily="34" charset="-120"/>
              </a:rPr>
              <a:t>Repositories</a:t>
            </a:r>
            <a:endParaRPr lang="en-US" sz="1600" dirty="0"/>
          </a:p>
        </p:txBody>
      </p:sp>
      <p:sp>
        <p:nvSpPr>
          <p:cNvPr id="19" name="Text 14"/>
          <p:cNvSpPr txBox="1"/>
          <p:nvPr/>
        </p:nvSpPr>
        <p:spPr>
          <a:xfrm>
            <a:off x="1508760" y="4270248"/>
            <a:ext cx="5669280" cy="45720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Spring Data JPA interfaces with custom JPQL for overlap and time-window queries</a:t>
            </a:r>
            <a:endParaRPr lang="en-US" sz="1200" dirty="0"/>
          </a:p>
        </p:txBody>
      </p:sp>
      <p:sp>
        <p:nvSpPr>
          <p:cNvPr id="20" name="Shape 15"/>
          <p:cNvSpPr/>
          <p:nvPr/>
        </p:nvSpPr>
        <p:spPr>
          <a:xfrm>
            <a:off x="548640" y="4937760"/>
            <a:ext cx="6766560" cy="914400"/>
          </a:xfrm>
          <a:prstGeom prst="roundRect">
            <a:avLst>
              <a:gd name="adj" fmla="val 10000"/>
            </a:avLst>
          </a:prstGeom>
          <a:solidFill>
            <a:srgbClr val="F3F5F8"/>
          </a:solidFill>
          <a:ln w="12700">
            <a:solidFill>
              <a:srgbClr val="F3F5F8"/>
            </a:solidFill>
            <a:prstDash val="solid"/>
          </a:ln>
        </p:spPr>
      </p:sp>
      <p:sp>
        <p:nvSpPr>
          <p:cNvPr id="21" name="Shape 16"/>
          <p:cNvSpPr/>
          <p:nvPr/>
        </p:nvSpPr>
        <p:spPr>
          <a:xfrm>
            <a:off x="777240" y="5120640"/>
            <a:ext cx="548640" cy="548640"/>
          </a:xfrm>
          <a:prstGeom prst="ellipse">
            <a:avLst/>
          </a:prstGeom>
          <a:solidFill>
            <a:srgbClr val="F2A541"/>
          </a:solidFill>
          <a:ln w="12700">
            <a:solidFill>
              <a:srgbClr val="F2A541"/>
            </a:solidFill>
            <a:prstDash val="solid"/>
          </a:ln>
        </p:spPr>
      </p:sp>
      <p:pic>
        <p:nvPicPr>
          <p:cNvPr id="22" name="Image 3" descr="preencoded.png">    </p:cNvPr>
          <p:cNvPicPr>
            <a:picLocks noChangeAspect="1"/>
          </p:cNvPicPr>
          <p:nvPr/>
        </p:nvPicPr>
        <p:blipFill>
          <a:blip r:embed="rId4"/>
          <a:stretch>
            <a:fillRect/>
          </a:stretch>
        </p:blipFill>
        <p:spPr>
          <a:xfrm>
            <a:off x="914400" y="5257800"/>
            <a:ext cx="274320" cy="274320"/>
          </a:xfrm>
          <a:prstGeom prst="rect">
            <a:avLst/>
          </a:prstGeom>
        </p:spPr>
      </p:pic>
      <p:sp>
        <p:nvSpPr>
          <p:cNvPr id="23" name="Text 17"/>
          <p:cNvSpPr txBox="1"/>
          <p:nvPr/>
        </p:nvSpPr>
        <p:spPr>
          <a:xfrm>
            <a:off x="1508760" y="5047488"/>
            <a:ext cx="5577840" cy="320040"/>
          </a:xfrm>
          <a:prstGeom prst="rect">
            <a:avLst/>
          </a:prstGeom>
          <a:noFill/>
          <a:ln/>
        </p:spPr>
        <p:txBody>
          <a:bodyPr wrap="square" lIns="0" tIns="0" rIns="0" bIns="0" rtlCol="0" anchor="t"/>
          <a:lstStyle/>
          <a:p>
            <a:pPr indent="0" marL="0">
              <a:buNone/>
            </a:pPr>
            <a:r>
              <a:rPr lang="en-US" sz="1600" b="1" dirty="0">
                <a:solidFill>
                  <a:srgbClr val="13203A"/>
                </a:solidFill>
                <a:latin typeface="Calibri" pitchFamily="34" charset="0"/>
                <a:ea typeface="Calibri" pitchFamily="34" charset="-122"/>
                <a:cs typeface="Calibri" pitchFamily="34" charset="-120"/>
              </a:rPr>
              <a:t>PostgreSQL</a:t>
            </a:r>
            <a:endParaRPr lang="en-US" sz="1600" dirty="0"/>
          </a:p>
        </p:txBody>
      </p:sp>
      <p:sp>
        <p:nvSpPr>
          <p:cNvPr id="24" name="Text 18"/>
          <p:cNvSpPr txBox="1"/>
          <p:nvPr/>
        </p:nvSpPr>
        <p:spPr>
          <a:xfrm>
            <a:off x="1508760" y="5367528"/>
            <a:ext cx="5669280" cy="45720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Entities: Driver, Vehicle, Assignment (+ AssignmentStatus enum)</a:t>
            </a:r>
            <a:endParaRPr lang="en-US" sz="1200" dirty="0"/>
          </a:p>
        </p:txBody>
      </p:sp>
      <p:sp>
        <p:nvSpPr>
          <p:cNvPr id="25" name="Shape 19"/>
          <p:cNvSpPr/>
          <p:nvPr/>
        </p:nvSpPr>
        <p:spPr>
          <a:xfrm>
            <a:off x="7635240" y="1645920"/>
            <a:ext cx="3977640" cy="4389120"/>
          </a:xfrm>
          <a:prstGeom prst="roundRect">
            <a:avLst>
              <a:gd name="adj" fmla="val 2299"/>
            </a:avLst>
          </a:prstGeom>
          <a:solidFill>
            <a:srgbClr val="F3F5F8"/>
          </a:solidFill>
          <a:ln w="12700">
            <a:solidFill>
              <a:srgbClr val="F3F5F8"/>
            </a:solidFill>
            <a:prstDash val="solid"/>
          </a:ln>
        </p:spPr>
      </p:sp>
      <p:sp>
        <p:nvSpPr>
          <p:cNvPr id="26" name="Text 20"/>
          <p:cNvSpPr txBox="1"/>
          <p:nvPr/>
        </p:nvSpPr>
        <p:spPr>
          <a:xfrm>
            <a:off x="7863840" y="1783080"/>
            <a:ext cx="3566160" cy="365760"/>
          </a:xfrm>
          <a:prstGeom prst="rect">
            <a:avLst/>
          </a:prstGeom>
          <a:noFill/>
          <a:ln/>
        </p:spPr>
        <p:txBody>
          <a:bodyPr wrap="square" lIns="0" tIns="0" rIns="0" bIns="0" rtlCol="0" anchor="t"/>
          <a:lstStyle/>
          <a:p>
            <a:pPr indent="0" marL="0">
              <a:buNone/>
            </a:pPr>
            <a:r>
              <a:rPr lang="en-US" sz="1500" b="1" dirty="0">
                <a:solidFill>
                  <a:srgbClr val="13203A"/>
                </a:solidFill>
                <a:latin typeface="Calibri" pitchFamily="34" charset="0"/>
                <a:ea typeface="Calibri" pitchFamily="34" charset="-122"/>
                <a:cs typeface="Calibri" pitchFamily="34" charset="-120"/>
              </a:rPr>
              <a:t>Consistent error handling</a:t>
            </a:r>
            <a:endParaRPr lang="en-US" sz="1500" dirty="0"/>
          </a:p>
        </p:txBody>
      </p:sp>
      <p:sp>
        <p:nvSpPr>
          <p:cNvPr id="27" name="Shape 21"/>
          <p:cNvSpPr/>
          <p:nvPr/>
        </p:nvSpPr>
        <p:spPr>
          <a:xfrm>
            <a:off x="7863840" y="2286000"/>
            <a:ext cx="731520" cy="384048"/>
          </a:xfrm>
          <a:prstGeom prst="roundRect">
            <a:avLst>
              <a:gd name="adj" fmla="val 50000"/>
            </a:avLst>
          </a:prstGeom>
          <a:solidFill>
            <a:srgbClr val="13203A"/>
          </a:solidFill>
          <a:ln w="12700">
            <a:solidFill>
              <a:srgbClr val="13203A"/>
            </a:solidFill>
            <a:prstDash val="solid"/>
          </a:ln>
        </p:spPr>
      </p:sp>
      <p:sp>
        <p:nvSpPr>
          <p:cNvPr id="28" name="Text 22"/>
          <p:cNvSpPr txBox="1"/>
          <p:nvPr/>
        </p:nvSpPr>
        <p:spPr>
          <a:xfrm>
            <a:off x="7863840" y="2286000"/>
            <a:ext cx="73152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400</a:t>
            </a:r>
            <a:endParaRPr lang="en-US" sz="1300" dirty="0"/>
          </a:p>
        </p:txBody>
      </p:sp>
      <p:sp>
        <p:nvSpPr>
          <p:cNvPr id="29" name="Text 23"/>
          <p:cNvSpPr txBox="1"/>
          <p:nvPr/>
        </p:nvSpPr>
        <p:spPr>
          <a:xfrm>
            <a:off x="8732520" y="2286000"/>
            <a:ext cx="2743200" cy="384048"/>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Validation failed (field details)</a:t>
            </a:r>
            <a:endParaRPr lang="en-US" sz="1250" dirty="0"/>
          </a:p>
        </p:txBody>
      </p:sp>
      <p:sp>
        <p:nvSpPr>
          <p:cNvPr id="30" name="Shape 24"/>
          <p:cNvSpPr/>
          <p:nvPr/>
        </p:nvSpPr>
        <p:spPr>
          <a:xfrm>
            <a:off x="7863840" y="2852928"/>
            <a:ext cx="731520" cy="384048"/>
          </a:xfrm>
          <a:prstGeom prst="roundRect">
            <a:avLst>
              <a:gd name="adj" fmla="val 50000"/>
            </a:avLst>
          </a:prstGeom>
          <a:solidFill>
            <a:srgbClr val="13203A"/>
          </a:solidFill>
          <a:ln w="12700">
            <a:solidFill>
              <a:srgbClr val="13203A"/>
            </a:solidFill>
            <a:prstDash val="solid"/>
          </a:ln>
        </p:spPr>
      </p:sp>
      <p:sp>
        <p:nvSpPr>
          <p:cNvPr id="31" name="Text 25"/>
          <p:cNvSpPr txBox="1"/>
          <p:nvPr/>
        </p:nvSpPr>
        <p:spPr>
          <a:xfrm>
            <a:off x="7863840" y="2852928"/>
            <a:ext cx="73152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401</a:t>
            </a:r>
            <a:endParaRPr lang="en-US" sz="1300" dirty="0"/>
          </a:p>
        </p:txBody>
      </p:sp>
      <p:sp>
        <p:nvSpPr>
          <p:cNvPr id="32" name="Text 26"/>
          <p:cNvSpPr txBox="1"/>
          <p:nvPr/>
        </p:nvSpPr>
        <p:spPr>
          <a:xfrm>
            <a:off x="8732520" y="2852928"/>
            <a:ext cx="2743200" cy="384048"/>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Invalid email or password</a:t>
            </a:r>
            <a:endParaRPr lang="en-US" sz="1250" dirty="0"/>
          </a:p>
        </p:txBody>
      </p:sp>
      <p:sp>
        <p:nvSpPr>
          <p:cNvPr id="33" name="Shape 27"/>
          <p:cNvSpPr/>
          <p:nvPr/>
        </p:nvSpPr>
        <p:spPr>
          <a:xfrm>
            <a:off x="7863840" y="3419856"/>
            <a:ext cx="731520" cy="384048"/>
          </a:xfrm>
          <a:prstGeom prst="roundRect">
            <a:avLst>
              <a:gd name="adj" fmla="val 50000"/>
            </a:avLst>
          </a:prstGeom>
          <a:solidFill>
            <a:srgbClr val="13203A"/>
          </a:solidFill>
          <a:ln w="12700">
            <a:solidFill>
              <a:srgbClr val="13203A"/>
            </a:solidFill>
            <a:prstDash val="solid"/>
          </a:ln>
        </p:spPr>
      </p:sp>
      <p:sp>
        <p:nvSpPr>
          <p:cNvPr id="34" name="Text 28"/>
          <p:cNvSpPr txBox="1"/>
          <p:nvPr/>
        </p:nvSpPr>
        <p:spPr>
          <a:xfrm>
            <a:off x="7863840" y="3419856"/>
            <a:ext cx="73152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404</a:t>
            </a:r>
            <a:endParaRPr lang="en-US" sz="1300" dirty="0"/>
          </a:p>
        </p:txBody>
      </p:sp>
      <p:sp>
        <p:nvSpPr>
          <p:cNvPr id="35" name="Text 29"/>
          <p:cNvSpPr txBox="1"/>
          <p:nvPr/>
        </p:nvSpPr>
        <p:spPr>
          <a:xfrm>
            <a:off x="8732520" y="3419856"/>
            <a:ext cx="2743200" cy="384048"/>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Driver / vehicle not found</a:t>
            </a:r>
            <a:endParaRPr lang="en-US" sz="1250" dirty="0"/>
          </a:p>
        </p:txBody>
      </p:sp>
      <p:sp>
        <p:nvSpPr>
          <p:cNvPr id="36" name="Shape 30"/>
          <p:cNvSpPr/>
          <p:nvPr/>
        </p:nvSpPr>
        <p:spPr>
          <a:xfrm>
            <a:off x="7863840" y="3986784"/>
            <a:ext cx="731520" cy="384048"/>
          </a:xfrm>
          <a:prstGeom prst="roundRect">
            <a:avLst>
              <a:gd name="adj" fmla="val 50000"/>
            </a:avLst>
          </a:prstGeom>
          <a:solidFill>
            <a:srgbClr val="9B2323"/>
          </a:solidFill>
          <a:ln w="12700">
            <a:solidFill>
              <a:srgbClr val="9B2323"/>
            </a:solidFill>
            <a:prstDash val="solid"/>
          </a:ln>
        </p:spPr>
      </p:sp>
      <p:sp>
        <p:nvSpPr>
          <p:cNvPr id="37" name="Text 31"/>
          <p:cNvSpPr txBox="1"/>
          <p:nvPr/>
        </p:nvSpPr>
        <p:spPr>
          <a:xfrm>
            <a:off x="7863840" y="3986784"/>
            <a:ext cx="73152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409</a:t>
            </a:r>
            <a:endParaRPr lang="en-US" sz="1300" dirty="0"/>
          </a:p>
        </p:txBody>
      </p:sp>
      <p:sp>
        <p:nvSpPr>
          <p:cNvPr id="38" name="Text 32"/>
          <p:cNvSpPr txBox="1"/>
          <p:nvPr/>
        </p:nvSpPr>
        <p:spPr>
          <a:xfrm>
            <a:off x="8732520" y="3986784"/>
            <a:ext cx="2743200" cy="384048"/>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Overlap or duplicate email / plate</a:t>
            </a:r>
            <a:endParaRPr lang="en-US" sz="1250" dirty="0"/>
          </a:p>
        </p:txBody>
      </p:sp>
      <p:sp>
        <p:nvSpPr>
          <p:cNvPr id="39" name="Text 33"/>
          <p:cNvSpPr txBox="1"/>
          <p:nvPr/>
        </p:nvSpPr>
        <p:spPr>
          <a:xfrm>
            <a:off x="7863840" y="4617720"/>
            <a:ext cx="3566160" cy="128016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DTOs (Java records) keep entities and password hashes out of API responses. A global @RestControllerAdvice maps exceptions to a uniform JSON error body.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300" kern="0" dirty="0">
                <a:solidFill>
                  <a:srgbClr val="9A5B00"/>
                </a:solidFill>
                <a:latin typeface="Calibri" pitchFamily="34" charset="0"/>
                <a:ea typeface="Calibri" pitchFamily="34" charset="-122"/>
                <a:cs typeface="Calibri" pitchFamily="34" charset="-120"/>
              </a:rPr>
              <a:t>REST API</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3203A"/>
                </a:solidFill>
                <a:latin typeface="Cambria" pitchFamily="34" charset="0"/>
                <a:ea typeface="Cambria" pitchFamily="34" charset="-122"/>
                <a:cs typeface="Cambria" pitchFamily="34" charset="-120"/>
              </a:rPr>
              <a:t>22 JSON endpoints under /api</a:t>
            </a:r>
            <a:endParaRPr lang="en-US" sz="3400" dirty="0"/>
          </a:p>
        </p:txBody>
      </p:sp>
      <p:sp>
        <p:nvSpPr>
          <p:cNvPr id="4" name="Text 2"/>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4A5568"/>
                </a:solidFill>
                <a:latin typeface="Calibri" pitchFamily="34" charset="0"/>
                <a:ea typeface="Calibri" pitchFamily="34" charset="-122"/>
                <a:cs typeface="Calibri" pitchFamily="34" charset="-120"/>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377440"/>
                <a:gridCol w="4754880"/>
                <a:gridCol w="3931920"/>
              </a:tblGrid>
              <a:tr h="329184">
                <a:tc>
                  <a:txBody>
                    <a:bodyPr/>
                    <a:lstStyle/>
                    <a:p>
                      <a:pPr indent="0" marL="0">
                        <a:buNone/>
                      </a:pPr>
                      <a:r>
                        <a:rPr lang="en-US" sz="1200" b="1" dirty="0">
                          <a:solidFill>
                            <a:srgbClr val="FFFFFF"/>
                          </a:solidFill>
                        </a:rPr>
                        <a:t>Method</a:t>
                      </a:r>
                      <a:endParaRPr lang="en-US" sz="1200" dirty="0"/>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13203A"/>
                    </a:solidFill>
                  </a:tcPr>
                </a:tc>
                <a:tc>
                  <a:txBody>
                    <a:bodyPr/>
                    <a:lstStyle/>
                    <a:p>
                      <a:pPr indent="0" marL="0">
                        <a:buNone/>
                      </a:pPr>
                      <a:r>
                        <a:rPr lang="en-US" sz="1200" b="1" dirty="0">
                          <a:solidFill>
                            <a:srgbClr val="FFFFFF"/>
                          </a:solidFill>
                        </a:rPr>
                        <a:t>Endpoint</a:t>
                      </a:r>
                      <a:endParaRPr lang="en-US" sz="1200" dirty="0"/>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13203A"/>
                    </a:solidFill>
                  </a:tcPr>
                </a:tc>
                <a:tc>
                  <a:txBody>
                    <a:bodyPr/>
                    <a:lstStyle/>
                    <a:p>
                      <a:pPr indent="0" marL="0">
                        <a:buNone/>
                      </a:pPr>
                      <a:r>
                        <a:rPr lang="en-US" sz="1200" b="1" dirty="0">
                          <a:solidFill>
                            <a:srgbClr val="FFFFFF"/>
                          </a:solidFill>
                        </a:rPr>
                        <a:t>Purpose</a:t>
                      </a:r>
                      <a:endParaRPr lang="en-US" sz="1200" dirty="0"/>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13203A"/>
                    </a:solidFill>
                  </a:tcPr>
                </a:tc>
              </a:tr>
              <a:tr h="329184">
                <a:tc>
                  <a:txBody>
                    <a:bodyPr/>
                    <a:lstStyle/>
                    <a:p>
                      <a:pPr indent="0" marL="0">
                        <a:buNone/>
                      </a:pPr>
                      <a:r>
                        <a:rPr lang="en-US" sz="1150" b="1" dirty="0">
                          <a:solidFill>
                            <a:srgbClr val="4A5568"/>
                          </a:solidFill>
                          <a:latin typeface="Calibri" pitchFamily="34" charset="0"/>
                          <a:ea typeface="Calibri" pitchFamily="34" charset="-122"/>
                          <a:cs typeface="Calibri" pitchFamily="34" charset="-120"/>
                        </a:rPr>
                        <a:t>GET / POST</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13203A"/>
                          </a:solidFill>
                          <a:latin typeface="Courier New" pitchFamily="34" charset="0"/>
                          <a:ea typeface="Courier New" pitchFamily="34" charset="-122"/>
                          <a:cs typeface="Courier New" pitchFamily="34" charset="-120"/>
                        </a:rPr>
                        <a:t>/api/drivers</a:t>
                      </a:r>
                      <a:endParaRPr lang="en-US" sz="1150" dirty="0">
                        <a:latin typeface="Courier New" charset="0"/>
                        <a:ea typeface="Courier New" charset="0"/>
                        <a:cs typeface="Courier New"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4A5568"/>
                          </a:solidFill>
                          <a:latin typeface="Calibri" pitchFamily="34" charset="0"/>
                          <a:ea typeface="Calibri" pitchFamily="34" charset="-122"/>
                          <a:cs typeface="Calibri" pitchFamily="34" charset="-120"/>
                        </a:rPr>
                        <a:t>List drivers / register a driver</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4A5568"/>
                          </a:solidFill>
                          <a:latin typeface="Calibri" pitchFamily="34" charset="0"/>
                          <a:ea typeface="Calibri" pitchFamily="34" charset="-122"/>
                          <a:cs typeface="Calibri" pitchFamily="34" charset="-120"/>
                        </a:rPr>
                        <a:t>GET / PUT / DELETE</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c>
                  <a:txBody>
                    <a:bodyPr/>
                    <a:lstStyle/>
                    <a:p>
                      <a:pPr indent="0" marL="0">
                        <a:buNone/>
                      </a:pPr>
                      <a:r>
                        <a:rPr lang="en-US" sz="1150" dirty="0">
                          <a:solidFill>
                            <a:srgbClr val="13203A"/>
                          </a:solidFill>
                          <a:latin typeface="Courier New" pitchFamily="34" charset="0"/>
                          <a:ea typeface="Courier New" pitchFamily="34" charset="-122"/>
                          <a:cs typeface="Courier New" pitchFamily="34" charset="-120"/>
                        </a:rPr>
                        <a:t>/api/drivers/{id}</a:t>
                      </a:r>
                      <a:endParaRPr lang="en-US" sz="1150" dirty="0">
                        <a:latin typeface="Courier New" charset="0"/>
                        <a:ea typeface="Courier New" charset="0"/>
                        <a:cs typeface="Courier New"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c>
                  <a:txBody>
                    <a:bodyPr/>
                    <a:lstStyle/>
                    <a:p>
                      <a:pPr indent="0" marL="0">
                        <a:buNone/>
                      </a:pPr>
                      <a:r>
                        <a:rPr lang="en-US" sz="1150" dirty="0">
                          <a:solidFill>
                            <a:srgbClr val="4A5568"/>
                          </a:solidFill>
                          <a:latin typeface="Calibri" pitchFamily="34" charset="0"/>
                          <a:ea typeface="Calibri" pitchFamily="34" charset="-122"/>
                          <a:cs typeface="Calibri" pitchFamily="34" charset="-120"/>
                        </a:rPr>
                        <a:t>Read, update, delete a driver</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r>
              <a:tr h="329184">
                <a:tc>
                  <a:txBody>
                    <a:bodyPr/>
                    <a:lstStyle/>
                    <a:p>
                      <a:pPr indent="0" marL="0">
                        <a:buNone/>
                      </a:pPr>
                      <a:r>
                        <a:rPr lang="en-US" sz="1150" b="1" dirty="0">
                          <a:solidFill>
                            <a:srgbClr val="4A5568"/>
                          </a:solidFill>
                          <a:latin typeface="Calibri" pitchFamily="34" charset="0"/>
                          <a:ea typeface="Calibri" pitchFamily="34" charset="-122"/>
                          <a:cs typeface="Calibri" pitchFamily="34" charset="-120"/>
                        </a:rPr>
                        <a:t>GET</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13203A"/>
                          </a:solidFill>
                          <a:latin typeface="Courier New" pitchFamily="34" charset="0"/>
                          <a:ea typeface="Courier New" pitchFamily="34" charset="-122"/>
                          <a:cs typeface="Courier New" pitchFamily="34" charset="-120"/>
                        </a:rPr>
                        <a:t>/api/drivers/search?type=NAME|PHONE&amp;term=</a:t>
                      </a:r>
                      <a:endParaRPr lang="en-US" sz="1150" dirty="0">
                        <a:latin typeface="Courier New" charset="0"/>
                        <a:ea typeface="Courier New" charset="0"/>
                        <a:cs typeface="Courier New"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4A5568"/>
                          </a:solidFill>
                          <a:latin typeface="Calibri" pitchFamily="34" charset="0"/>
                          <a:ea typeface="Calibri" pitchFamily="34" charset="-122"/>
                          <a:cs typeface="Calibri" pitchFamily="34" charset="-120"/>
                        </a:rPr>
                        <a:t>Search drivers</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4A5568"/>
                          </a:solidFill>
                          <a:latin typeface="Calibri" pitchFamily="34" charset="0"/>
                          <a:ea typeface="Calibri" pitchFamily="34" charset="-122"/>
                          <a:cs typeface="Calibri" pitchFamily="34" charset="-120"/>
                        </a:rPr>
                        <a:t>GET</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c>
                  <a:txBody>
                    <a:bodyPr/>
                    <a:lstStyle/>
                    <a:p>
                      <a:pPr indent="0" marL="0">
                        <a:buNone/>
                      </a:pPr>
                      <a:r>
                        <a:rPr lang="en-US" sz="1150" dirty="0">
                          <a:solidFill>
                            <a:srgbClr val="13203A"/>
                          </a:solidFill>
                          <a:latin typeface="Courier New" pitchFamily="34" charset="0"/>
                          <a:ea typeface="Courier New" pitchFamily="34" charset="-122"/>
                          <a:cs typeface="Courier New" pitchFamily="34" charset="-120"/>
                        </a:rPr>
                        <a:t>/api/drivers/nearby?x=&amp;y=&amp;range=&amp;at=</a:t>
                      </a:r>
                      <a:endParaRPr lang="en-US" sz="1150" dirty="0">
                        <a:latin typeface="Courier New" charset="0"/>
                        <a:ea typeface="Courier New" charset="0"/>
                        <a:cs typeface="Courier New"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c>
                  <a:txBody>
                    <a:bodyPr/>
                    <a:lstStyle/>
                    <a:p>
                      <a:pPr indent="0" marL="0">
                        <a:buNone/>
                      </a:pPr>
                      <a:r>
                        <a:rPr lang="en-US" sz="1150" dirty="0">
                          <a:solidFill>
                            <a:srgbClr val="4A5568"/>
                          </a:solidFill>
                          <a:latin typeface="Calibri" pitchFamily="34" charset="0"/>
                          <a:ea typeface="Calibri" pitchFamily="34" charset="-122"/>
                          <a:cs typeface="Calibri" pitchFamily="34" charset="-120"/>
                        </a:rPr>
                        <a:t>On-duty drivers near a point, nearest first</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r>
              <a:tr h="329184">
                <a:tc>
                  <a:txBody>
                    <a:bodyPr/>
                    <a:lstStyle/>
                    <a:p>
                      <a:pPr indent="0" marL="0">
                        <a:buNone/>
                      </a:pPr>
                      <a:r>
                        <a:rPr lang="en-US" sz="1150" b="1" dirty="0">
                          <a:solidFill>
                            <a:srgbClr val="4A5568"/>
                          </a:solidFill>
                          <a:latin typeface="Calibri" pitchFamily="34" charset="0"/>
                          <a:ea typeface="Calibri" pitchFamily="34" charset="-122"/>
                          <a:cs typeface="Calibri" pitchFamily="34" charset="-120"/>
                        </a:rPr>
                        <a:t>GET</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13203A"/>
                          </a:solidFill>
                          <a:latin typeface="Courier New" pitchFamily="34" charset="0"/>
                          <a:ea typeface="Courier New" pitchFamily="34" charset="-122"/>
                          <a:cs typeface="Courier New" pitchFamily="34" charset="-120"/>
                        </a:rPr>
                        <a:t>/api/drivers/{id}/assignments?status=</a:t>
                      </a:r>
                      <a:endParaRPr lang="en-US" sz="1150" dirty="0">
                        <a:latin typeface="Courier New" charset="0"/>
                        <a:ea typeface="Courier New" charset="0"/>
                        <a:cs typeface="Courier New"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4A5568"/>
                          </a:solidFill>
                          <a:latin typeface="Calibri" pitchFamily="34" charset="0"/>
                          <a:ea typeface="Calibri" pitchFamily="34" charset="-122"/>
                          <a:cs typeface="Calibri" pitchFamily="34" charset="-120"/>
                        </a:rPr>
                        <a:t>One driver’s assignments</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4A5568"/>
                          </a:solidFill>
                          <a:latin typeface="Calibri" pitchFamily="34" charset="0"/>
                          <a:ea typeface="Calibri" pitchFamily="34" charset="-122"/>
                          <a:cs typeface="Calibri" pitchFamily="34" charset="-120"/>
                        </a:rPr>
                        <a:t>POST</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c>
                  <a:txBody>
                    <a:bodyPr/>
                    <a:lstStyle/>
                    <a:p>
                      <a:pPr indent="0" marL="0">
                        <a:buNone/>
                      </a:pPr>
                      <a:r>
                        <a:rPr lang="en-US" sz="1150" dirty="0">
                          <a:solidFill>
                            <a:srgbClr val="13203A"/>
                          </a:solidFill>
                          <a:latin typeface="Courier New" pitchFamily="34" charset="0"/>
                          <a:ea typeface="Courier New" pitchFamily="34" charset="-122"/>
                          <a:cs typeface="Courier New" pitchFamily="34" charset="-120"/>
                        </a:rPr>
                        <a:t>/api/auth/driver/login</a:t>
                      </a:r>
                      <a:endParaRPr lang="en-US" sz="1150" dirty="0">
                        <a:latin typeface="Courier New" charset="0"/>
                        <a:ea typeface="Courier New" charset="0"/>
                        <a:cs typeface="Courier New"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c>
                  <a:txBody>
                    <a:bodyPr/>
                    <a:lstStyle/>
                    <a:p>
                      <a:pPr indent="0" marL="0">
                        <a:buNone/>
                      </a:pPr>
                      <a:r>
                        <a:rPr lang="en-US" sz="1150" dirty="0">
                          <a:solidFill>
                            <a:srgbClr val="4A5568"/>
                          </a:solidFill>
                          <a:latin typeface="Calibri" pitchFamily="34" charset="0"/>
                          <a:ea typeface="Calibri" pitchFamily="34" charset="-122"/>
                          <a:cs typeface="Calibri" pitchFamily="34" charset="-120"/>
                        </a:rPr>
                        <a:t>Driver login (BCrypt check)</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r>
              <a:tr h="329184">
                <a:tc>
                  <a:txBody>
                    <a:bodyPr/>
                    <a:lstStyle/>
                    <a:p>
                      <a:pPr indent="0" marL="0">
                        <a:buNone/>
                      </a:pPr>
                      <a:r>
                        <a:rPr lang="en-US" sz="1150" b="1" dirty="0">
                          <a:solidFill>
                            <a:srgbClr val="4A5568"/>
                          </a:solidFill>
                          <a:latin typeface="Calibri" pitchFamily="34" charset="0"/>
                          <a:ea typeface="Calibri" pitchFamily="34" charset="-122"/>
                          <a:cs typeface="Calibri" pitchFamily="34" charset="-120"/>
                        </a:rPr>
                        <a:t>GET / POST / PUT / DELETE</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13203A"/>
                          </a:solidFill>
                          <a:latin typeface="Courier New" pitchFamily="34" charset="0"/>
                          <a:ea typeface="Courier New" pitchFamily="34" charset="-122"/>
                          <a:cs typeface="Courier New" pitchFamily="34" charset="-120"/>
                        </a:rPr>
                        <a:t>/api/vehicles[/{id}]</a:t>
                      </a:r>
                      <a:endParaRPr lang="en-US" sz="1150" dirty="0">
                        <a:latin typeface="Courier New" charset="0"/>
                        <a:ea typeface="Courier New" charset="0"/>
                        <a:cs typeface="Courier New"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4A5568"/>
                          </a:solidFill>
                          <a:latin typeface="Calibri" pitchFamily="34" charset="0"/>
                          <a:ea typeface="Calibri" pitchFamily="34" charset="-122"/>
                          <a:cs typeface="Calibri" pitchFamily="34" charset="-120"/>
                        </a:rPr>
                        <a:t>Manage vehicles</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4A5568"/>
                          </a:solidFill>
                          <a:latin typeface="Calibri" pitchFamily="34" charset="0"/>
                          <a:ea typeface="Calibri" pitchFamily="34" charset="-122"/>
                          <a:cs typeface="Calibri" pitchFamily="34" charset="-120"/>
                        </a:rPr>
                        <a:t>GET / POST</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c>
                  <a:txBody>
                    <a:bodyPr/>
                    <a:lstStyle/>
                    <a:p>
                      <a:pPr indent="0" marL="0">
                        <a:buNone/>
                      </a:pPr>
                      <a:r>
                        <a:rPr lang="en-US" sz="1150" dirty="0">
                          <a:solidFill>
                            <a:srgbClr val="13203A"/>
                          </a:solidFill>
                          <a:latin typeface="Courier New" pitchFamily="34" charset="0"/>
                          <a:ea typeface="Courier New" pitchFamily="34" charset="-122"/>
                          <a:cs typeface="Courier New" pitchFamily="34" charset="-120"/>
                        </a:rPr>
                        <a:t>/api/assignments</a:t>
                      </a:r>
                      <a:endParaRPr lang="en-US" sz="1150" dirty="0">
                        <a:latin typeface="Courier New" charset="0"/>
                        <a:ea typeface="Courier New" charset="0"/>
                        <a:cs typeface="Courier New"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c>
                  <a:txBody>
                    <a:bodyPr/>
                    <a:lstStyle/>
                    <a:p>
                      <a:pPr indent="0" marL="0">
                        <a:buNone/>
                      </a:pPr>
                      <a:r>
                        <a:rPr lang="en-US" sz="1150" dirty="0">
                          <a:solidFill>
                            <a:srgbClr val="4A5568"/>
                          </a:solidFill>
                          <a:latin typeface="Calibri" pitchFamily="34" charset="0"/>
                          <a:ea typeface="Calibri" pitchFamily="34" charset="-122"/>
                          <a:cs typeface="Calibri" pitchFamily="34" charset="-120"/>
                        </a:rPr>
                        <a:t>List / create assignment requests</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r>
              <a:tr h="329184">
                <a:tc>
                  <a:txBody>
                    <a:bodyPr/>
                    <a:lstStyle/>
                    <a:p>
                      <a:pPr indent="0" marL="0">
                        <a:buNone/>
                      </a:pPr>
                      <a:r>
                        <a:rPr lang="en-US" sz="1150" b="1" dirty="0">
                          <a:solidFill>
                            <a:srgbClr val="4A5568"/>
                          </a:solidFill>
                          <a:latin typeface="Calibri" pitchFamily="34" charset="0"/>
                          <a:ea typeface="Calibri" pitchFamily="34" charset="-122"/>
                          <a:cs typeface="Calibri" pitchFamily="34" charset="-120"/>
                        </a:rPr>
                        <a:t>GET</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13203A"/>
                          </a:solidFill>
                          <a:latin typeface="Courier New" pitchFamily="34" charset="0"/>
                          <a:ea typeface="Courier New" pitchFamily="34" charset="-122"/>
                          <a:cs typeface="Courier New" pitchFamily="34" charset="-120"/>
                        </a:rPr>
                        <a:t>/api/assignments/search?type=&amp;term=&amp;status=</a:t>
                      </a:r>
                      <a:endParaRPr lang="en-US" sz="1150" dirty="0">
                        <a:latin typeface="Courier New" charset="0"/>
                        <a:ea typeface="Courier New" charset="0"/>
                        <a:cs typeface="Courier New"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4A5568"/>
                          </a:solidFill>
                          <a:latin typeface="Calibri" pitchFamily="34" charset="0"/>
                          <a:ea typeface="Calibri" pitchFamily="34" charset="-122"/>
                          <a:cs typeface="Calibri" pitchFamily="34" charset="-120"/>
                        </a:rPr>
                        <a:t>Assignments by driver and status</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4A5568"/>
                          </a:solidFill>
                          <a:latin typeface="Calibri" pitchFamily="34" charset="0"/>
                          <a:ea typeface="Calibri" pitchFamily="34" charset="-122"/>
                          <a:cs typeface="Calibri" pitchFamily="34" charset="-120"/>
                        </a:rPr>
                        <a:t>POST</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c>
                  <a:txBody>
                    <a:bodyPr/>
                    <a:lstStyle/>
                    <a:p>
                      <a:pPr indent="0" marL="0">
                        <a:buNone/>
                      </a:pPr>
                      <a:r>
                        <a:rPr lang="en-US" sz="1150" dirty="0">
                          <a:solidFill>
                            <a:srgbClr val="13203A"/>
                          </a:solidFill>
                          <a:latin typeface="Courier New" pitchFamily="34" charset="0"/>
                          <a:ea typeface="Courier New" pitchFamily="34" charset="-122"/>
                          <a:cs typeface="Courier New" pitchFamily="34" charset="-120"/>
                        </a:rPr>
                        <a:t>/api/assignments/{id}/accept | reject</a:t>
                      </a:r>
                      <a:endParaRPr lang="en-US" sz="1150" dirty="0">
                        <a:latin typeface="Courier New" charset="0"/>
                        <a:ea typeface="Courier New" charset="0"/>
                        <a:cs typeface="Courier New"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c>
                  <a:txBody>
                    <a:bodyPr/>
                    <a:lstStyle/>
                    <a:p>
                      <a:pPr indent="0" marL="0">
                        <a:buNone/>
                      </a:pPr>
                      <a:r>
                        <a:rPr lang="en-US" sz="1150" dirty="0">
                          <a:solidFill>
                            <a:srgbClr val="4A5568"/>
                          </a:solidFill>
                          <a:latin typeface="Calibri" pitchFamily="34" charset="0"/>
                          <a:ea typeface="Calibri" pitchFamily="34" charset="-122"/>
                          <a:cs typeface="Calibri" pitchFamily="34" charset="-120"/>
                        </a:rPr>
                        <a:t>Driver’s response</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r>
              <a:tr h="329184">
                <a:tc>
                  <a:txBody>
                    <a:bodyPr/>
                    <a:lstStyle/>
                    <a:p>
                      <a:pPr indent="0" marL="0">
                        <a:buNone/>
                      </a:pPr>
                      <a:r>
                        <a:rPr lang="en-US" sz="1150" b="1" dirty="0">
                          <a:solidFill>
                            <a:srgbClr val="4A5568"/>
                          </a:solidFill>
                          <a:latin typeface="Calibri" pitchFamily="34" charset="0"/>
                          <a:ea typeface="Calibri" pitchFamily="34" charset="-122"/>
                          <a:cs typeface="Calibri" pitchFamily="34" charset="-120"/>
                        </a:rPr>
                        <a:t>DELETE</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13203A"/>
                          </a:solidFill>
                          <a:latin typeface="Courier New" pitchFamily="34" charset="0"/>
                          <a:ea typeface="Courier New" pitchFamily="34" charset="-122"/>
                          <a:cs typeface="Courier New" pitchFamily="34" charset="-120"/>
                        </a:rPr>
                        <a:t>/api/assignments/{id}</a:t>
                      </a:r>
                      <a:endParaRPr lang="en-US" sz="1150" dirty="0">
                        <a:latin typeface="Courier New" charset="0"/>
                        <a:ea typeface="Courier New" charset="0"/>
                        <a:cs typeface="Courier New"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4A5568"/>
                          </a:solidFill>
                          <a:latin typeface="Calibri" pitchFamily="34" charset="0"/>
                          <a:ea typeface="Calibri" pitchFamily="34" charset="-122"/>
                          <a:cs typeface="Calibri" pitchFamily="34" charset="-120"/>
                        </a:rPr>
                        <a:t>Unassign</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4A5568"/>
                          </a:solidFill>
                          <a:latin typeface="Calibri" pitchFamily="34" charset="0"/>
                          <a:ea typeface="Calibri" pitchFamily="34" charset="-122"/>
                          <a:cs typeface="Calibri" pitchFamily="34" charset="-120"/>
                        </a:rPr>
                        <a:t>POST / GET</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c>
                  <a:txBody>
                    <a:bodyPr/>
                    <a:lstStyle/>
                    <a:p>
                      <a:pPr indent="0" marL="0">
                        <a:buNone/>
                      </a:pPr>
                      <a:r>
                        <a:rPr lang="en-US" sz="1150" dirty="0">
                          <a:solidFill>
                            <a:srgbClr val="13203A"/>
                          </a:solidFill>
                          <a:latin typeface="Courier New" pitchFamily="34" charset="0"/>
                          <a:ea typeface="Courier New" pitchFamily="34" charset="-122"/>
                          <a:cs typeface="Courier New" pitchFamily="34" charset="-120"/>
                        </a:rPr>
                        <a:t>/api/ai/ask  ·  /api/ai/status</a:t>
                      </a:r>
                      <a:endParaRPr lang="en-US" sz="1150" dirty="0">
                        <a:latin typeface="Courier New" charset="0"/>
                        <a:ea typeface="Courier New" charset="0"/>
                        <a:cs typeface="Courier New"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c>
                  <a:txBody>
                    <a:bodyPr/>
                    <a:lstStyle/>
                    <a:p>
                      <a:pPr indent="0" marL="0">
                        <a:buNone/>
                      </a:pPr>
                      <a:r>
                        <a:rPr lang="en-US" sz="1150" dirty="0">
                          <a:solidFill>
                            <a:srgbClr val="4A5568"/>
                          </a:solidFill>
                          <a:latin typeface="Calibri" pitchFamily="34" charset="0"/>
                          <a:ea typeface="Calibri" pitchFamily="34" charset="-122"/>
                          <a:cs typeface="Calibri" pitchFamily="34" charset="-120"/>
                        </a:rPr>
                        <a:t>Ask the assistant · model status</a:t>
                      </a:r>
                      <a:endParaRPr lang="en-US" sz="1150" dirty="0">
                        <a:latin typeface="Calibri" charset="0"/>
                        <a:ea typeface="Calibri" charset="0"/>
                        <a:cs typeface="Calibri" charset="0"/>
                      </a:endParaRPr>
                    </a:p>
                  </a:txBody>
                  <a:tcPr marL="91440" marR="9144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300" kern="0" dirty="0">
                <a:solidFill>
                  <a:srgbClr val="9A5B00"/>
                </a:solidFill>
                <a:latin typeface="Calibri" pitchFamily="34" charset="0"/>
                <a:ea typeface="Calibri" pitchFamily="34" charset="-122"/>
                <a:cs typeface="Calibri" pitchFamily="34" charset="-120"/>
              </a:rPr>
              <a:t>FRONTEND</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3203A"/>
                </a:solidFill>
                <a:latin typeface="Cambria" pitchFamily="34" charset="0"/>
                <a:ea typeface="Cambria" pitchFamily="34" charset="-122"/>
                <a:cs typeface="Cambria" pitchFamily="34" charset="-120"/>
              </a:rPr>
              <a:t>Angular single-page app</a:t>
            </a:r>
            <a:endParaRPr lang="en-US" sz="3400" dirty="0"/>
          </a:p>
        </p:txBody>
      </p:sp>
      <p:sp>
        <p:nvSpPr>
          <p:cNvPr id="4" name="Text 2"/>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4A5568"/>
                </a:solidFill>
                <a:latin typeface="Calibri" pitchFamily="34" charset="0"/>
                <a:ea typeface="Calibri" pitchFamily="34" charset="-122"/>
                <a:cs typeface="Calibri" pitchFamily="34" charset="-120"/>
              </a:rPr>
              <a:t>12</a:t>
            </a:r>
            <a:endParaRPr lang="en-US" sz="1000" dirty="0"/>
          </a:p>
        </p:txBody>
      </p:sp>
      <p:sp>
        <p:nvSpPr>
          <p:cNvPr id="5" name="Shape 3"/>
          <p:cNvSpPr/>
          <p:nvPr/>
        </p:nvSpPr>
        <p:spPr>
          <a:xfrm>
            <a:off x="548640" y="1645920"/>
            <a:ext cx="548640" cy="548640"/>
          </a:xfrm>
          <a:prstGeom prst="ellipse">
            <a:avLst/>
          </a:prstGeom>
          <a:solidFill>
            <a:srgbClr val="F2A541"/>
          </a:solidFill>
          <a:ln w="12700">
            <a:solidFill>
              <a:srgbClr val="F2A541"/>
            </a:solidFill>
            <a:prstDash val="solid"/>
          </a:ln>
        </p:spPr>
      </p:sp>
      <p:pic>
        <p:nvPicPr>
          <p:cNvPr id="6" name="Image 0" descr="preencoded.png">    </p:cNvPr>
          <p:cNvPicPr>
            <a:picLocks noChangeAspect="1"/>
          </p:cNvPicPr>
          <p:nvPr/>
        </p:nvPicPr>
        <p:blipFill>
          <a:blip r:embed="rId1"/>
          <a:stretch>
            <a:fillRect/>
          </a:stretch>
        </p:blipFill>
        <p:spPr>
          <a:xfrm>
            <a:off x="685800" y="1783080"/>
            <a:ext cx="274320" cy="274320"/>
          </a:xfrm>
          <a:prstGeom prst="rect">
            <a:avLst/>
          </a:prstGeom>
        </p:spPr>
      </p:pic>
      <p:sp>
        <p:nvSpPr>
          <p:cNvPr id="7" name="Text 4"/>
          <p:cNvSpPr txBox="1"/>
          <p:nvPr/>
        </p:nvSpPr>
        <p:spPr>
          <a:xfrm>
            <a:off x="1325880" y="1618488"/>
            <a:ext cx="4023360" cy="320040"/>
          </a:xfrm>
          <a:prstGeom prst="rect">
            <a:avLst/>
          </a:prstGeom>
          <a:noFill/>
          <a:ln/>
        </p:spPr>
        <p:txBody>
          <a:bodyPr wrap="square" lIns="0" tIns="0" rIns="0" bIns="0" rtlCol="0" anchor="t"/>
          <a:lstStyle/>
          <a:p>
            <a:pPr indent="0" marL="0">
              <a:buNone/>
            </a:pPr>
            <a:r>
              <a:rPr lang="en-US" sz="1500" b="1" dirty="0">
                <a:solidFill>
                  <a:srgbClr val="13203A"/>
                </a:solidFill>
                <a:latin typeface="Calibri" pitchFamily="34" charset="0"/>
                <a:ea typeface="Calibri" pitchFamily="34" charset="-122"/>
                <a:cs typeface="Calibri" pitchFamily="34" charset="-120"/>
              </a:rPr>
              <a:t>12 routed pages</a:t>
            </a:r>
            <a:endParaRPr lang="en-US" sz="1500" dirty="0"/>
          </a:p>
        </p:txBody>
      </p:sp>
      <p:sp>
        <p:nvSpPr>
          <p:cNvPr id="8" name="Text 5"/>
          <p:cNvSpPr txBox="1"/>
          <p:nvPr/>
        </p:nvSpPr>
        <p:spPr>
          <a:xfrm>
            <a:off x="1325880" y="1920240"/>
            <a:ext cx="4206240" cy="50292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Dashboard, 7 admin pages, 3 driver pages, AI chat</a:t>
            </a:r>
            <a:endParaRPr lang="en-US" sz="1200" dirty="0"/>
          </a:p>
        </p:txBody>
      </p:sp>
      <p:sp>
        <p:nvSpPr>
          <p:cNvPr id="9" name="Shape 6"/>
          <p:cNvSpPr/>
          <p:nvPr/>
        </p:nvSpPr>
        <p:spPr>
          <a:xfrm>
            <a:off x="548640" y="2542032"/>
            <a:ext cx="548640" cy="548640"/>
          </a:xfrm>
          <a:prstGeom prst="ellipse">
            <a:avLst/>
          </a:prstGeom>
          <a:solidFill>
            <a:srgbClr val="F2A541"/>
          </a:solidFill>
          <a:ln w="12700">
            <a:solidFill>
              <a:srgbClr val="F2A541"/>
            </a:solidFill>
            <a:prstDash val="solid"/>
          </a:ln>
        </p:spPr>
      </p:sp>
      <p:pic>
        <p:nvPicPr>
          <p:cNvPr id="10" name="Image 1" descr="preencoded.png">    </p:cNvPr>
          <p:cNvPicPr>
            <a:picLocks noChangeAspect="1"/>
          </p:cNvPicPr>
          <p:nvPr/>
        </p:nvPicPr>
        <p:blipFill>
          <a:blip r:embed="rId2"/>
          <a:stretch>
            <a:fillRect/>
          </a:stretch>
        </p:blipFill>
        <p:spPr>
          <a:xfrm>
            <a:off x="685800" y="2679192"/>
            <a:ext cx="274320" cy="274320"/>
          </a:xfrm>
          <a:prstGeom prst="rect">
            <a:avLst/>
          </a:prstGeom>
        </p:spPr>
      </p:pic>
      <p:sp>
        <p:nvSpPr>
          <p:cNvPr id="11" name="Text 7"/>
          <p:cNvSpPr txBox="1"/>
          <p:nvPr/>
        </p:nvSpPr>
        <p:spPr>
          <a:xfrm>
            <a:off x="1325880" y="2514600"/>
            <a:ext cx="4023360" cy="320040"/>
          </a:xfrm>
          <a:prstGeom prst="rect">
            <a:avLst/>
          </a:prstGeom>
          <a:noFill/>
          <a:ln/>
        </p:spPr>
        <p:txBody>
          <a:bodyPr wrap="square" lIns="0" tIns="0" rIns="0" bIns="0" rtlCol="0" anchor="t"/>
          <a:lstStyle/>
          <a:p>
            <a:pPr indent="0" marL="0">
              <a:buNone/>
            </a:pPr>
            <a:r>
              <a:rPr lang="en-US" sz="1500" b="1" dirty="0">
                <a:solidFill>
                  <a:srgbClr val="13203A"/>
                </a:solidFill>
                <a:latin typeface="Calibri" pitchFamily="34" charset="0"/>
                <a:ea typeface="Calibri" pitchFamily="34" charset="-122"/>
                <a:cs typeface="Calibri" pitchFamily="34" charset="-120"/>
              </a:rPr>
              <a:t>Modern Angular</a:t>
            </a:r>
            <a:endParaRPr lang="en-US" sz="1500" dirty="0"/>
          </a:p>
        </p:txBody>
      </p:sp>
      <p:sp>
        <p:nvSpPr>
          <p:cNvPr id="12" name="Text 8"/>
          <p:cNvSpPr txBox="1"/>
          <p:nvPr/>
        </p:nvSpPr>
        <p:spPr>
          <a:xfrm>
            <a:off x="1325880" y="2816352"/>
            <a:ext cx="4206240" cy="50292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Standalone components, signals, zoneless change detection</a:t>
            </a:r>
            <a:endParaRPr lang="en-US" sz="1200" dirty="0"/>
          </a:p>
        </p:txBody>
      </p:sp>
      <p:sp>
        <p:nvSpPr>
          <p:cNvPr id="13" name="Shape 9"/>
          <p:cNvSpPr/>
          <p:nvPr/>
        </p:nvSpPr>
        <p:spPr>
          <a:xfrm>
            <a:off x="548640" y="3438144"/>
            <a:ext cx="548640" cy="548640"/>
          </a:xfrm>
          <a:prstGeom prst="ellipse">
            <a:avLst/>
          </a:prstGeom>
          <a:solidFill>
            <a:srgbClr val="F2A541"/>
          </a:solidFill>
          <a:ln w="12700">
            <a:solidFill>
              <a:srgbClr val="F2A541"/>
            </a:solidFill>
            <a:prstDash val="solid"/>
          </a:ln>
        </p:spPr>
      </p:sp>
      <p:pic>
        <p:nvPicPr>
          <p:cNvPr id="14" name="Image 2" descr="preencoded.png">    </p:cNvPr>
          <p:cNvPicPr>
            <a:picLocks noChangeAspect="1"/>
          </p:cNvPicPr>
          <p:nvPr/>
        </p:nvPicPr>
        <p:blipFill>
          <a:blip r:embed="rId3"/>
          <a:stretch>
            <a:fillRect/>
          </a:stretch>
        </p:blipFill>
        <p:spPr>
          <a:xfrm>
            <a:off x="685800" y="3575304"/>
            <a:ext cx="274320" cy="274320"/>
          </a:xfrm>
          <a:prstGeom prst="rect">
            <a:avLst/>
          </a:prstGeom>
        </p:spPr>
      </p:pic>
      <p:sp>
        <p:nvSpPr>
          <p:cNvPr id="15" name="Text 10"/>
          <p:cNvSpPr txBox="1"/>
          <p:nvPr/>
        </p:nvSpPr>
        <p:spPr>
          <a:xfrm>
            <a:off x="1325880" y="3410712"/>
            <a:ext cx="4023360" cy="320040"/>
          </a:xfrm>
          <a:prstGeom prst="rect">
            <a:avLst/>
          </a:prstGeom>
          <a:noFill/>
          <a:ln/>
        </p:spPr>
        <p:txBody>
          <a:bodyPr wrap="square" lIns="0" tIns="0" rIns="0" bIns="0" rtlCol="0" anchor="t"/>
          <a:lstStyle/>
          <a:p>
            <a:pPr indent="0" marL="0">
              <a:buNone/>
            </a:pPr>
            <a:r>
              <a:rPr lang="en-US" sz="1500" b="1" dirty="0">
                <a:solidFill>
                  <a:srgbClr val="13203A"/>
                </a:solidFill>
                <a:latin typeface="Calibri" pitchFamily="34" charset="0"/>
                <a:ea typeface="Calibri" pitchFamily="34" charset="-122"/>
                <a:cs typeface="Calibri" pitchFamily="34" charset="-120"/>
              </a:rPr>
              <a:t>Typed API layer</a:t>
            </a:r>
            <a:endParaRPr lang="en-US" sz="1500" dirty="0"/>
          </a:p>
        </p:txBody>
      </p:sp>
      <p:sp>
        <p:nvSpPr>
          <p:cNvPr id="16" name="Text 11"/>
          <p:cNvSpPr txBox="1"/>
          <p:nvPr/>
        </p:nvSpPr>
        <p:spPr>
          <a:xfrm>
            <a:off x="1325880" y="3712464"/>
            <a:ext cx="4206240" cy="50292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One ApiService; shared models mirror the backend DTOs</a:t>
            </a:r>
            <a:endParaRPr lang="en-US" sz="1200" dirty="0"/>
          </a:p>
        </p:txBody>
      </p:sp>
      <p:sp>
        <p:nvSpPr>
          <p:cNvPr id="17" name="Shape 12"/>
          <p:cNvSpPr/>
          <p:nvPr/>
        </p:nvSpPr>
        <p:spPr>
          <a:xfrm>
            <a:off x="548640" y="4334256"/>
            <a:ext cx="548640" cy="548640"/>
          </a:xfrm>
          <a:prstGeom prst="ellipse">
            <a:avLst/>
          </a:prstGeom>
          <a:solidFill>
            <a:srgbClr val="F2A541"/>
          </a:solidFill>
          <a:ln w="12700">
            <a:solidFill>
              <a:srgbClr val="F2A541"/>
            </a:solidFill>
            <a:prstDash val="solid"/>
          </a:ln>
        </p:spPr>
      </p:sp>
      <p:pic>
        <p:nvPicPr>
          <p:cNvPr id="18" name="Image 3" descr="preencoded.png">    </p:cNvPr>
          <p:cNvPicPr>
            <a:picLocks noChangeAspect="1"/>
          </p:cNvPicPr>
          <p:nvPr/>
        </p:nvPicPr>
        <p:blipFill>
          <a:blip r:embed="rId4"/>
          <a:stretch>
            <a:fillRect/>
          </a:stretch>
        </p:blipFill>
        <p:spPr>
          <a:xfrm>
            <a:off x="685800" y="4471416"/>
            <a:ext cx="274320" cy="274320"/>
          </a:xfrm>
          <a:prstGeom prst="rect">
            <a:avLst/>
          </a:prstGeom>
        </p:spPr>
      </p:pic>
      <p:sp>
        <p:nvSpPr>
          <p:cNvPr id="19" name="Text 13"/>
          <p:cNvSpPr txBox="1"/>
          <p:nvPr/>
        </p:nvSpPr>
        <p:spPr>
          <a:xfrm>
            <a:off x="1325880" y="4306824"/>
            <a:ext cx="4023360" cy="320040"/>
          </a:xfrm>
          <a:prstGeom prst="rect">
            <a:avLst/>
          </a:prstGeom>
          <a:noFill/>
          <a:ln/>
        </p:spPr>
        <p:txBody>
          <a:bodyPr wrap="square" lIns="0" tIns="0" rIns="0" bIns="0" rtlCol="0" anchor="t"/>
          <a:lstStyle/>
          <a:p>
            <a:pPr indent="0" marL="0">
              <a:buNone/>
            </a:pPr>
            <a:r>
              <a:rPr lang="en-US" sz="1500" b="1" dirty="0">
                <a:solidFill>
                  <a:srgbClr val="13203A"/>
                </a:solidFill>
                <a:latin typeface="Calibri" pitchFamily="34" charset="0"/>
                <a:ea typeface="Calibri" pitchFamily="34" charset="-122"/>
                <a:cs typeface="Calibri" pitchFamily="34" charset="-120"/>
              </a:rPr>
              <a:t>Driver session</a:t>
            </a:r>
            <a:endParaRPr lang="en-US" sz="1500" dirty="0"/>
          </a:p>
        </p:txBody>
      </p:sp>
      <p:sp>
        <p:nvSpPr>
          <p:cNvPr id="20" name="Text 14"/>
          <p:cNvSpPr txBox="1"/>
          <p:nvPr/>
        </p:nvSpPr>
        <p:spPr>
          <a:xfrm>
            <a:off x="1325880" y="4608576"/>
            <a:ext cx="4206240" cy="50292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Route guard protects “My assignments”; session in browser storage</a:t>
            </a:r>
            <a:endParaRPr lang="en-US" sz="1200" dirty="0"/>
          </a:p>
        </p:txBody>
      </p:sp>
      <p:sp>
        <p:nvSpPr>
          <p:cNvPr id="21" name="Shape 15"/>
          <p:cNvSpPr/>
          <p:nvPr/>
        </p:nvSpPr>
        <p:spPr>
          <a:xfrm>
            <a:off x="548640" y="5230368"/>
            <a:ext cx="548640" cy="548640"/>
          </a:xfrm>
          <a:prstGeom prst="ellipse">
            <a:avLst/>
          </a:prstGeom>
          <a:solidFill>
            <a:srgbClr val="F2A541"/>
          </a:solidFill>
          <a:ln w="12700">
            <a:solidFill>
              <a:srgbClr val="F2A541"/>
            </a:solidFill>
            <a:prstDash val="solid"/>
          </a:ln>
        </p:spPr>
      </p:sp>
      <p:pic>
        <p:nvPicPr>
          <p:cNvPr id="22" name="Image 4" descr="preencoded.png">    </p:cNvPr>
          <p:cNvPicPr>
            <a:picLocks noChangeAspect="1"/>
          </p:cNvPicPr>
          <p:nvPr/>
        </p:nvPicPr>
        <p:blipFill>
          <a:blip r:embed="rId5"/>
          <a:stretch>
            <a:fillRect/>
          </a:stretch>
        </p:blipFill>
        <p:spPr>
          <a:xfrm>
            <a:off x="685800" y="5367528"/>
            <a:ext cx="274320" cy="274320"/>
          </a:xfrm>
          <a:prstGeom prst="rect">
            <a:avLst/>
          </a:prstGeom>
        </p:spPr>
      </p:pic>
      <p:sp>
        <p:nvSpPr>
          <p:cNvPr id="23" name="Text 16"/>
          <p:cNvSpPr txBox="1"/>
          <p:nvPr/>
        </p:nvSpPr>
        <p:spPr>
          <a:xfrm>
            <a:off x="1325880" y="5202936"/>
            <a:ext cx="4023360" cy="320040"/>
          </a:xfrm>
          <a:prstGeom prst="rect">
            <a:avLst/>
          </a:prstGeom>
          <a:noFill/>
          <a:ln/>
        </p:spPr>
        <p:txBody>
          <a:bodyPr wrap="square" lIns="0" tIns="0" rIns="0" bIns="0" rtlCol="0" anchor="t"/>
          <a:lstStyle/>
          <a:p>
            <a:pPr indent="0" marL="0">
              <a:buNone/>
            </a:pPr>
            <a:r>
              <a:rPr lang="en-US" sz="1500" b="1" dirty="0">
                <a:solidFill>
                  <a:srgbClr val="13203A"/>
                </a:solidFill>
                <a:latin typeface="Calibri" pitchFamily="34" charset="0"/>
                <a:ea typeface="Calibri" pitchFamily="34" charset="-122"/>
                <a:cs typeface="Calibri" pitchFamily="34" charset="-120"/>
              </a:rPr>
              <a:t>Responsive</a:t>
            </a:r>
            <a:endParaRPr lang="en-US" sz="1500" dirty="0"/>
          </a:p>
        </p:txBody>
      </p:sp>
      <p:sp>
        <p:nvSpPr>
          <p:cNvPr id="24" name="Text 17"/>
          <p:cNvSpPr txBox="1"/>
          <p:nvPr/>
        </p:nvSpPr>
        <p:spPr>
          <a:xfrm>
            <a:off x="1325880" y="5504688"/>
            <a:ext cx="4206240" cy="50292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Works on phones and tablets as well as desktops</a:t>
            </a:r>
            <a:endParaRPr lang="en-US" sz="1200" dirty="0"/>
          </a:p>
        </p:txBody>
      </p:sp>
      <p:pic>
        <p:nvPicPr>
          <p:cNvPr id="25" name="Image 5" descr="preencoded.png">    </p:cNvPr>
          <p:cNvPicPr>
            <a:picLocks noChangeAspect="1"/>
          </p:cNvPicPr>
          <p:nvPr/>
        </p:nvPicPr>
        <p:blipFill>
          <a:blip r:embed="rId6"/>
          <a:stretch>
            <a:fillRect/>
          </a:stretch>
        </p:blipFill>
        <p:spPr>
          <a:xfrm>
            <a:off x="5669280" y="1645920"/>
            <a:ext cx="5943600" cy="3995928"/>
          </a:xfrm>
          <a:prstGeom prst="rect">
            <a:avLst/>
          </a:prstGeom>
        </p:spPr>
      </p:pic>
      <p:sp>
        <p:nvSpPr>
          <p:cNvPr id="26" name="Shape 18"/>
          <p:cNvSpPr/>
          <p:nvPr/>
        </p:nvSpPr>
        <p:spPr>
          <a:xfrm>
            <a:off x="5669280" y="1645920"/>
            <a:ext cx="5943600" cy="3995928"/>
          </a:xfrm>
          <a:prstGeom prst="rect">
            <a:avLst/>
          </a:prstGeom>
          <a:ln w="12700">
            <a:solidFill>
              <a:srgbClr val="DDE1E8"/>
            </a:solidFill>
            <a:prstDash val="solid"/>
          </a:ln>
        </p:spPr>
      </p:sp>
      <p:sp>
        <p:nvSpPr>
          <p:cNvPr id="27" name="Text 19"/>
          <p:cNvSpPr txBox="1"/>
          <p:nvPr/>
        </p:nvSpPr>
        <p:spPr>
          <a:xfrm>
            <a:off x="5669280" y="5760720"/>
            <a:ext cx="5943600" cy="320040"/>
          </a:xfrm>
          <a:prstGeom prst="rect">
            <a:avLst/>
          </a:prstGeom>
          <a:noFill/>
          <a:ln/>
        </p:spPr>
        <p:txBody>
          <a:bodyPr wrap="square" lIns="0" tIns="0" rIns="0" bIns="0" rtlCol="0" anchor="t"/>
          <a:lstStyle/>
          <a:p>
            <a:pPr algn="ctr" indent="0" marL="0">
              <a:buNone/>
            </a:pPr>
            <a:r>
              <a:rPr lang="en-US" sz="1200" i="1" dirty="0">
                <a:solidFill>
                  <a:srgbClr val="4A5568"/>
                </a:solidFill>
                <a:latin typeface="Calibri" pitchFamily="34" charset="0"/>
                <a:ea typeface="Calibri" pitchFamily="34" charset="-122"/>
                <a:cs typeface="Calibri" pitchFamily="34" charset="-120"/>
              </a:rPr>
              <a:t>Fleet dashboard: live counts and who is on duty now</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03A"/>
        </a:solidFill>
      </p:bgPr>
    </p:bg>
    <p:spTree>
      <p:nvGrpSpPr>
        <p:cNvPr id="1" name=""/>
        <p:cNvGrpSpPr/>
        <p:nvPr/>
      </p:nvGrpSpPr>
      <p:grpSpPr>
        <a:xfrm>
          <a:off x="0" y="0"/>
          <a:ext cx="0" cy="0"/>
          <a:chOff x="0" y="0"/>
          <a:chExt cx="0" cy="0"/>
        </a:xfrm>
      </p:grpSpPr>
      <p:sp>
        <p:nvSpPr>
          <p:cNvPr id="2" name="Text 0"/>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B8C4D9"/>
                </a:solidFill>
                <a:latin typeface="Calibri" pitchFamily="34" charset="0"/>
                <a:ea typeface="Calibri" pitchFamily="34" charset="-122"/>
                <a:cs typeface="Calibri" pitchFamily="34" charset="-120"/>
              </a:rPr>
              <a:t>13</a:t>
            </a:r>
            <a:endParaRPr lang="en-US" sz="1000" dirty="0"/>
          </a:p>
        </p:txBody>
      </p:sp>
      <p:sp>
        <p:nvSpPr>
          <p:cNvPr id="3" name="Shape 1"/>
          <p:cNvSpPr/>
          <p:nvPr/>
        </p:nvSpPr>
        <p:spPr>
          <a:xfrm>
            <a:off x="548640" y="822960"/>
            <a:ext cx="914400" cy="914400"/>
          </a:xfrm>
          <a:prstGeom prst="ellipse">
            <a:avLst/>
          </a:prstGeom>
          <a:solidFill>
            <a:srgbClr val="F2A541"/>
          </a:solidFill>
          <a:ln w="12700">
            <a:solidFill>
              <a:srgbClr val="F2A541"/>
            </a:solidFill>
            <a:prstDash val="solid"/>
          </a:ln>
        </p:spPr>
      </p:sp>
      <p:pic>
        <p:nvPicPr>
          <p:cNvPr id="4" name="Image 0" descr="preencoded.png">    </p:cNvPr>
          <p:cNvPicPr>
            <a:picLocks noChangeAspect="1"/>
          </p:cNvPicPr>
          <p:nvPr/>
        </p:nvPicPr>
        <p:blipFill>
          <a:blip r:embed="rId1"/>
          <a:stretch>
            <a:fillRect/>
          </a:stretch>
        </p:blipFill>
        <p:spPr>
          <a:xfrm>
            <a:off x="777240" y="1051560"/>
            <a:ext cx="457200" cy="457200"/>
          </a:xfrm>
          <a:prstGeom prst="rect">
            <a:avLst/>
          </a:prstGeom>
        </p:spPr>
      </p:pic>
      <p:sp>
        <p:nvSpPr>
          <p:cNvPr id="5" name="Text 2"/>
          <p:cNvSpPr txBox="1"/>
          <p:nvPr/>
        </p:nvSpPr>
        <p:spPr>
          <a:xfrm>
            <a:off x="1737360" y="1097280"/>
            <a:ext cx="5486400" cy="365760"/>
          </a:xfrm>
          <a:prstGeom prst="rect">
            <a:avLst/>
          </a:prstGeom>
          <a:noFill/>
          <a:ln/>
        </p:spPr>
        <p:txBody>
          <a:bodyPr wrap="square" lIns="0" tIns="0" rIns="0" bIns="0" rtlCol="0" anchor="ctr"/>
          <a:lstStyle/>
          <a:p>
            <a:pPr indent="0" marL="0">
              <a:buNone/>
            </a:pPr>
            <a:r>
              <a:rPr lang="en-US" sz="1400" b="1" spc="400" kern="0" dirty="0">
                <a:solidFill>
                  <a:srgbClr val="F2A541"/>
                </a:solidFill>
                <a:latin typeface="Calibri" pitchFamily="34" charset="0"/>
                <a:ea typeface="Calibri" pitchFamily="34" charset="-122"/>
                <a:cs typeface="Calibri" pitchFamily="34" charset="-120"/>
              </a:rPr>
              <a:t>THE AI LAYER</a:t>
            </a:r>
            <a:endParaRPr lang="en-US" sz="1400" dirty="0"/>
          </a:p>
        </p:txBody>
      </p:sp>
      <p:sp>
        <p:nvSpPr>
          <p:cNvPr id="6" name="Text 3"/>
          <p:cNvSpPr txBox="1"/>
          <p:nvPr/>
        </p:nvSpPr>
        <p:spPr>
          <a:xfrm>
            <a:off x="548640" y="2103120"/>
            <a:ext cx="10515600" cy="146304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Ask the fleet a question in plain English</a:t>
            </a:r>
            <a:endParaRPr lang="en-US" sz="4600" dirty="0"/>
          </a:p>
        </p:txBody>
      </p:sp>
      <p:sp>
        <p:nvSpPr>
          <p:cNvPr id="7" name="Shape 4"/>
          <p:cNvSpPr/>
          <p:nvPr/>
        </p:nvSpPr>
        <p:spPr>
          <a:xfrm>
            <a:off x="548640" y="4206240"/>
            <a:ext cx="3520440" cy="1463040"/>
          </a:xfrm>
          <a:prstGeom prst="roundRect">
            <a:avLst>
              <a:gd name="adj" fmla="val 6250"/>
            </a:avLst>
          </a:prstGeom>
          <a:solidFill>
            <a:srgbClr val="22325A"/>
          </a:solidFill>
          <a:ln w="12700">
            <a:solidFill>
              <a:srgbClr val="22325A"/>
            </a:solidFill>
            <a:prstDash val="solid"/>
          </a:ln>
        </p:spPr>
      </p:sp>
      <p:sp>
        <p:nvSpPr>
          <p:cNvPr id="8" name="Shape 5"/>
          <p:cNvSpPr/>
          <p:nvPr/>
        </p:nvSpPr>
        <p:spPr>
          <a:xfrm>
            <a:off x="822960" y="4617720"/>
            <a:ext cx="640080" cy="640080"/>
          </a:xfrm>
          <a:prstGeom prst="ellipse">
            <a:avLst/>
          </a:prstGeom>
          <a:solidFill>
            <a:srgbClr val="F2A541"/>
          </a:solidFill>
          <a:ln w="12700">
            <a:solidFill>
              <a:srgbClr val="F2A541"/>
            </a:solidFill>
            <a:prstDash val="solid"/>
          </a:ln>
        </p:spPr>
      </p:sp>
      <p:pic>
        <p:nvPicPr>
          <p:cNvPr id="9" name="Image 1" descr="preencoded.png">    </p:cNvPr>
          <p:cNvPicPr>
            <a:picLocks noChangeAspect="1"/>
          </p:cNvPicPr>
          <p:nvPr/>
        </p:nvPicPr>
        <p:blipFill>
          <a:blip r:embed="rId2"/>
          <a:stretch>
            <a:fillRect/>
          </a:stretch>
        </p:blipFill>
        <p:spPr>
          <a:xfrm>
            <a:off x="982980" y="4777740"/>
            <a:ext cx="320040" cy="320040"/>
          </a:xfrm>
          <a:prstGeom prst="rect">
            <a:avLst/>
          </a:prstGeom>
        </p:spPr>
      </p:pic>
      <p:sp>
        <p:nvSpPr>
          <p:cNvPr id="10" name="Text 6"/>
          <p:cNvSpPr txBox="1"/>
          <p:nvPr/>
        </p:nvSpPr>
        <p:spPr>
          <a:xfrm>
            <a:off x="1645920" y="4526280"/>
            <a:ext cx="228600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Private</a:t>
            </a:r>
            <a:endParaRPr lang="en-US" sz="1800" dirty="0"/>
          </a:p>
        </p:txBody>
      </p:sp>
      <p:sp>
        <p:nvSpPr>
          <p:cNvPr id="11" name="Text 7"/>
          <p:cNvSpPr txBox="1"/>
          <p:nvPr/>
        </p:nvSpPr>
        <p:spPr>
          <a:xfrm>
            <a:off x="1645920" y="4919472"/>
            <a:ext cx="2286000" cy="548640"/>
          </a:xfrm>
          <a:prstGeom prst="rect">
            <a:avLst/>
          </a:prstGeom>
          <a:noFill/>
          <a:ln/>
        </p:spPr>
        <p:txBody>
          <a:bodyPr wrap="square" lIns="0" tIns="0" rIns="0" bIns="0" rtlCol="0" anchor="t"/>
          <a:lstStyle/>
          <a:p>
            <a:pPr indent="0" marL="0">
              <a:buNone/>
            </a:pPr>
            <a:r>
              <a:rPr lang="en-US" sz="1300" dirty="0">
                <a:solidFill>
                  <a:srgbClr val="B8C4D9"/>
                </a:solidFill>
                <a:latin typeface="Calibri" pitchFamily="34" charset="0"/>
                <a:ea typeface="Calibri" pitchFamily="34" charset="-122"/>
                <a:cs typeface="Calibri" pitchFamily="34" charset="-120"/>
              </a:rPr>
              <a:t>Data never leaves our server</a:t>
            </a:r>
            <a:endParaRPr lang="en-US" sz="1300" dirty="0"/>
          </a:p>
        </p:txBody>
      </p:sp>
      <p:sp>
        <p:nvSpPr>
          <p:cNvPr id="12" name="Shape 8"/>
          <p:cNvSpPr/>
          <p:nvPr/>
        </p:nvSpPr>
        <p:spPr>
          <a:xfrm>
            <a:off x="4297680" y="4206240"/>
            <a:ext cx="3520440" cy="1463040"/>
          </a:xfrm>
          <a:prstGeom prst="roundRect">
            <a:avLst>
              <a:gd name="adj" fmla="val 6250"/>
            </a:avLst>
          </a:prstGeom>
          <a:solidFill>
            <a:srgbClr val="22325A"/>
          </a:solidFill>
          <a:ln w="12700">
            <a:solidFill>
              <a:srgbClr val="22325A"/>
            </a:solidFill>
            <a:prstDash val="solid"/>
          </a:ln>
        </p:spPr>
      </p:sp>
      <p:sp>
        <p:nvSpPr>
          <p:cNvPr id="13" name="Shape 9"/>
          <p:cNvSpPr/>
          <p:nvPr/>
        </p:nvSpPr>
        <p:spPr>
          <a:xfrm>
            <a:off x="4572000" y="4617720"/>
            <a:ext cx="640080" cy="640080"/>
          </a:xfrm>
          <a:prstGeom prst="ellipse">
            <a:avLst/>
          </a:prstGeom>
          <a:solidFill>
            <a:srgbClr val="F2A541"/>
          </a:solidFill>
          <a:ln w="12700">
            <a:solidFill>
              <a:srgbClr val="F2A541"/>
            </a:solidFill>
            <a:prstDash val="solid"/>
          </a:ln>
        </p:spPr>
      </p:sp>
      <p:pic>
        <p:nvPicPr>
          <p:cNvPr id="14" name="Image 2" descr="preencoded.png">    </p:cNvPr>
          <p:cNvPicPr>
            <a:picLocks noChangeAspect="1"/>
          </p:cNvPicPr>
          <p:nvPr/>
        </p:nvPicPr>
        <p:blipFill>
          <a:blip r:embed="rId3"/>
          <a:stretch>
            <a:fillRect/>
          </a:stretch>
        </p:blipFill>
        <p:spPr>
          <a:xfrm>
            <a:off x="4732020" y="4777740"/>
            <a:ext cx="320040" cy="320040"/>
          </a:xfrm>
          <a:prstGeom prst="rect">
            <a:avLst/>
          </a:prstGeom>
        </p:spPr>
      </p:pic>
      <p:sp>
        <p:nvSpPr>
          <p:cNvPr id="15" name="Text 10"/>
          <p:cNvSpPr txBox="1"/>
          <p:nvPr/>
        </p:nvSpPr>
        <p:spPr>
          <a:xfrm>
            <a:off x="5394960" y="4526280"/>
            <a:ext cx="228600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No API fees</a:t>
            </a:r>
            <a:endParaRPr lang="en-US" sz="1800" dirty="0"/>
          </a:p>
        </p:txBody>
      </p:sp>
      <p:sp>
        <p:nvSpPr>
          <p:cNvPr id="16" name="Text 11"/>
          <p:cNvSpPr txBox="1"/>
          <p:nvPr/>
        </p:nvSpPr>
        <p:spPr>
          <a:xfrm>
            <a:off x="5394960" y="4919472"/>
            <a:ext cx="2286000" cy="548640"/>
          </a:xfrm>
          <a:prstGeom prst="rect">
            <a:avLst/>
          </a:prstGeom>
          <a:noFill/>
          <a:ln/>
        </p:spPr>
        <p:txBody>
          <a:bodyPr wrap="square" lIns="0" tIns="0" rIns="0" bIns="0" rtlCol="0" anchor="t"/>
          <a:lstStyle/>
          <a:p>
            <a:pPr indent="0" marL="0">
              <a:buNone/>
            </a:pPr>
            <a:r>
              <a:rPr lang="en-US" sz="1300" dirty="0">
                <a:solidFill>
                  <a:srgbClr val="B8C4D9"/>
                </a:solidFill>
                <a:latin typeface="Calibri" pitchFamily="34" charset="0"/>
                <a:ea typeface="Calibri" pitchFamily="34" charset="-122"/>
                <a:cs typeface="Calibri" pitchFamily="34" charset="-120"/>
              </a:rPr>
              <a:t>Open-source model, free to run</a:t>
            </a:r>
            <a:endParaRPr lang="en-US" sz="1300" dirty="0"/>
          </a:p>
        </p:txBody>
      </p:sp>
      <p:sp>
        <p:nvSpPr>
          <p:cNvPr id="17" name="Shape 12"/>
          <p:cNvSpPr/>
          <p:nvPr/>
        </p:nvSpPr>
        <p:spPr>
          <a:xfrm>
            <a:off x="8046720" y="4206240"/>
            <a:ext cx="3520440" cy="1463040"/>
          </a:xfrm>
          <a:prstGeom prst="roundRect">
            <a:avLst>
              <a:gd name="adj" fmla="val 6250"/>
            </a:avLst>
          </a:prstGeom>
          <a:solidFill>
            <a:srgbClr val="22325A"/>
          </a:solidFill>
          <a:ln w="12700">
            <a:solidFill>
              <a:srgbClr val="22325A"/>
            </a:solidFill>
            <a:prstDash val="solid"/>
          </a:ln>
        </p:spPr>
      </p:sp>
      <p:sp>
        <p:nvSpPr>
          <p:cNvPr id="18" name="Shape 13"/>
          <p:cNvSpPr/>
          <p:nvPr/>
        </p:nvSpPr>
        <p:spPr>
          <a:xfrm>
            <a:off x="8321040" y="4617720"/>
            <a:ext cx="640080" cy="640080"/>
          </a:xfrm>
          <a:prstGeom prst="ellipse">
            <a:avLst/>
          </a:prstGeom>
          <a:solidFill>
            <a:srgbClr val="F2A541"/>
          </a:solidFill>
          <a:ln w="12700">
            <a:solidFill>
              <a:srgbClr val="F2A541"/>
            </a:solidFill>
            <a:prstDash val="solid"/>
          </a:ln>
        </p:spPr>
      </p:sp>
      <p:pic>
        <p:nvPicPr>
          <p:cNvPr id="19" name="Image 3" descr="preencoded.png">    </p:cNvPr>
          <p:cNvPicPr>
            <a:picLocks noChangeAspect="1"/>
          </p:cNvPicPr>
          <p:nvPr/>
        </p:nvPicPr>
        <p:blipFill>
          <a:blip r:embed="rId4"/>
          <a:stretch>
            <a:fillRect/>
          </a:stretch>
        </p:blipFill>
        <p:spPr>
          <a:xfrm>
            <a:off x="8481060" y="4777740"/>
            <a:ext cx="320040" cy="320040"/>
          </a:xfrm>
          <a:prstGeom prst="rect">
            <a:avLst/>
          </a:prstGeom>
        </p:spPr>
      </p:pic>
      <p:sp>
        <p:nvSpPr>
          <p:cNvPr id="20" name="Text 14"/>
          <p:cNvSpPr txBox="1"/>
          <p:nvPr/>
        </p:nvSpPr>
        <p:spPr>
          <a:xfrm>
            <a:off x="9144000" y="4526280"/>
            <a:ext cx="228600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Grounded</a:t>
            </a:r>
            <a:endParaRPr lang="en-US" sz="1800" dirty="0"/>
          </a:p>
        </p:txBody>
      </p:sp>
      <p:sp>
        <p:nvSpPr>
          <p:cNvPr id="21" name="Text 15"/>
          <p:cNvSpPr txBox="1"/>
          <p:nvPr/>
        </p:nvSpPr>
        <p:spPr>
          <a:xfrm>
            <a:off x="9144000" y="4919472"/>
            <a:ext cx="2286000" cy="548640"/>
          </a:xfrm>
          <a:prstGeom prst="rect">
            <a:avLst/>
          </a:prstGeom>
          <a:noFill/>
          <a:ln/>
        </p:spPr>
        <p:txBody>
          <a:bodyPr wrap="square" lIns="0" tIns="0" rIns="0" bIns="0" rtlCol="0" anchor="t"/>
          <a:lstStyle/>
          <a:p>
            <a:pPr indent="0" marL="0">
              <a:buNone/>
            </a:pPr>
            <a:r>
              <a:rPr lang="en-US" sz="1300" dirty="0">
                <a:solidFill>
                  <a:srgbClr val="B8C4D9"/>
                </a:solidFill>
                <a:latin typeface="Calibri" pitchFamily="34" charset="0"/>
                <a:ea typeface="Calibri" pitchFamily="34" charset="-122"/>
                <a:cs typeface="Calibri" pitchFamily="34" charset="-120"/>
              </a:rPr>
              <a:t>Answers come from the database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300" kern="0" dirty="0">
                <a:solidFill>
                  <a:srgbClr val="9A5B00"/>
                </a:solidFill>
                <a:latin typeface="Calibri" pitchFamily="34" charset="0"/>
                <a:ea typeface="Calibri" pitchFamily="34" charset="-122"/>
                <a:cs typeface="Calibri" pitchFamily="34" charset="-120"/>
              </a:rPr>
              <a:t>AI ASSISTANT</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3203A"/>
                </a:solidFill>
                <a:latin typeface="Cambria" pitchFamily="34" charset="0"/>
                <a:ea typeface="Cambria" pitchFamily="34" charset="-122"/>
                <a:cs typeface="Cambria" pitchFamily="34" charset="-120"/>
              </a:rPr>
              <a:t>How an answer is produced: tool calling</a:t>
            </a:r>
            <a:endParaRPr lang="en-US" sz="3400" dirty="0"/>
          </a:p>
        </p:txBody>
      </p:sp>
      <p:sp>
        <p:nvSpPr>
          <p:cNvPr id="4" name="Text 2"/>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4A5568"/>
                </a:solidFill>
                <a:latin typeface="Calibri" pitchFamily="34" charset="0"/>
                <a:ea typeface="Calibri" pitchFamily="34" charset="-122"/>
                <a:cs typeface="Calibri" pitchFamily="34" charset="-120"/>
              </a:rPr>
              <a:t>14</a:t>
            </a:r>
            <a:endParaRPr lang="en-US" sz="1000" dirty="0"/>
          </a:p>
        </p:txBody>
      </p:sp>
      <p:sp>
        <p:nvSpPr>
          <p:cNvPr id="5" name="Shape 3"/>
          <p:cNvSpPr/>
          <p:nvPr/>
        </p:nvSpPr>
        <p:spPr>
          <a:xfrm>
            <a:off x="548640" y="1691640"/>
            <a:ext cx="2560320" cy="2834640"/>
          </a:xfrm>
          <a:prstGeom prst="roundRect">
            <a:avLst>
              <a:gd name="adj" fmla="val 3571"/>
            </a:avLst>
          </a:prstGeom>
          <a:solidFill>
            <a:srgbClr val="F3F5F8"/>
          </a:solidFill>
          <a:ln w="12700">
            <a:solidFill>
              <a:srgbClr val="F3F5F8"/>
            </a:solidFill>
            <a:prstDash val="solid"/>
          </a:ln>
        </p:spPr>
      </p:sp>
      <p:sp>
        <p:nvSpPr>
          <p:cNvPr id="6" name="Shape 4"/>
          <p:cNvSpPr/>
          <p:nvPr/>
        </p:nvSpPr>
        <p:spPr>
          <a:xfrm>
            <a:off x="822960" y="1965960"/>
            <a:ext cx="640080" cy="640080"/>
          </a:xfrm>
          <a:prstGeom prst="ellipse">
            <a:avLst/>
          </a:prstGeom>
          <a:solidFill>
            <a:srgbClr val="F2A541"/>
          </a:solidFill>
          <a:ln w="12700">
            <a:solidFill>
              <a:srgbClr val="F2A541"/>
            </a:solidFill>
            <a:prstDash val="solid"/>
          </a:ln>
        </p:spPr>
      </p:sp>
      <p:pic>
        <p:nvPicPr>
          <p:cNvPr id="7" name="Image 0" descr="preencoded.png">    </p:cNvPr>
          <p:cNvPicPr>
            <a:picLocks noChangeAspect="1"/>
          </p:cNvPicPr>
          <p:nvPr/>
        </p:nvPicPr>
        <p:blipFill>
          <a:blip r:embed="rId1"/>
          <a:stretch>
            <a:fillRect/>
          </a:stretch>
        </p:blipFill>
        <p:spPr>
          <a:xfrm>
            <a:off x="982980" y="2125980"/>
            <a:ext cx="320040" cy="320040"/>
          </a:xfrm>
          <a:prstGeom prst="rect">
            <a:avLst/>
          </a:prstGeom>
        </p:spPr>
      </p:pic>
      <p:sp>
        <p:nvSpPr>
          <p:cNvPr id="8" name="Text 5"/>
          <p:cNvSpPr txBox="1"/>
          <p:nvPr/>
        </p:nvSpPr>
        <p:spPr>
          <a:xfrm>
            <a:off x="822960" y="2743200"/>
            <a:ext cx="2011680" cy="365760"/>
          </a:xfrm>
          <a:prstGeom prst="rect">
            <a:avLst/>
          </a:prstGeom>
          <a:noFill/>
          <a:ln/>
        </p:spPr>
        <p:txBody>
          <a:bodyPr wrap="square" lIns="0" tIns="0" rIns="0" bIns="0" rtlCol="0" anchor="t"/>
          <a:lstStyle/>
          <a:p>
            <a:pPr indent="0" marL="0">
              <a:buNone/>
            </a:pPr>
            <a:r>
              <a:rPr lang="en-US" sz="1700" b="1" dirty="0">
                <a:solidFill>
                  <a:srgbClr val="13203A"/>
                </a:solidFill>
                <a:latin typeface="Calibri" pitchFamily="34" charset="0"/>
                <a:ea typeface="Calibri" pitchFamily="34" charset="-122"/>
                <a:cs typeface="Calibri" pitchFamily="34" charset="-120"/>
              </a:rPr>
              <a:t>1. Question</a:t>
            </a:r>
            <a:endParaRPr lang="en-US" sz="1700" dirty="0"/>
          </a:p>
        </p:txBody>
      </p:sp>
      <p:sp>
        <p:nvSpPr>
          <p:cNvPr id="9" name="Text 6"/>
          <p:cNvSpPr txBox="1"/>
          <p:nvPr/>
        </p:nvSpPr>
        <p:spPr>
          <a:xfrm>
            <a:off x="822960" y="3154680"/>
            <a:ext cx="2103120" cy="128016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User asks: “Who is driving the alto TS09AB1234?”</a:t>
            </a:r>
            <a:endParaRPr lang="en-US" sz="1300" dirty="0"/>
          </a:p>
        </p:txBody>
      </p:sp>
      <p:sp>
        <p:nvSpPr>
          <p:cNvPr id="10" name="Shape 7"/>
          <p:cNvSpPr/>
          <p:nvPr/>
        </p:nvSpPr>
        <p:spPr>
          <a:xfrm>
            <a:off x="3127248" y="3108960"/>
            <a:ext cx="237744" cy="914"/>
          </a:xfrm>
          <a:prstGeom prst="line">
            <a:avLst/>
          </a:prstGeom>
          <a:noFill/>
          <a:ln w="25400">
            <a:solidFill>
              <a:srgbClr val="9A5B00"/>
            </a:solidFill>
            <a:prstDash val="solid"/>
            <a:tailEnd type="triangle"/>
          </a:ln>
        </p:spPr>
      </p:sp>
      <p:sp>
        <p:nvSpPr>
          <p:cNvPr id="11" name="Shape 8"/>
          <p:cNvSpPr/>
          <p:nvPr/>
        </p:nvSpPr>
        <p:spPr>
          <a:xfrm>
            <a:off x="3383280" y="1691640"/>
            <a:ext cx="2560320" cy="2834640"/>
          </a:xfrm>
          <a:prstGeom prst="roundRect">
            <a:avLst>
              <a:gd name="adj" fmla="val 3571"/>
            </a:avLst>
          </a:prstGeom>
          <a:solidFill>
            <a:srgbClr val="FFF1D6"/>
          </a:solidFill>
          <a:ln w="12700">
            <a:solidFill>
              <a:srgbClr val="FFF1D6"/>
            </a:solidFill>
            <a:prstDash val="solid"/>
          </a:ln>
        </p:spPr>
      </p:sp>
      <p:sp>
        <p:nvSpPr>
          <p:cNvPr id="12" name="Shape 9"/>
          <p:cNvSpPr/>
          <p:nvPr/>
        </p:nvSpPr>
        <p:spPr>
          <a:xfrm>
            <a:off x="3657600" y="1965960"/>
            <a:ext cx="640080" cy="640080"/>
          </a:xfrm>
          <a:prstGeom prst="ellipse">
            <a:avLst/>
          </a:prstGeom>
          <a:solidFill>
            <a:srgbClr val="F2A541"/>
          </a:solidFill>
          <a:ln w="12700">
            <a:solidFill>
              <a:srgbClr val="F2A541"/>
            </a:solidFill>
            <a:prstDash val="solid"/>
          </a:ln>
        </p:spPr>
      </p:sp>
      <p:pic>
        <p:nvPicPr>
          <p:cNvPr id="13" name="Image 1" descr="preencoded.png">    </p:cNvPr>
          <p:cNvPicPr>
            <a:picLocks noChangeAspect="1"/>
          </p:cNvPicPr>
          <p:nvPr/>
        </p:nvPicPr>
        <p:blipFill>
          <a:blip r:embed="rId2"/>
          <a:stretch>
            <a:fillRect/>
          </a:stretch>
        </p:blipFill>
        <p:spPr>
          <a:xfrm>
            <a:off x="3817620" y="2125980"/>
            <a:ext cx="320040" cy="320040"/>
          </a:xfrm>
          <a:prstGeom prst="rect">
            <a:avLst/>
          </a:prstGeom>
        </p:spPr>
      </p:pic>
      <p:sp>
        <p:nvSpPr>
          <p:cNvPr id="14" name="Text 10"/>
          <p:cNvSpPr txBox="1"/>
          <p:nvPr/>
        </p:nvSpPr>
        <p:spPr>
          <a:xfrm>
            <a:off x="3657600" y="2743200"/>
            <a:ext cx="2011680" cy="365760"/>
          </a:xfrm>
          <a:prstGeom prst="rect">
            <a:avLst/>
          </a:prstGeom>
          <a:noFill/>
          <a:ln/>
        </p:spPr>
        <p:txBody>
          <a:bodyPr wrap="square" lIns="0" tIns="0" rIns="0" bIns="0" rtlCol="0" anchor="t"/>
          <a:lstStyle/>
          <a:p>
            <a:pPr indent="0" marL="0">
              <a:buNone/>
            </a:pPr>
            <a:r>
              <a:rPr lang="en-US" sz="1700" b="1" dirty="0">
                <a:solidFill>
                  <a:srgbClr val="13203A"/>
                </a:solidFill>
                <a:latin typeface="Calibri" pitchFamily="34" charset="0"/>
                <a:ea typeface="Calibri" pitchFamily="34" charset="-122"/>
                <a:cs typeface="Calibri" pitchFamily="34" charset="-120"/>
              </a:rPr>
              <a:t>2. LLM plans</a:t>
            </a:r>
            <a:endParaRPr lang="en-US" sz="1700" dirty="0"/>
          </a:p>
        </p:txBody>
      </p:sp>
      <p:sp>
        <p:nvSpPr>
          <p:cNvPr id="15" name="Text 11"/>
          <p:cNvSpPr txBox="1"/>
          <p:nvPr/>
        </p:nvSpPr>
        <p:spPr>
          <a:xfrm>
            <a:off x="3657600" y="3154680"/>
            <a:ext cx="2103120" cy="128016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Model sees the question, today’s date and 5 tool definitions; replies with a tool call.</a:t>
            </a:r>
            <a:endParaRPr lang="en-US" sz="1300" dirty="0"/>
          </a:p>
        </p:txBody>
      </p:sp>
      <p:sp>
        <p:nvSpPr>
          <p:cNvPr id="16" name="Shape 12"/>
          <p:cNvSpPr/>
          <p:nvPr/>
        </p:nvSpPr>
        <p:spPr>
          <a:xfrm>
            <a:off x="5961888" y="3108960"/>
            <a:ext cx="237744" cy="914"/>
          </a:xfrm>
          <a:prstGeom prst="line">
            <a:avLst/>
          </a:prstGeom>
          <a:noFill/>
          <a:ln w="25400">
            <a:solidFill>
              <a:srgbClr val="9A5B00"/>
            </a:solidFill>
            <a:prstDash val="solid"/>
            <a:tailEnd type="triangle"/>
          </a:ln>
        </p:spPr>
      </p:sp>
      <p:sp>
        <p:nvSpPr>
          <p:cNvPr id="17" name="Shape 13"/>
          <p:cNvSpPr/>
          <p:nvPr/>
        </p:nvSpPr>
        <p:spPr>
          <a:xfrm>
            <a:off x="6217920" y="1691640"/>
            <a:ext cx="2560320" cy="2834640"/>
          </a:xfrm>
          <a:prstGeom prst="roundRect">
            <a:avLst>
              <a:gd name="adj" fmla="val 3571"/>
            </a:avLst>
          </a:prstGeom>
          <a:solidFill>
            <a:srgbClr val="F3F5F8"/>
          </a:solidFill>
          <a:ln w="12700">
            <a:solidFill>
              <a:srgbClr val="F3F5F8"/>
            </a:solidFill>
            <a:prstDash val="solid"/>
          </a:ln>
        </p:spPr>
      </p:sp>
      <p:sp>
        <p:nvSpPr>
          <p:cNvPr id="18" name="Shape 14"/>
          <p:cNvSpPr/>
          <p:nvPr/>
        </p:nvSpPr>
        <p:spPr>
          <a:xfrm>
            <a:off x="6492240" y="1965960"/>
            <a:ext cx="640080" cy="640080"/>
          </a:xfrm>
          <a:prstGeom prst="ellipse">
            <a:avLst/>
          </a:prstGeom>
          <a:solidFill>
            <a:srgbClr val="F2A541"/>
          </a:solidFill>
          <a:ln w="12700">
            <a:solidFill>
              <a:srgbClr val="F2A541"/>
            </a:solidFill>
            <a:prstDash val="solid"/>
          </a:ln>
        </p:spPr>
      </p:sp>
      <p:pic>
        <p:nvPicPr>
          <p:cNvPr id="19" name="Image 2" descr="preencoded.png">    </p:cNvPr>
          <p:cNvPicPr>
            <a:picLocks noChangeAspect="1"/>
          </p:cNvPicPr>
          <p:nvPr/>
        </p:nvPicPr>
        <p:blipFill>
          <a:blip r:embed="rId3"/>
          <a:stretch>
            <a:fillRect/>
          </a:stretch>
        </p:blipFill>
        <p:spPr>
          <a:xfrm>
            <a:off x="6652260" y="2125980"/>
            <a:ext cx="320040" cy="320040"/>
          </a:xfrm>
          <a:prstGeom prst="rect">
            <a:avLst/>
          </a:prstGeom>
        </p:spPr>
      </p:pic>
      <p:sp>
        <p:nvSpPr>
          <p:cNvPr id="20" name="Text 15"/>
          <p:cNvSpPr txBox="1"/>
          <p:nvPr/>
        </p:nvSpPr>
        <p:spPr>
          <a:xfrm>
            <a:off x="6492240" y="2743200"/>
            <a:ext cx="2011680" cy="365760"/>
          </a:xfrm>
          <a:prstGeom prst="rect">
            <a:avLst/>
          </a:prstGeom>
          <a:noFill/>
          <a:ln/>
        </p:spPr>
        <p:txBody>
          <a:bodyPr wrap="square" lIns="0" tIns="0" rIns="0" bIns="0" rtlCol="0" anchor="t"/>
          <a:lstStyle/>
          <a:p>
            <a:pPr indent="0" marL="0">
              <a:buNone/>
            </a:pPr>
            <a:r>
              <a:rPr lang="en-US" sz="1700" b="1" dirty="0">
                <a:solidFill>
                  <a:srgbClr val="13203A"/>
                </a:solidFill>
                <a:latin typeface="Calibri" pitchFamily="34" charset="0"/>
                <a:ea typeface="Calibri" pitchFamily="34" charset="-122"/>
                <a:cs typeface="Calibri" pitchFamily="34" charset="-120"/>
              </a:rPr>
              <a:t>3. API looks up</a:t>
            </a:r>
            <a:endParaRPr lang="en-US" sz="1700" dirty="0"/>
          </a:p>
        </p:txBody>
      </p:sp>
      <p:sp>
        <p:nvSpPr>
          <p:cNvPr id="21" name="Text 16"/>
          <p:cNvSpPr txBox="1"/>
          <p:nvPr/>
        </p:nvSpPr>
        <p:spPr>
          <a:xfrm>
            <a:off x="6492240" y="3154680"/>
            <a:ext cx="2103120" cy="128016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Backend runs find_vehicle as a read-only JPA query and returns JSON.</a:t>
            </a:r>
            <a:endParaRPr lang="en-US" sz="1300" dirty="0"/>
          </a:p>
        </p:txBody>
      </p:sp>
      <p:sp>
        <p:nvSpPr>
          <p:cNvPr id="22" name="Shape 17"/>
          <p:cNvSpPr/>
          <p:nvPr/>
        </p:nvSpPr>
        <p:spPr>
          <a:xfrm>
            <a:off x="8796528" y="3108960"/>
            <a:ext cx="237744" cy="914"/>
          </a:xfrm>
          <a:prstGeom prst="line">
            <a:avLst/>
          </a:prstGeom>
          <a:noFill/>
          <a:ln w="25400">
            <a:solidFill>
              <a:srgbClr val="9A5B00"/>
            </a:solidFill>
            <a:prstDash val="solid"/>
            <a:tailEnd type="triangle"/>
          </a:ln>
        </p:spPr>
      </p:sp>
      <p:sp>
        <p:nvSpPr>
          <p:cNvPr id="23" name="Shape 18"/>
          <p:cNvSpPr/>
          <p:nvPr/>
        </p:nvSpPr>
        <p:spPr>
          <a:xfrm>
            <a:off x="9052560" y="1691640"/>
            <a:ext cx="2560320" cy="2834640"/>
          </a:xfrm>
          <a:prstGeom prst="roundRect">
            <a:avLst>
              <a:gd name="adj" fmla="val 3571"/>
            </a:avLst>
          </a:prstGeom>
          <a:solidFill>
            <a:srgbClr val="F3F5F8"/>
          </a:solidFill>
          <a:ln w="12700">
            <a:solidFill>
              <a:srgbClr val="F3F5F8"/>
            </a:solidFill>
            <a:prstDash val="solid"/>
          </a:ln>
        </p:spPr>
      </p:sp>
      <p:sp>
        <p:nvSpPr>
          <p:cNvPr id="24" name="Shape 19"/>
          <p:cNvSpPr/>
          <p:nvPr/>
        </p:nvSpPr>
        <p:spPr>
          <a:xfrm>
            <a:off x="9326880" y="1965960"/>
            <a:ext cx="640080" cy="640080"/>
          </a:xfrm>
          <a:prstGeom prst="ellipse">
            <a:avLst/>
          </a:prstGeom>
          <a:solidFill>
            <a:srgbClr val="F2A541"/>
          </a:solidFill>
          <a:ln w="12700">
            <a:solidFill>
              <a:srgbClr val="F2A541"/>
            </a:solidFill>
            <a:prstDash val="solid"/>
          </a:ln>
        </p:spPr>
      </p:sp>
      <p:pic>
        <p:nvPicPr>
          <p:cNvPr id="25" name="Image 3" descr="preencoded.png">    </p:cNvPr>
          <p:cNvPicPr>
            <a:picLocks noChangeAspect="1"/>
          </p:cNvPicPr>
          <p:nvPr/>
        </p:nvPicPr>
        <p:blipFill>
          <a:blip r:embed="rId4"/>
          <a:stretch>
            <a:fillRect/>
          </a:stretch>
        </p:blipFill>
        <p:spPr>
          <a:xfrm>
            <a:off x="9486900" y="2125980"/>
            <a:ext cx="320040" cy="320040"/>
          </a:xfrm>
          <a:prstGeom prst="rect">
            <a:avLst/>
          </a:prstGeom>
        </p:spPr>
      </p:pic>
      <p:sp>
        <p:nvSpPr>
          <p:cNvPr id="26" name="Text 20"/>
          <p:cNvSpPr txBox="1"/>
          <p:nvPr/>
        </p:nvSpPr>
        <p:spPr>
          <a:xfrm>
            <a:off x="9326880" y="2743200"/>
            <a:ext cx="2011680" cy="365760"/>
          </a:xfrm>
          <a:prstGeom prst="rect">
            <a:avLst/>
          </a:prstGeom>
          <a:noFill/>
          <a:ln/>
        </p:spPr>
        <p:txBody>
          <a:bodyPr wrap="square" lIns="0" tIns="0" rIns="0" bIns="0" rtlCol="0" anchor="t"/>
          <a:lstStyle/>
          <a:p>
            <a:pPr indent="0" marL="0">
              <a:buNone/>
            </a:pPr>
            <a:r>
              <a:rPr lang="en-US" sz="1700" b="1" dirty="0">
                <a:solidFill>
                  <a:srgbClr val="13203A"/>
                </a:solidFill>
                <a:latin typeface="Calibri" pitchFamily="34" charset="0"/>
                <a:ea typeface="Calibri" pitchFamily="34" charset="-122"/>
                <a:cs typeface="Calibri" pitchFamily="34" charset="-120"/>
              </a:rPr>
              <a:t>4. Answer</a:t>
            </a:r>
            <a:endParaRPr lang="en-US" sz="1700" dirty="0"/>
          </a:p>
        </p:txBody>
      </p:sp>
      <p:sp>
        <p:nvSpPr>
          <p:cNvPr id="27" name="Text 21"/>
          <p:cNvSpPr txBox="1"/>
          <p:nvPr/>
        </p:nvSpPr>
        <p:spPr>
          <a:xfrm>
            <a:off x="9326880" y="3154680"/>
            <a:ext cx="2103120" cy="128016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Model writes the reply from that JSON only. UI shows the tools used.</a:t>
            </a:r>
            <a:endParaRPr lang="en-US" sz="1300" dirty="0"/>
          </a:p>
        </p:txBody>
      </p:sp>
      <p:sp>
        <p:nvSpPr>
          <p:cNvPr id="28" name="Shape 22"/>
          <p:cNvSpPr/>
          <p:nvPr/>
        </p:nvSpPr>
        <p:spPr>
          <a:xfrm>
            <a:off x="548640" y="4800600"/>
            <a:ext cx="11064240" cy="1325880"/>
          </a:xfrm>
          <a:prstGeom prst="roundRect">
            <a:avLst>
              <a:gd name="adj" fmla="val 6897"/>
            </a:avLst>
          </a:prstGeom>
          <a:solidFill>
            <a:srgbClr val="13203A"/>
          </a:solidFill>
          <a:ln w="12700">
            <a:solidFill>
              <a:srgbClr val="13203A"/>
            </a:solidFill>
            <a:prstDash val="solid"/>
          </a:ln>
        </p:spPr>
      </p:sp>
      <p:sp>
        <p:nvSpPr>
          <p:cNvPr id="29" name="Text 23"/>
          <p:cNvSpPr txBox="1"/>
          <p:nvPr/>
        </p:nvSpPr>
        <p:spPr>
          <a:xfrm>
            <a:off x="822960" y="4919472"/>
            <a:ext cx="4572000" cy="320040"/>
          </a:xfrm>
          <a:prstGeom prst="rect">
            <a:avLst/>
          </a:prstGeom>
          <a:noFill/>
          <a:ln/>
        </p:spPr>
        <p:txBody>
          <a:bodyPr wrap="square" lIns="0" tIns="0" rIns="0" bIns="0" rtlCol="0" anchor="t"/>
          <a:lstStyle/>
          <a:p>
            <a:pPr indent="0" marL="0">
              <a:buNone/>
            </a:pPr>
            <a:r>
              <a:rPr lang="en-US" sz="1400" b="1" dirty="0">
                <a:solidFill>
                  <a:srgbClr val="F2A541"/>
                </a:solidFill>
                <a:latin typeface="Calibri" pitchFamily="34" charset="0"/>
                <a:ea typeface="Calibri" pitchFamily="34" charset="-122"/>
                <a:cs typeface="Calibri" pitchFamily="34" charset="-120"/>
              </a:rPr>
              <a:t>Implementation details</a:t>
            </a:r>
            <a:endParaRPr lang="en-US" sz="1400" dirty="0"/>
          </a:p>
        </p:txBody>
      </p:sp>
      <p:sp>
        <p:nvSpPr>
          <p:cNvPr id="30" name="Text 24"/>
          <p:cNvSpPr txBox="1"/>
          <p:nvPr/>
        </p:nvSpPr>
        <p:spPr>
          <a:xfrm>
            <a:off x="822960" y="5285232"/>
            <a:ext cx="10515600" cy="731520"/>
          </a:xfrm>
          <a:prstGeom prst="rect">
            <a:avLst/>
          </a:prstGeom>
          <a:noFill/>
          <a:ln/>
        </p:spPr>
        <p:txBody>
          <a:bodyPr wrap="square" lIns="0" tIns="0" rIns="0" bIns="0" rtlCol="0" anchor="t"/>
          <a:lstStyle/>
          <a:p>
            <a:pPr indent="0" marL="0">
              <a:spcAft>
                <a:spcPts val="400"/>
              </a:spcAft>
              <a:buNone/>
            </a:pPr>
            <a:r>
              <a:rPr lang="en-US" sz="1250" dirty="0">
                <a:solidFill>
                  <a:srgbClr val="B8C4D9"/>
                </a:solidFill>
                <a:latin typeface="Calibri" pitchFamily="34" charset="0"/>
                <a:ea typeface="Calibri" pitchFamily="34" charset="-122"/>
                <a:cs typeface="Calibri" pitchFamily="34" charset="-120"/>
              </a:rPr>
              <a:t>Up to 4 tool rounds, then the model must answer  ·  temperature 0.1 to stay factual  ·  system prompt forbids inventing data</a:t>
            </a:r>
            <a:endParaRPr lang="en-US" sz="1250" dirty="0"/>
          </a:p>
          <a:p>
            <a:pPr indent="0" marL="0">
              <a:spcAft>
                <a:spcPts val="400"/>
              </a:spcAft>
              <a:buNone/>
            </a:pPr>
            <a:r>
              <a:rPr lang="en-US" sz="1250" dirty="0">
                <a:solidFill>
                  <a:srgbClr val="B8C4D9"/>
                </a:solidFill>
                <a:latin typeface="Calibri" pitchFamily="34" charset="0"/>
                <a:ea typeface="Calibri" pitchFamily="34" charset="-122"/>
                <a:cs typeface="Calibri" pitchFamily="34" charset="-120"/>
              </a:rPr>
              <a:t>Last 6 chat turns are sent for follow-ups (“and his phone number?”)  ·  talks to Ollama’s /api/chat over HTTP</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300" kern="0" dirty="0">
                <a:solidFill>
                  <a:srgbClr val="9A5B00"/>
                </a:solidFill>
                <a:latin typeface="Calibri" pitchFamily="34" charset="0"/>
                <a:ea typeface="Calibri" pitchFamily="34" charset="-122"/>
                <a:cs typeface="Calibri" pitchFamily="34" charset="-120"/>
              </a:rPr>
              <a:t>AI ASSISTANT</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3203A"/>
                </a:solidFill>
                <a:latin typeface="Cambria" pitchFamily="34" charset="0"/>
                <a:ea typeface="Cambria" pitchFamily="34" charset="-122"/>
                <a:cs typeface="Cambria" pitchFamily="34" charset="-120"/>
              </a:rPr>
              <a:t>Five read-only tools the model can call</a:t>
            </a:r>
            <a:endParaRPr lang="en-US" sz="3400" dirty="0"/>
          </a:p>
        </p:txBody>
      </p:sp>
      <p:sp>
        <p:nvSpPr>
          <p:cNvPr id="4" name="Text 2"/>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4A5568"/>
                </a:solidFill>
                <a:latin typeface="Calibri" pitchFamily="34" charset="0"/>
                <a:ea typeface="Calibri" pitchFamily="34" charset="-122"/>
                <a:cs typeface="Calibri" pitchFamily="34" charset="-120"/>
              </a:rPr>
              <a:t>15</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651760"/>
                <a:gridCol w="3291840"/>
                <a:gridCol w="5120640"/>
              </a:tblGrid>
              <a:tr h="502920">
                <a:tc>
                  <a:txBody>
                    <a:bodyPr/>
                    <a:lstStyle/>
                    <a:p>
                      <a:pPr indent="0" marL="0">
                        <a:buNone/>
                      </a:pPr>
                      <a:r>
                        <a:rPr lang="en-US" sz="1300" b="1" dirty="0">
                          <a:solidFill>
                            <a:srgbClr val="FFFFFF"/>
                          </a:solidFill>
                        </a:rPr>
                        <a:t>Tool</a:t>
                      </a:r>
                      <a:endParaRPr lang="en-US" sz="1300" dirty="0"/>
                    </a:p>
                  </a:txBody>
                  <a:tcPr marL="109728" marR="109728"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13203A"/>
                    </a:solidFill>
                  </a:tcPr>
                </a:tc>
                <a:tc>
                  <a:txBody>
                    <a:bodyPr/>
                    <a:lstStyle/>
                    <a:p>
                      <a:pPr indent="0" marL="0">
                        <a:buNone/>
                      </a:pPr>
                      <a:r>
                        <a:rPr lang="en-US" sz="1300" b="1" dirty="0">
                          <a:solidFill>
                            <a:srgbClr val="FFFFFF"/>
                          </a:solidFill>
                        </a:rPr>
                        <a:t>Input</a:t>
                      </a:r>
                      <a:endParaRPr lang="en-US" sz="1300" dirty="0"/>
                    </a:p>
                  </a:txBody>
                  <a:tcPr marL="109728" marR="109728"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13203A"/>
                    </a:solidFill>
                  </a:tcPr>
                </a:tc>
                <a:tc>
                  <a:txBody>
                    <a:bodyPr/>
                    <a:lstStyle/>
                    <a:p>
                      <a:pPr indent="0" marL="0">
                        <a:buNone/>
                      </a:pPr>
                      <a:r>
                        <a:rPr lang="en-US" sz="1300" b="1" dirty="0">
                          <a:solidFill>
                            <a:srgbClr val="FFFFFF"/>
                          </a:solidFill>
                        </a:rPr>
                        <a:t>Returns</a:t>
                      </a:r>
                      <a:endParaRPr lang="en-US" sz="1300" dirty="0"/>
                    </a:p>
                  </a:txBody>
                  <a:tcPr marL="109728" marR="109728"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13203A"/>
                    </a:solidFill>
                  </a:tcPr>
                </a:tc>
              </a:tr>
              <a:tr h="502920">
                <a:tc>
                  <a:txBody>
                    <a:bodyPr/>
                    <a:lstStyle/>
                    <a:p>
                      <a:pPr indent="0" marL="0">
                        <a:buNone/>
                      </a:pPr>
                      <a:r>
                        <a:rPr lang="en-US" sz="1300" b="1" dirty="0">
                          <a:solidFill>
                            <a:srgbClr val="13203A"/>
                          </a:solidFill>
                          <a:latin typeface="Courier New" pitchFamily="34" charset="0"/>
                          <a:ea typeface="Courier New" pitchFamily="34" charset="-122"/>
                          <a:cs typeface="Courier New" pitchFamily="34" charset="-120"/>
                        </a:rPr>
                        <a:t>find_vehicle</a:t>
                      </a:r>
                      <a:endParaRPr lang="en-US" sz="1300" dirty="0">
                        <a:latin typeface="Courier New" charset="0"/>
                        <a:ea typeface="Courier New" charset="0"/>
                        <a:cs typeface="Courier New" charset="0"/>
                      </a:endParaRPr>
                    </a:p>
                  </a:txBody>
                  <a:tcPr marL="109728" marR="109728"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300" dirty="0">
                          <a:solidFill>
                            <a:srgbClr val="4A5568"/>
                          </a:solidFill>
                          <a:latin typeface="Calibri" pitchFamily="34" charset="0"/>
                          <a:ea typeface="Calibri" pitchFamily="34" charset="-122"/>
                          <a:cs typeface="Calibri" pitchFamily="34" charset="-120"/>
                        </a:rPr>
                        <a:t>plate or model, optional time</a:t>
                      </a:r>
                      <a:endParaRPr lang="en-US" sz="1300" dirty="0">
                        <a:latin typeface="Calibri" charset="0"/>
                        <a:ea typeface="Calibri" charset="0"/>
                        <a:cs typeface="Calibri" charset="0"/>
                      </a:endParaRPr>
                    </a:p>
                  </a:txBody>
                  <a:tcPr marL="109728" marR="109728"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300" dirty="0">
                          <a:solidFill>
                            <a:srgbClr val="4A5568"/>
                          </a:solidFill>
                          <a:latin typeface="Calibri" pitchFamily="34" charset="0"/>
                          <a:ea typeface="Calibri" pitchFamily="34" charset="-122"/>
                          <a:cs typeface="Calibri" pitchFamily="34" charset="-120"/>
                        </a:rPr>
                        <a:t>Who drives it at that time, pending requests, schedule</a:t>
                      </a:r>
                      <a:endParaRPr lang="en-US" sz="1300" dirty="0">
                        <a:latin typeface="Calibri" charset="0"/>
                        <a:ea typeface="Calibri" charset="0"/>
                        <a:cs typeface="Calibri" charset="0"/>
                      </a:endParaRPr>
                    </a:p>
                  </a:txBody>
                  <a:tcPr marL="109728" marR="109728"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3203A"/>
                          </a:solidFill>
                          <a:latin typeface="Courier New" pitchFamily="34" charset="0"/>
                          <a:ea typeface="Courier New" pitchFamily="34" charset="-122"/>
                          <a:cs typeface="Courier New" pitchFamily="34" charset="-120"/>
                        </a:rPr>
                        <a:t>find_driver</a:t>
                      </a:r>
                      <a:endParaRPr lang="en-US" sz="1300" dirty="0">
                        <a:latin typeface="Courier New" charset="0"/>
                        <a:ea typeface="Courier New" charset="0"/>
                        <a:cs typeface="Courier New" charset="0"/>
                      </a:endParaRPr>
                    </a:p>
                  </a:txBody>
                  <a:tcPr marL="109728" marR="109728"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c>
                  <a:txBody>
                    <a:bodyPr/>
                    <a:lstStyle/>
                    <a:p>
                      <a:pPr indent="0" marL="0">
                        <a:buNone/>
                      </a:pPr>
                      <a:r>
                        <a:rPr lang="en-US" sz="1300" dirty="0">
                          <a:solidFill>
                            <a:srgbClr val="4A5568"/>
                          </a:solidFill>
                          <a:latin typeface="Calibri" pitchFamily="34" charset="0"/>
                          <a:ea typeface="Calibri" pitchFamily="34" charset="-122"/>
                          <a:cs typeface="Calibri" pitchFamily="34" charset="-120"/>
                        </a:rPr>
                        <a:t>name, phone or email; status; day</a:t>
                      </a:r>
                      <a:endParaRPr lang="en-US" sz="1300" dirty="0">
                        <a:latin typeface="Calibri" charset="0"/>
                        <a:ea typeface="Calibri" charset="0"/>
                        <a:cs typeface="Calibri" charset="0"/>
                      </a:endParaRPr>
                    </a:p>
                  </a:txBody>
                  <a:tcPr marL="109728" marR="109728"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c>
                  <a:txBody>
                    <a:bodyPr/>
                    <a:lstStyle/>
                    <a:p>
                      <a:pPr indent="0" marL="0">
                        <a:buNone/>
                      </a:pPr>
                      <a:r>
                        <a:rPr lang="en-US" sz="1300" dirty="0">
                          <a:solidFill>
                            <a:srgbClr val="4A5568"/>
                          </a:solidFill>
                          <a:latin typeface="Calibri" pitchFamily="34" charset="0"/>
                          <a:ea typeface="Calibri" pitchFamily="34" charset="-122"/>
                          <a:cs typeface="Calibri" pitchFamily="34" charset="-120"/>
                        </a:rPr>
                        <a:t>Contact details, current vehicle, assignment times</a:t>
                      </a:r>
                      <a:endParaRPr lang="en-US" sz="1300" dirty="0">
                        <a:latin typeface="Calibri" charset="0"/>
                        <a:ea typeface="Calibri" charset="0"/>
                        <a:cs typeface="Calibri" charset="0"/>
                      </a:endParaRPr>
                    </a:p>
                  </a:txBody>
                  <a:tcPr marL="109728" marR="109728"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r>
              <a:tr h="502920">
                <a:tc>
                  <a:txBody>
                    <a:bodyPr/>
                    <a:lstStyle/>
                    <a:p>
                      <a:pPr indent="0" marL="0">
                        <a:buNone/>
                      </a:pPr>
                      <a:r>
                        <a:rPr lang="en-US" sz="1300" b="1" dirty="0">
                          <a:solidFill>
                            <a:srgbClr val="13203A"/>
                          </a:solidFill>
                          <a:latin typeface="Courier New" pitchFamily="34" charset="0"/>
                          <a:ea typeface="Courier New" pitchFamily="34" charset="-122"/>
                          <a:cs typeface="Courier New" pitchFamily="34" charset="-120"/>
                        </a:rPr>
                        <a:t>list_assignments</a:t>
                      </a:r>
                      <a:endParaRPr lang="en-US" sz="1300" dirty="0">
                        <a:latin typeface="Courier New" charset="0"/>
                        <a:ea typeface="Courier New" charset="0"/>
                        <a:cs typeface="Courier New" charset="0"/>
                      </a:endParaRPr>
                    </a:p>
                  </a:txBody>
                  <a:tcPr marL="109728" marR="109728"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300" dirty="0">
                          <a:solidFill>
                            <a:srgbClr val="4A5568"/>
                          </a:solidFill>
                          <a:latin typeface="Calibri" pitchFamily="34" charset="0"/>
                          <a:ea typeface="Calibri" pitchFamily="34" charset="-122"/>
                          <a:cs typeface="Calibri" pitchFamily="34" charset="-120"/>
                        </a:rPr>
                        <a:t>status, day (optional)</a:t>
                      </a:r>
                      <a:endParaRPr lang="en-US" sz="1300" dirty="0">
                        <a:latin typeface="Calibri" charset="0"/>
                        <a:ea typeface="Calibri" charset="0"/>
                        <a:cs typeface="Calibri" charset="0"/>
                      </a:endParaRPr>
                    </a:p>
                  </a:txBody>
                  <a:tcPr marL="109728" marR="109728"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300" dirty="0">
                          <a:solidFill>
                            <a:srgbClr val="4A5568"/>
                          </a:solidFill>
                          <a:latin typeface="Calibri" pitchFamily="34" charset="0"/>
                          <a:ea typeface="Calibri" pitchFamily="34" charset="-122"/>
                          <a:cs typeface="Calibri" pitchFamily="34" charset="-120"/>
                        </a:rPr>
                        <a:t>Matching assignments across the fleet</a:t>
                      </a:r>
                      <a:endParaRPr lang="en-US" sz="1300" dirty="0">
                        <a:latin typeface="Calibri" charset="0"/>
                        <a:ea typeface="Calibri" charset="0"/>
                        <a:cs typeface="Calibri" charset="0"/>
                      </a:endParaRPr>
                    </a:p>
                  </a:txBody>
                  <a:tcPr marL="109728" marR="109728"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3203A"/>
                          </a:solidFill>
                          <a:latin typeface="Courier New" pitchFamily="34" charset="0"/>
                          <a:ea typeface="Courier New" pitchFamily="34" charset="-122"/>
                          <a:cs typeface="Courier New" pitchFamily="34" charset="-120"/>
                        </a:rPr>
                        <a:t>check_availability</a:t>
                      </a:r>
                      <a:endParaRPr lang="en-US" sz="1300" dirty="0">
                        <a:latin typeface="Courier New" charset="0"/>
                        <a:ea typeface="Courier New" charset="0"/>
                        <a:cs typeface="Courier New" charset="0"/>
                      </a:endParaRPr>
                    </a:p>
                  </a:txBody>
                  <a:tcPr marL="109728" marR="109728"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c>
                  <a:txBody>
                    <a:bodyPr/>
                    <a:lstStyle/>
                    <a:p>
                      <a:pPr indent="0" marL="0">
                        <a:buNone/>
                      </a:pPr>
                      <a:r>
                        <a:rPr lang="en-US" sz="1300" dirty="0">
                          <a:solidFill>
                            <a:srgbClr val="4A5568"/>
                          </a:solidFill>
                          <a:latin typeface="Calibri" pitchFamily="34" charset="0"/>
                          <a:ea typeface="Calibri" pitchFamily="34" charset="-122"/>
                          <a:cs typeface="Calibri" pitchFamily="34" charset="-120"/>
                        </a:rPr>
                        <a:t>start, end (default: now)</a:t>
                      </a:r>
                      <a:endParaRPr lang="en-US" sz="1300" dirty="0">
                        <a:latin typeface="Calibri" charset="0"/>
                        <a:ea typeface="Calibri" charset="0"/>
                        <a:cs typeface="Calibri" charset="0"/>
                      </a:endParaRPr>
                    </a:p>
                  </a:txBody>
                  <a:tcPr marL="109728" marR="109728"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c>
                  <a:txBody>
                    <a:bodyPr/>
                    <a:lstStyle/>
                    <a:p>
                      <a:pPr indent="0" marL="0">
                        <a:buNone/>
                      </a:pPr>
                      <a:r>
                        <a:rPr lang="en-US" sz="1300" dirty="0">
                          <a:solidFill>
                            <a:srgbClr val="4A5568"/>
                          </a:solidFill>
                          <a:latin typeface="Calibri" pitchFamily="34" charset="0"/>
                          <a:ea typeface="Calibri" pitchFamily="34" charset="-122"/>
                          <a:cs typeface="Calibri" pitchFamily="34" charset="-120"/>
                        </a:rPr>
                        <a:t>Free vehicles and free drivers in the window</a:t>
                      </a:r>
                      <a:endParaRPr lang="en-US" sz="1300" dirty="0">
                        <a:latin typeface="Calibri" charset="0"/>
                        <a:ea typeface="Calibri" charset="0"/>
                        <a:cs typeface="Calibri" charset="0"/>
                      </a:endParaRPr>
                    </a:p>
                  </a:txBody>
                  <a:tcPr marL="109728" marR="109728"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r>
              <a:tr h="502920">
                <a:tc>
                  <a:txBody>
                    <a:bodyPr/>
                    <a:lstStyle/>
                    <a:p>
                      <a:pPr indent="0" marL="0">
                        <a:buNone/>
                      </a:pPr>
                      <a:r>
                        <a:rPr lang="en-US" sz="1300" b="1" dirty="0">
                          <a:solidFill>
                            <a:srgbClr val="13203A"/>
                          </a:solidFill>
                          <a:latin typeface="Courier New" pitchFamily="34" charset="0"/>
                          <a:ea typeface="Courier New" pitchFamily="34" charset="-122"/>
                          <a:cs typeface="Courier New" pitchFamily="34" charset="-120"/>
                        </a:rPr>
                        <a:t>fleet_summary</a:t>
                      </a:r>
                      <a:endParaRPr lang="en-US" sz="1300" dirty="0">
                        <a:latin typeface="Courier New" charset="0"/>
                        <a:ea typeface="Courier New" charset="0"/>
                        <a:cs typeface="Courier New" charset="0"/>
                      </a:endParaRPr>
                    </a:p>
                  </a:txBody>
                  <a:tcPr marL="109728" marR="109728"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300" dirty="0">
                          <a:solidFill>
                            <a:srgbClr val="4A5568"/>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109728" marR="109728"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300" dirty="0">
                          <a:solidFill>
                            <a:srgbClr val="4A5568"/>
                          </a:solidFill>
                          <a:latin typeface="Calibri" pitchFamily="34" charset="0"/>
                          <a:ea typeface="Calibri" pitchFamily="34" charset="-122"/>
                          <a:cs typeface="Calibri" pitchFamily="34" charset="-120"/>
                        </a:rPr>
                        <a:t>Counts, pending requests, who is on duty now</a:t>
                      </a:r>
                      <a:endParaRPr lang="en-US" sz="1300" dirty="0">
                        <a:latin typeface="Calibri" charset="0"/>
                        <a:ea typeface="Calibri" charset="0"/>
                        <a:cs typeface="Calibri" charset="0"/>
                      </a:endParaRPr>
                    </a:p>
                  </a:txBody>
                  <a:tcPr marL="109728" marR="109728"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937760"/>
            <a:ext cx="548640" cy="548640"/>
          </a:xfrm>
          <a:prstGeom prst="ellipse">
            <a:avLst/>
          </a:prstGeom>
          <a:solidFill>
            <a:srgbClr val="F2A541"/>
          </a:solidFill>
          <a:ln w="12700">
            <a:solidFill>
              <a:srgbClr val="F2A541"/>
            </a:solidFill>
            <a:prstDash val="solid"/>
          </a:ln>
        </p:spPr>
      </p:sp>
      <p:pic>
        <p:nvPicPr>
          <p:cNvPr id="7" name="Image 0" descr="preencoded.png">    </p:cNvPr>
          <p:cNvPicPr>
            <a:picLocks noChangeAspect="1"/>
          </p:cNvPicPr>
          <p:nvPr/>
        </p:nvPicPr>
        <p:blipFill>
          <a:blip r:embed="rId1"/>
          <a:stretch>
            <a:fillRect/>
          </a:stretch>
        </p:blipFill>
        <p:spPr>
          <a:xfrm>
            <a:off x="685800" y="5074920"/>
            <a:ext cx="274320" cy="274320"/>
          </a:xfrm>
          <a:prstGeom prst="rect">
            <a:avLst/>
          </a:prstGeom>
        </p:spPr>
      </p:pic>
      <p:sp>
        <p:nvSpPr>
          <p:cNvPr id="8" name="Text 4"/>
          <p:cNvSpPr txBox="1"/>
          <p:nvPr/>
        </p:nvSpPr>
        <p:spPr>
          <a:xfrm>
            <a:off x="1280160" y="4910328"/>
            <a:ext cx="2926080" cy="320040"/>
          </a:xfrm>
          <a:prstGeom prst="rect">
            <a:avLst/>
          </a:prstGeom>
          <a:noFill/>
          <a:ln/>
        </p:spPr>
        <p:txBody>
          <a:bodyPr wrap="square" lIns="0" tIns="0" rIns="0" bIns="0" rtlCol="0" anchor="t"/>
          <a:lstStyle/>
          <a:p>
            <a:pPr indent="0" marL="0">
              <a:buNone/>
            </a:pPr>
            <a:r>
              <a:rPr lang="en-US" sz="1400" b="1" dirty="0">
                <a:solidFill>
                  <a:srgbClr val="13203A"/>
                </a:solidFill>
                <a:latin typeface="Calibri" pitchFamily="34" charset="0"/>
                <a:ea typeface="Calibri" pitchFamily="34" charset="-122"/>
                <a:cs typeface="Calibri" pitchFamily="34" charset="-120"/>
              </a:rPr>
              <a:t>Fuzzy plate matching</a:t>
            </a:r>
            <a:endParaRPr lang="en-US" sz="1400" dirty="0"/>
          </a:p>
        </p:txBody>
      </p:sp>
      <p:sp>
        <p:nvSpPr>
          <p:cNvPr id="9" name="Text 5"/>
          <p:cNvSpPr txBox="1"/>
          <p:nvPr/>
        </p:nvSpPr>
        <p:spPr>
          <a:xfrm>
            <a:off x="1280160" y="5230368"/>
            <a:ext cx="2926080" cy="73152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“ts09ab1234” = “TS 09 AB 1234”; “alto” lists every Alto</a:t>
            </a:r>
            <a:endParaRPr lang="en-US" sz="1200" dirty="0"/>
          </a:p>
        </p:txBody>
      </p:sp>
      <p:sp>
        <p:nvSpPr>
          <p:cNvPr id="10" name="Shape 6"/>
          <p:cNvSpPr/>
          <p:nvPr/>
        </p:nvSpPr>
        <p:spPr>
          <a:xfrm>
            <a:off x="4297680" y="4937760"/>
            <a:ext cx="548640" cy="548640"/>
          </a:xfrm>
          <a:prstGeom prst="ellipse">
            <a:avLst/>
          </a:prstGeom>
          <a:solidFill>
            <a:srgbClr val="F2A541"/>
          </a:solidFill>
          <a:ln w="12700">
            <a:solidFill>
              <a:srgbClr val="F2A541"/>
            </a:solidFill>
            <a:prstDash val="solid"/>
          </a:ln>
        </p:spPr>
      </p:sp>
      <p:pic>
        <p:nvPicPr>
          <p:cNvPr id="11" name="Image 1" descr="preencoded.png">    </p:cNvPr>
          <p:cNvPicPr>
            <a:picLocks noChangeAspect="1"/>
          </p:cNvPicPr>
          <p:nvPr/>
        </p:nvPicPr>
        <p:blipFill>
          <a:blip r:embed="rId2"/>
          <a:stretch>
            <a:fillRect/>
          </a:stretch>
        </p:blipFill>
        <p:spPr>
          <a:xfrm>
            <a:off x="4434840" y="5074920"/>
            <a:ext cx="274320" cy="274320"/>
          </a:xfrm>
          <a:prstGeom prst="rect">
            <a:avLst/>
          </a:prstGeom>
        </p:spPr>
      </p:pic>
      <p:sp>
        <p:nvSpPr>
          <p:cNvPr id="12" name="Text 7"/>
          <p:cNvSpPr txBox="1"/>
          <p:nvPr/>
        </p:nvSpPr>
        <p:spPr>
          <a:xfrm>
            <a:off x="5029200" y="4910328"/>
            <a:ext cx="2926080" cy="320040"/>
          </a:xfrm>
          <a:prstGeom prst="rect">
            <a:avLst/>
          </a:prstGeom>
          <a:noFill/>
          <a:ln/>
        </p:spPr>
        <p:txBody>
          <a:bodyPr wrap="square" lIns="0" tIns="0" rIns="0" bIns="0" rtlCol="0" anchor="t"/>
          <a:lstStyle/>
          <a:p>
            <a:pPr indent="0" marL="0">
              <a:buNone/>
            </a:pPr>
            <a:r>
              <a:rPr lang="en-US" sz="1400" b="1" dirty="0">
                <a:solidFill>
                  <a:srgbClr val="13203A"/>
                </a:solidFill>
                <a:latin typeface="Calibri" pitchFamily="34" charset="0"/>
                <a:ea typeface="Calibri" pitchFamily="34" charset="-122"/>
                <a:cs typeface="Calibri" pitchFamily="34" charset="-120"/>
              </a:rPr>
              <a:t>Lenient dates</a:t>
            </a:r>
            <a:endParaRPr lang="en-US" sz="1400" dirty="0"/>
          </a:p>
        </p:txBody>
      </p:sp>
      <p:sp>
        <p:nvSpPr>
          <p:cNvPr id="13" name="Text 8"/>
          <p:cNvSpPr txBox="1"/>
          <p:nvPr/>
        </p:nvSpPr>
        <p:spPr>
          <a:xfrm>
            <a:off x="5029200" y="5230368"/>
            <a:ext cx="2926080" cy="73152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Accepts ISO, “today”, “tomorrow”, “now”</a:t>
            </a:r>
            <a:endParaRPr lang="en-US" sz="1200" dirty="0"/>
          </a:p>
        </p:txBody>
      </p:sp>
      <p:sp>
        <p:nvSpPr>
          <p:cNvPr id="14" name="Shape 9"/>
          <p:cNvSpPr/>
          <p:nvPr/>
        </p:nvSpPr>
        <p:spPr>
          <a:xfrm>
            <a:off x="8046720" y="4937760"/>
            <a:ext cx="548640" cy="548640"/>
          </a:xfrm>
          <a:prstGeom prst="ellipse">
            <a:avLst/>
          </a:prstGeom>
          <a:solidFill>
            <a:srgbClr val="F2A541"/>
          </a:solidFill>
          <a:ln w="12700">
            <a:solidFill>
              <a:srgbClr val="F2A541"/>
            </a:solidFill>
            <a:prstDash val="solid"/>
          </a:ln>
        </p:spPr>
      </p:sp>
      <p:pic>
        <p:nvPicPr>
          <p:cNvPr id="15" name="Image 2" descr="preencoded.png">    </p:cNvPr>
          <p:cNvPicPr>
            <a:picLocks noChangeAspect="1"/>
          </p:cNvPicPr>
          <p:nvPr/>
        </p:nvPicPr>
        <p:blipFill>
          <a:blip r:embed="rId3"/>
          <a:stretch>
            <a:fillRect/>
          </a:stretch>
        </p:blipFill>
        <p:spPr>
          <a:xfrm>
            <a:off x="8183880" y="5074920"/>
            <a:ext cx="274320" cy="274320"/>
          </a:xfrm>
          <a:prstGeom prst="rect">
            <a:avLst/>
          </a:prstGeom>
        </p:spPr>
      </p:pic>
      <p:sp>
        <p:nvSpPr>
          <p:cNvPr id="16" name="Text 10"/>
          <p:cNvSpPr txBox="1"/>
          <p:nvPr/>
        </p:nvSpPr>
        <p:spPr>
          <a:xfrm>
            <a:off x="8778240" y="4910328"/>
            <a:ext cx="2926080" cy="320040"/>
          </a:xfrm>
          <a:prstGeom prst="rect">
            <a:avLst/>
          </a:prstGeom>
          <a:noFill/>
          <a:ln/>
        </p:spPr>
        <p:txBody>
          <a:bodyPr wrap="square" lIns="0" tIns="0" rIns="0" bIns="0" rtlCol="0" anchor="t"/>
          <a:lstStyle/>
          <a:p>
            <a:pPr indent="0" marL="0">
              <a:buNone/>
            </a:pPr>
            <a:r>
              <a:rPr lang="en-US" sz="1400" b="1" dirty="0">
                <a:solidFill>
                  <a:srgbClr val="13203A"/>
                </a:solidFill>
                <a:latin typeface="Calibri" pitchFamily="34" charset="0"/>
                <a:ea typeface="Calibri" pitchFamily="34" charset="-122"/>
                <a:cs typeface="Calibri" pitchFamily="34" charset="-120"/>
              </a:rPr>
              <a:t>Errors go back to the model</a:t>
            </a:r>
            <a:endParaRPr lang="en-US" sz="1400" dirty="0"/>
          </a:p>
        </p:txBody>
      </p:sp>
      <p:sp>
        <p:nvSpPr>
          <p:cNvPr id="17" name="Text 11"/>
          <p:cNvSpPr txBox="1"/>
          <p:nvPr/>
        </p:nvSpPr>
        <p:spPr>
          <a:xfrm>
            <a:off x="8778240" y="5230368"/>
            <a:ext cx="2926080" cy="73152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e.g. “‘query’ is required”, so it can ask the user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300" kern="0" dirty="0">
                <a:solidFill>
                  <a:srgbClr val="9A5B00"/>
                </a:solidFill>
                <a:latin typeface="Calibri" pitchFamily="34" charset="0"/>
                <a:ea typeface="Calibri" pitchFamily="34" charset="-122"/>
                <a:cs typeface="Calibri" pitchFamily="34" charset="-120"/>
              </a:rPr>
              <a:t>AI ASSISTANT</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3203A"/>
                </a:solidFill>
                <a:latin typeface="Cambria" pitchFamily="34" charset="0"/>
                <a:ea typeface="Cambria" pitchFamily="34" charset="-122"/>
                <a:cs typeface="Cambria" pitchFamily="34" charset="-120"/>
              </a:rPr>
              <a:t>In action</a:t>
            </a:r>
            <a:endParaRPr lang="en-US" sz="3400" dirty="0"/>
          </a:p>
        </p:txBody>
      </p:sp>
      <p:sp>
        <p:nvSpPr>
          <p:cNvPr id="4" name="Text 2"/>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4A5568"/>
                </a:solidFill>
                <a:latin typeface="Calibri" pitchFamily="34" charset="0"/>
                <a:ea typeface="Calibri" pitchFamily="34" charset="-122"/>
                <a:cs typeface="Calibri" pitchFamily="34" charset="-120"/>
              </a:rPr>
              <a:t>16</a:t>
            </a:r>
            <a:endParaRPr lang="en-US" sz="1000" dirty="0"/>
          </a:p>
        </p:txBody>
      </p:sp>
      <p:pic>
        <p:nvPicPr>
          <p:cNvPr id="5" name="Image 0" descr="preencoded.png">    </p:cNvPr>
          <p:cNvPicPr>
            <a:picLocks noChangeAspect="1"/>
          </p:cNvPicPr>
          <p:nvPr/>
        </p:nvPicPr>
        <p:blipFill>
          <a:blip r:embed="rId1"/>
          <a:stretch>
            <a:fillRect/>
          </a:stretch>
        </p:blipFill>
        <p:spPr>
          <a:xfrm>
            <a:off x="548640" y="1600200"/>
            <a:ext cx="6309360" cy="4233672"/>
          </a:xfrm>
          <a:prstGeom prst="rect">
            <a:avLst/>
          </a:prstGeom>
        </p:spPr>
      </p:pic>
      <p:sp>
        <p:nvSpPr>
          <p:cNvPr id="6" name="Shape 3"/>
          <p:cNvSpPr/>
          <p:nvPr/>
        </p:nvSpPr>
        <p:spPr>
          <a:xfrm>
            <a:off x="548640" y="1600200"/>
            <a:ext cx="6309360" cy="4233672"/>
          </a:xfrm>
          <a:prstGeom prst="rect">
            <a:avLst/>
          </a:prstGeom>
          <a:ln w="12700">
            <a:solidFill>
              <a:srgbClr val="DDE1E8"/>
            </a:solidFill>
            <a:prstDash val="solid"/>
          </a:ln>
        </p:spPr>
      </p:sp>
      <p:sp>
        <p:nvSpPr>
          <p:cNvPr id="7" name="Shape 4"/>
          <p:cNvSpPr/>
          <p:nvPr/>
        </p:nvSpPr>
        <p:spPr>
          <a:xfrm>
            <a:off x="8001000" y="1600200"/>
            <a:ext cx="3611880" cy="502920"/>
          </a:xfrm>
          <a:prstGeom prst="roundRect">
            <a:avLst>
              <a:gd name="adj" fmla="val 18182"/>
            </a:avLst>
          </a:prstGeom>
          <a:solidFill>
            <a:srgbClr val="F2A541"/>
          </a:solidFill>
          <a:ln w="12700">
            <a:solidFill>
              <a:srgbClr val="F2A541"/>
            </a:solidFill>
            <a:prstDash val="solid"/>
          </a:ln>
        </p:spPr>
      </p:sp>
      <p:sp>
        <p:nvSpPr>
          <p:cNvPr id="8" name="Text 5"/>
          <p:cNvSpPr txBox="1"/>
          <p:nvPr/>
        </p:nvSpPr>
        <p:spPr>
          <a:xfrm>
            <a:off x="8138160" y="1600200"/>
            <a:ext cx="3383280" cy="502920"/>
          </a:xfrm>
          <a:prstGeom prst="rect">
            <a:avLst/>
          </a:prstGeom>
          <a:noFill/>
          <a:ln/>
        </p:spPr>
        <p:txBody>
          <a:bodyPr wrap="square" lIns="0" tIns="0" rIns="0" bIns="0" rtlCol="0" anchor="ctr"/>
          <a:lstStyle/>
          <a:p>
            <a:pPr indent="0" marL="0">
              <a:buNone/>
            </a:pPr>
            <a:r>
              <a:rPr lang="en-US" sz="1200" b="1" dirty="0">
                <a:solidFill>
                  <a:srgbClr val="13203A"/>
                </a:solidFill>
                <a:latin typeface="Calibri" pitchFamily="34" charset="0"/>
                <a:ea typeface="Calibri" pitchFamily="34" charset="-122"/>
                <a:cs typeface="Calibri" pitchFamily="34" charset="-120"/>
              </a:rPr>
              <a:t>Who is driving the alto TS09AB1234?</a:t>
            </a:r>
            <a:endParaRPr lang="en-US" sz="1200" dirty="0"/>
          </a:p>
        </p:txBody>
      </p:sp>
      <p:sp>
        <p:nvSpPr>
          <p:cNvPr id="9" name="Shape 6"/>
          <p:cNvSpPr/>
          <p:nvPr/>
        </p:nvSpPr>
        <p:spPr>
          <a:xfrm>
            <a:off x="7178040" y="2240280"/>
            <a:ext cx="4434840" cy="1325880"/>
          </a:xfrm>
          <a:prstGeom prst="roundRect">
            <a:avLst>
              <a:gd name="adj" fmla="val 6897"/>
            </a:avLst>
          </a:prstGeom>
          <a:solidFill>
            <a:srgbClr val="13203A"/>
          </a:solidFill>
          <a:ln w="12700">
            <a:solidFill>
              <a:srgbClr val="13203A"/>
            </a:solidFill>
            <a:prstDash val="solid"/>
          </a:ln>
        </p:spPr>
      </p:sp>
      <p:sp>
        <p:nvSpPr>
          <p:cNvPr id="10" name="Text 7"/>
          <p:cNvSpPr txBox="1"/>
          <p:nvPr/>
        </p:nvSpPr>
        <p:spPr>
          <a:xfrm>
            <a:off x="7360920" y="2331720"/>
            <a:ext cx="4069080" cy="8229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Ravi Kumar (9876543210) is driving the Maruti Suzuki Alto TS 09 AB 1234, assigned 10:00 to 18:00 today.</a:t>
            </a:r>
            <a:endParaRPr lang="en-US" sz="1200" dirty="0"/>
          </a:p>
        </p:txBody>
      </p:sp>
      <p:sp>
        <p:nvSpPr>
          <p:cNvPr id="11" name="Text 8"/>
          <p:cNvSpPr txBox="1"/>
          <p:nvPr/>
        </p:nvSpPr>
        <p:spPr>
          <a:xfrm>
            <a:off x="7360920" y="3200400"/>
            <a:ext cx="4069080" cy="274320"/>
          </a:xfrm>
          <a:prstGeom prst="rect">
            <a:avLst/>
          </a:prstGeom>
          <a:noFill/>
          <a:ln/>
        </p:spPr>
        <p:txBody>
          <a:bodyPr wrap="square" lIns="0" tIns="0" rIns="0" bIns="0" rtlCol="0" anchor="t"/>
          <a:lstStyle/>
          <a:p>
            <a:pPr indent="0" marL="0">
              <a:buNone/>
            </a:pPr>
            <a:r>
              <a:rPr lang="en-US" sz="1000" dirty="0">
                <a:solidFill>
                  <a:srgbClr val="F2A541"/>
                </a:solidFill>
                <a:latin typeface="Courier New" pitchFamily="34" charset="0"/>
                <a:ea typeface="Courier New" pitchFamily="34" charset="-122"/>
                <a:cs typeface="Courier New" pitchFamily="34" charset="-120"/>
              </a:rPr>
              <a:t>looked up find_vehicle</a:t>
            </a:r>
            <a:endParaRPr lang="en-US" sz="1000" dirty="0"/>
          </a:p>
        </p:txBody>
      </p:sp>
      <p:sp>
        <p:nvSpPr>
          <p:cNvPr id="12" name="Shape 9"/>
          <p:cNvSpPr/>
          <p:nvPr/>
        </p:nvSpPr>
        <p:spPr>
          <a:xfrm>
            <a:off x="8001000" y="3794760"/>
            <a:ext cx="3611880" cy="502920"/>
          </a:xfrm>
          <a:prstGeom prst="roundRect">
            <a:avLst>
              <a:gd name="adj" fmla="val 18182"/>
            </a:avLst>
          </a:prstGeom>
          <a:solidFill>
            <a:srgbClr val="F2A541"/>
          </a:solidFill>
          <a:ln w="12700">
            <a:solidFill>
              <a:srgbClr val="F2A541"/>
            </a:solidFill>
            <a:prstDash val="solid"/>
          </a:ln>
        </p:spPr>
      </p:sp>
      <p:sp>
        <p:nvSpPr>
          <p:cNvPr id="13" name="Text 10"/>
          <p:cNvSpPr txBox="1"/>
          <p:nvPr/>
        </p:nvSpPr>
        <p:spPr>
          <a:xfrm>
            <a:off x="8138160" y="3794760"/>
            <a:ext cx="3383280" cy="502920"/>
          </a:xfrm>
          <a:prstGeom prst="rect">
            <a:avLst/>
          </a:prstGeom>
          <a:noFill/>
          <a:ln/>
        </p:spPr>
        <p:txBody>
          <a:bodyPr wrap="square" lIns="0" tIns="0" rIns="0" bIns="0" rtlCol="0" anchor="ctr"/>
          <a:lstStyle/>
          <a:p>
            <a:pPr indent="0" marL="0">
              <a:buNone/>
            </a:pPr>
            <a:r>
              <a:rPr lang="en-US" sz="1200" b="1" dirty="0">
                <a:solidFill>
                  <a:srgbClr val="13203A"/>
                </a:solidFill>
                <a:latin typeface="Calibri" pitchFamily="34" charset="0"/>
                <a:ea typeface="Calibri" pitchFamily="34" charset="-122"/>
                <a:cs typeface="Calibri" pitchFamily="34" charset="-120"/>
              </a:rPr>
              <a:t>What is the time assigned to Priya?</a:t>
            </a:r>
            <a:endParaRPr lang="en-US" sz="1200" dirty="0"/>
          </a:p>
        </p:txBody>
      </p:sp>
      <p:sp>
        <p:nvSpPr>
          <p:cNvPr id="14" name="Shape 11"/>
          <p:cNvSpPr/>
          <p:nvPr/>
        </p:nvSpPr>
        <p:spPr>
          <a:xfrm>
            <a:off x="7178040" y="4434840"/>
            <a:ext cx="4434840" cy="1325880"/>
          </a:xfrm>
          <a:prstGeom prst="roundRect">
            <a:avLst>
              <a:gd name="adj" fmla="val 6897"/>
            </a:avLst>
          </a:prstGeom>
          <a:solidFill>
            <a:srgbClr val="13203A"/>
          </a:solidFill>
          <a:ln w="12700">
            <a:solidFill>
              <a:srgbClr val="13203A"/>
            </a:solidFill>
            <a:prstDash val="solid"/>
          </a:ln>
        </p:spPr>
      </p:sp>
      <p:sp>
        <p:nvSpPr>
          <p:cNvPr id="15" name="Text 12"/>
          <p:cNvSpPr txBox="1"/>
          <p:nvPr/>
        </p:nvSpPr>
        <p:spPr>
          <a:xfrm>
            <a:off x="7360920" y="4526280"/>
            <a:ext cx="4069080" cy="8229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Priya Sharma drives the Swift TS 10 CD 5678 today, 11:00 to 17:00. Pending: Hyundai i20 tomorrow, 18:00 to 22:00.</a:t>
            </a:r>
            <a:endParaRPr lang="en-US" sz="1200" dirty="0"/>
          </a:p>
        </p:txBody>
      </p:sp>
      <p:sp>
        <p:nvSpPr>
          <p:cNvPr id="16" name="Text 13"/>
          <p:cNvSpPr txBox="1"/>
          <p:nvPr/>
        </p:nvSpPr>
        <p:spPr>
          <a:xfrm>
            <a:off x="7360920" y="5394960"/>
            <a:ext cx="4069080" cy="274320"/>
          </a:xfrm>
          <a:prstGeom prst="rect">
            <a:avLst/>
          </a:prstGeom>
          <a:noFill/>
          <a:ln/>
        </p:spPr>
        <p:txBody>
          <a:bodyPr wrap="square" lIns="0" tIns="0" rIns="0" bIns="0" rtlCol="0" anchor="t"/>
          <a:lstStyle/>
          <a:p>
            <a:pPr indent="0" marL="0">
              <a:buNone/>
            </a:pPr>
            <a:r>
              <a:rPr lang="en-US" sz="1000" dirty="0">
                <a:solidFill>
                  <a:srgbClr val="F2A541"/>
                </a:solidFill>
                <a:latin typeface="Courier New" pitchFamily="34" charset="0"/>
                <a:ea typeface="Courier New" pitchFamily="34" charset="-122"/>
                <a:cs typeface="Courier New" pitchFamily="34" charset="-120"/>
              </a:rPr>
              <a:t>looked up find_driver</a:t>
            </a:r>
            <a:endParaRPr lang="en-US" sz="1000" dirty="0"/>
          </a:p>
        </p:txBody>
      </p:sp>
      <p:sp>
        <p:nvSpPr>
          <p:cNvPr id="17" name="Text 14"/>
          <p:cNvSpPr txBox="1"/>
          <p:nvPr/>
        </p:nvSpPr>
        <p:spPr>
          <a:xfrm>
            <a:off x="548640" y="6035040"/>
            <a:ext cx="10972800" cy="320040"/>
          </a:xfrm>
          <a:prstGeom prst="rect">
            <a:avLst/>
          </a:prstGeom>
          <a:noFill/>
          <a:ln/>
        </p:spPr>
        <p:txBody>
          <a:bodyPr wrap="square" lIns="0" tIns="0" rIns="0" bIns="0" rtlCol="0" anchor="t"/>
          <a:lstStyle/>
          <a:p>
            <a:pPr indent="0" marL="0">
              <a:buNone/>
            </a:pPr>
            <a:r>
              <a:rPr lang="en-US" sz="1200" i="1" dirty="0">
                <a:solidFill>
                  <a:srgbClr val="4A5568"/>
                </a:solidFill>
                <a:latin typeface="Calibri" pitchFamily="34" charset="0"/>
                <a:ea typeface="Calibri" pitchFamily="34" charset="-122"/>
                <a:cs typeface="Calibri" pitchFamily="34" charset="-120"/>
              </a:rPr>
              <a:t>Examples use the built-in demo data. Answers are generated live from the database.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300" kern="0" dirty="0">
                <a:solidFill>
                  <a:srgbClr val="9A5B00"/>
                </a:solidFill>
                <a:latin typeface="Calibri" pitchFamily="34" charset="0"/>
                <a:ea typeface="Calibri" pitchFamily="34" charset="-122"/>
                <a:cs typeface="Calibri" pitchFamily="34" charset="-120"/>
              </a:rPr>
              <a:t>AI ASSISTANT</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3203A"/>
                </a:solidFill>
                <a:latin typeface="Cambria" pitchFamily="34" charset="0"/>
                <a:ea typeface="Cambria" pitchFamily="34" charset="-122"/>
                <a:cs typeface="Cambria" pitchFamily="34" charset="-120"/>
              </a:rPr>
              <a:t>Designed not to fail silently</a:t>
            </a:r>
            <a:endParaRPr lang="en-US" sz="3400" dirty="0"/>
          </a:p>
        </p:txBody>
      </p:sp>
      <p:sp>
        <p:nvSpPr>
          <p:cNvPr id="4" name="Text 2"/>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4A5568"/>
                </a:solidFill>
                <a:latin typeface="Calibri" pitchFamily="34" charset="0"/>
                <a:ea typeface="Calibri" pitchFamily="34" charset="-122"/>
                <a:cs typeface="Calibri" pitchFamily="34" charset="-120"/>
              </a:rPr>
              <a:t>17</a:t>
            </a:r>
            <a:endParaRPr lang="en-US" sz="1000" dirty="0"/>
          </a:p>
        </p:txBody>
      </p:sp>
      <p:sp>
        <p:nvSpPr>
          <p:cNvPr id="5" name="Shape 3"/>
          <p:cNvSpPr/>
          <p:nvPr/>
        </p:nvSpPr>
        <p:spPr>
          <a:xfrm>
            <a:off x="548640" y="1691640"/>
            <a:ext cx="5440680" cy="2011680"/>
          </a:xfrm>
          <a:prstGeom prst="roundRect">
            <a:avLst>
              <a:gd name="adj" fmla="val 4545"/>
            </a:avLst>
          </a:prstGeom>
          <a:solidFill>
            <a:srgbClr val="F3F5F8"/>
          </a:solidFill>
          <a:ln w="12700">
            <a:solidFill>
              <a:srgbClr val="F3F5F8"/>
            </a:solidFill>
            <a:prstDash val="solid"/>
          </a:ln>
        </p:spPr>
      </p:sp>
      <p:sp>
        <p:nvSpPr>
          <p:cNvPr id="6" name="Shape 4"/>
          <p:cNvSpPr/>
          <p:nvPr/>
        </p:nvSpPr>
        <p:spPr>
          <a:xfrm>
            <a:off x="868680" y="2011680"/>
            <a:ext cx="685800" cy="685800"/>
          </a:xfrm>
          <a:prstGeom prst="ellipse">
            <a:avLst/>
          </a:prstGeom>
          <a:solidFill>
            <a:srgbClr val="F2A541"/>
          </a:solidFill>
          <a:ln w="12700">
            <a:solidFill>
              <a:srgbClr val="F2A541"/>
            </a:solidFill>
            <a:prstDash val="solid"/>
          </a:ln>
        </p:spPr>
      </p:sp>
      <p:pic>
        <p:nvPicPr>
          <p:cNvPr id="7" name="Image 0" descr="preencoded.png">    </p:cNvPr>
          <p:cNvPicPr>
            <a:picLocks noChangeAspect="1"/>
          </p:cNvPicPr>
          <p:nvPr/>
        </p:nvPicPr>
        <p:blipFill>
          <a:blip r:embed="rId1"/>
          <a:stretch>
            <a:fillRect/>
          </a:stretch>
        </p:blipFill>
        <p:spPr>
          <a:xfrm>
            <a:off x="1040130" y="2183130"/>
            <a:ext cx="342900" cy="342900"/>
          </a:xfrm>
          <a:prstGeom prst="rect">
            <a:avLst/>
          </a:prstGeom>
        </p:spPr>
      </p:pic>
      <p:sp>
        <p:nvSpPr>
          <p:cNvPr id="8" name="Text 5"/>
          <p:cNvSpPr txBox="1"/>
          <p:nvPr/>
        </p:nvSpPr>
        <p:spPr>
          <a:xfrm>
            <a:off x="1783080" y="2011680"/>
            <a:ext cx="3977640" cy="365760"/>
          </a:xfrm>
          <a:prstGeom prst="rect">
            <a:avLst/>
          </a:prstGeom>
          <a:noFill/>
          <a:ln/>
        </p:spPr>
        <p:txBody>
          <a:bodyPr wrap="square" lIns="0" tIns="0" rIns="0" bIns="0" rtlCol="0" anchor="t"/>
          <a:lstStyle/>
          <a:p>
            <a:pPr indent="0" marL="0">
              <a:buNone/>
            </a:pPr>
            <a:r>
              <a:rPr lang="en-US" sz="1700" b="1" dirty="0">
                <a:solidFill>
                  <a:srgbClr val="13203A"/>
                </a:solidFill>
                <a:latin typeface="Calibri" pitchFamily="34" charset="0"/>
                <a:ea typeface="Calibri" pitchFamily="34" charset="-122"/>
                <a:cs typeface="Calibri" pitchFamily="34" charset="-120"/>
              </a:rPr>
              <a:t>Rule-based fallback</a:t>
            </a:r>
            <a:endParaRPr lang="en-US" sz="1700" dirty="0"/>
          </a:p>
        </p:txBody>
      </p:sp>
      <p:sp>
        <p:nvSpPr>
          <p:cNvPr id="9" name="Text 6"/>
          <p:cNvSpPr txBox="1"/>
          <p:nvPr/>
        </p:nvSpPr>
        <p:spPr>
          <a:xfrm>
            <a:off x="1783080" y="2423160"/>
            <a:ext cx="3977640" cy="114300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If the model is offline or errors, a deterministic responder answers common questions from the same tools, with a notice in the UI.</a:t>
            </a:r>
            <a:endParaRPr lang="en-US" sz="1300" dirty="0"/>
          </a:p>
        </p:txBody>
      </p:sp>
      <p:sp>
        <p:nvSpPr>
          <p:cNvPr id="10" name="Shape 7"/>
          <p:cNvSpPr/>
          <p:nvPr/>
        </p:nvSpPr>
        <p:spPr>
          <a:xfrm>
            <a:off x="6172200" y="1691640"/>
            <a:ext cx="5440680" cy="2011680"/>
          </a:xfrm>
          <a:prstGeom prst="roundRect">
            <a:avLst>
              <a:gd name="adj" fmla="val 4545"/>
            </a:avLst>
          </a:prstGeom>
          <a:solidFill>
            <a:srgbClr val="F3F5F8"/>
          </a:solidFill>
          <a:ln w="12700">
            <a:solidFill>
              <a:srgbClr val="F3F5F8"/>
            </a:solidFill>
            <a:prstDash val="solid"/>
          </a:ln>
        </p:spPr>
      </p:sp>
      <p:sp>
        <p:nvSpPr>
          <p:cNvPr id="11" name="Shape 8"/>
          <p:cNvSpPr/>
          <p:nvPr/>
        </p:nvSpPr>
        <p:spPr>
          <a:xfrm>
            <a:off x="6492240" y="2011680"/>
            <a:ext cx="685800" cy="685800"/>
          </a:xfrm>
          <a:prstGeom prst="ellipse">
            <a:avLst/>
          </a:prstGeom>
          <a:solidFill>
            <a:srgbClr val="F2A541"/>
          </a:solidFill>
          <a:ln w="12700">
            <a:solidFill>
              <a:srgbClr val="F2A541"/>
            </a:solidFill>
            <a:prstDash val="solid"/>
          </a:ln>
        </p:spPr>
      </p:sp>
      <p:pic>
        <p:nvPicPr>
          <p:cNvPr id="12" name="Image 1" descr="preencoded.png">    </p:cNvPr>
          <p:cNvPicPr>
            <a:picLocks noChangeAspect="1"/>
          </p:cNvPicPr>
          <p:nvPr/>
        </p:nvPicPr>
        <p:blipFill>
          <a:blip r:embed="rId2"/>
          <a:stretch>
            <a:fillRect/>
          </a:stretch>
        </p:blipFill>
        <p:spPr>
          <a:xfrm>
            <a:off x="6663690" y="2183130"/>
            <a:ext cx="342900" cy="342900"/>
          </a:xfrm>
          <a:prstGeom prst="rect">
            <a:avLst/>
          </a:prstGeom>
        </p:spPr>
      </p:pic>
      <p:sp>
        <p:nvSpPr>
          <p:cNvPr id="13" name="Text 9"/>
          <p:cNvSpPr txBox="1"/>
          <p:nvPr/>
        </p:nvSpPr>
        <p:spPr>
          <a:xfrm>
            <a:off x="7406640" y="2011680"/>
            <a:ext cx="3977640" cy="365760"/>
          </a:xfrm>
          <a:prstGeom prst="rect">
            <a:avLst/>
          </a:prstGeom>
          <a:noFill/>
          <a:ln/>
        </p:spPr>
        <p:txBody>
          <a:bodyPr wrap="square" lIns="0" tIns="0" rIns="0" bIns="0" rtlCol="0" anchor="t"/>
          <a:lstStyle/>
          <a:p>
            <a:pPr indent="0" marL="0">
              <a:buNone/>
            </a:pPr>
            <a:r>
              <a:rPr lang="en-US" sz="1700" b="1" dirty="0">
                <a:solidFill>
                  <a:srgbClr val="13203A"/>
                </a:solidFill>
                <a:latin typeface="Calibri" pitchFamily="34" charset="0"/>
                <a:ea typeface="Calibri" pitchFamily="34" charset="-122"/>
                <a:cs typeface="Calibri" pitchFamily="34" charset="-120"/>
              </a:rPr>
              <a:t>Handles small-model quirks</a:t>
            </a:r>
            <a:endParaRPr lang="en-US" sz="1700" dirty="0"/>
          </a:p>
        </p:txBody>
      </p:sp>
      <p:sp>
        <p:nvSpPr>
          <p:cNvPr id="14" name="Text 10"/>
          <p:cNvSpPr txBox="1"/>
          <p:nvPr/>
        </p:nvSpPr>
        <p:spPr>
          <a:xfrm>
            <a:off x="7406640" y="2423160"/>
            <a:ext cx="3977640" cy="114300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Some small models print a tool call as text; the assistant detects that JSON and still runs the tool.</a:t>
            </a:r>
            <a:endParaRPr lang="en-US" sz="1300" dirty="0"/>
          </a:p>
        </p:txBody>
      </p:sp>
      <p:sp>
        <p:nvSpPr>
          <p:cNvPr id="15" name="Shape 11"/>
          <p:cNvSpPr/>
          <p:nvPr/>
        </p:nvSpPr>
        <p:spPr>
          <a:xfrm>
            <a:off x="548640" y="3931920"/>
            <a:ext cx="5440680" cy="2011680"/>
          </a:xfrm>
          <a:prstGeom prst="roundRect">
            <a:avLst>
              <a:gd name="adj" fmla="val 4545"/>
            </a:avLst>
          </a:prstGeom>
          <a:solidFill>
            <a:srgbClr val="F3F5F8"/>
          </a:solidFill>
          <a:ln w="12700">
            <a:solidFill>
              <a:srgbClr val="F3F5F8"/>
            </a:solidFill>
            <a:prstDash val="solid"/>
          </a:ln>
        </p:spPr>
      </p:sp>
      <p:sp>
        <p:nvSpPr>
          <p:cNvPr id="16" name="Shape 12"/>
          <p:cNvSpPr/>
          <p:nvPr/>
        </p:nvSpPr>
        <p:spPr>
          <a:xfrm>
            <a:off x="868680" y="4251960"/>
            <a:ext cx="685800" cy="685800"/>
          </a:xfrm>
          <a:prstGeom prst="ellipse">
            <a:avLst/>
          </a:prstGeom>
          <a:solidFill>
            <a:srgbClr val="F2A541"/>
          </a:solidFill>
          <a:ln w="12700">
            <a:solidFill>
              <a:srgbClr val="F2A541"/>
            </a:solidFill>
            <a:prstDash val="solid"/>
          </a:ln>
        </p:spPr>
      </p:sp>
      <p:pic>
        <p:nvPicPr>
          <p:cNvPr id="17" name="Image 2" descr="preencoded.png">    </p:cNvPr>
          <p:cNvPicPr>
            <a:picLocks noChangeAspect="1"/>
          </p:cNvPicPr>
          <p:nvPr/>
        </p:nvPicPr>
        <p:blipFill>
          <a:blip r:embed="rId3"/>
          <a:stretch>
            <a:fillRect/>
          </a:stretch>
        </p:blipFill>
        <p:spPr>
          <a:xfrm>
            <a:off x="1040130" y="4423410"/>
            <a:ext cx="342900" cy="342900"/>
          </a:xfrm>
          <a:prstGeom prst="rect">
            <a:avLst/>
          </a:prstGeom>
        </p:spPr>
      </p:pic>
      <p:sp>
        <p:nvSpPr>
          <p:cNvPr id="18" name="Text 13"/>
          <p:cNvSpPr txBox="1"/>
          <p:nvPr/>
        </p:nvSpPr>
        <p:spPr>
          <a:xfrm>
            <a:off x="1783080" y="4251960"/>
            <a:ext cx="3977640" cy="365760"/>
          </a:xfrm>
          <a:prstGeom prst="rect">
            <a:avLst/>
          </a:prstGeom>
          <a:noFill/>
          <a:ln/>
        </p:spPr>
        <p:txBody>
          <a:bodyPr wrap="square" lIns="0" tIns="0" rIns="0" bIns="0" rtlCol="0" anchor="t"/>
          <a:lstStyle/>
          <a:p>
            <a:pPr indent="0" marL="0">
              <a:buNone/>
            </a:pPr>
            <a:r>
              <a:rPr lang="en-US" sz="1700" b="1" dirty="0">
                <a:solidFill>
                  <a:srgbClr val="13203A"/>
                </a:solidFill>
                <a:latin typeface="Calibri" pitchFamily="34" charset="0"/>
                <a:ea typeface="Calibri" pitchFamily="34" charset="-122"/>
                <a:cs typeface="Calibri" pitchFamily="34" charset="-120"/>
              </a:rPr>
              <a:t>Timeouts</a:t>
            </a:r>
            <a:endParaRPr lang="en-US" sz="1700" dirty="0"/>
          </a:p>
        </p:txBody>
      </p:sp>
      <p:sp>
        <p:nvSpPr>
          <p:cNvPr id="19" name="Text 14"/>
          <p:cNvSpPr txBox="1"/>
          <p:nvPr/>
        </p:nvSpPr>
        <p:spPr>
          <a:xfrm>
            <a:off x="1783080" y="4663440"/>
            <a:ext cx="3977640" cy="114300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Configurable time limit per model call; the user always gets a response.</a:t>
            </a:r>
            <a:endParaRPr lang="en-US" sz="1300" dirty="0"/>
          </a:p>
        </p:txBody>
      </p:sp>
      <p:sp>
        <p:nvSpPr>
          <p:cNvPr id="20" name="Shape 15"/>
          <p:cNvSpPr/>
          <p:nvPr/>
        </p:nvSpPr>
        <p:spPr>
          <a:xfrm>
            <a:off x="6172200" y="3931920"/>
            <a:ext cx="5440680" cy="2011680"/>
          </a:xfrm>
          <a:prstGeom prst="roundRect">
            <a:avLst>
              <a:gd name="adj" fmla="val 4545"/>
            </a:avLst>
          </a:prstGeom>
          <a:solidFill>
            <a:srgbClr val="F3F5F8"/>
          </a:solidFill>
          <a:ln w="12700">
            <a:solidFill>
              <a:srgbClr val="F3F5F8"/>
            </a:solidFill>
            <a:prstDash val="solid"/>
          </a:ln>
        </p:spPr>
      </p:sp>
      <p:sp>
        <p:nvSpPr>
          <p:cNvPr id="21" name="Shape 16"/>
          <p:cNvSpPr/>
          <p:nvPr/>
        </p:nvSpPr>
        <p:spPr>
          <a:xfrm>
            <a:off x="6492240" y="4251960"/>
            <a:ext cx="685800" cy="685800"/>
          </a:xfrm>
          <a:prstGeom prst="ellipse">
            <a:avLst/>
          </a:prstGeom>
          <a:solidFill>
            <a:srgbClr val="F2A541"/>
          </a:solidFill>
          <a:ln w="12700">
            <a:solidFill>
              <a:srgbClr val="F2A541"/>
            </a:solidFill>
            <a:prstDash val="solid"/>
          </a:ln>
        </p:spPr>
      </p:sp>
      <p:pic>
        <p:nvPicPr>
          <p:cNvPr id="22" name="Image 3" descr="preencoded.png">    </p:cNvPr>
          <p:cNvPicPr>
            <a:picLocks noChangeAspect="1"/>
          </p:cNvPicPr>
          <p:nvPr/>
        </p:nvPicPr>
        <p:blipFill>
          <a:blip r:embed="rId4"/>
          <a:stretch>
            <a:fillRect/>
          </a:stretch>
        </p:blipFill>
        <p:spPr>
          <a:xfrm>
            <a:off x="6663690" y="4423410"/>
            <a:ext cx="342900" cy="342900"/>
          </a:xfrm>
          <a:prstGeom prst="rect">
            <a:avLst/>
          </a:prstGeom>
        </p:spPr>
      </p:pic>
      <p:sp>
        <p:nvSpPr>
          <p:cNvPr id="23" name="Text 17"/>
          <p:cNvSpPr txBox="1"/>
          <p:nvPr/>
        </p:nvSpPr>
        <p:spPr>
          <a:xfrm>
            <a:off x="7406640" y="4251960"/>
            <a:ext cx="3977640" cy="365760"/>
          </a:xfrm>
          <a:prstGeom prst="rect">
            <a:avLst/>
          </a:prstGeom>
          <a:noFill/>
          <a:ln/>
        </p:spPr>
        <p:txBody>
          <a:bodyPr wrap="square" lIns="0" tIns="0" rIns="0" bIns="0" rtlCol="0" anchor="t"/>
          <a:lstStyle/>
          <a:p>
            <a:pPr indent="0" marL="0">
              <a:buNone/>
            </a:pPr>
            <a:r>
              <a:rPr lang="en-US" sz="1700" b="1" dirty="0">
                <a:solidFill>
                  <a:srgbClr val="13203A"/>
                </a:solidFill>
                <a:latin typeface="Calibri" pitchFamily="34" charset="0"/>
                <a:ea typeface="Calibri" pitchFamily="34" charset="-122"/>
                <a:cs typeface="Calibri" pitchFamily="34" charset="-120"/>
              </a:rPr>
              <a:t>Transparency</a:t>
            </a:r>
            <a:endParaRPr lang="en-US" sz="1700" dirty="0"/>
          </a:p>
        </p:txBody>
      </p:sp>
      <p:sp>
        <p:nvSpPr>
          <p:cNvPr id="24" name="Text 18"/>
          <p:cNvSpPr txBox="1"/>
          <p:nvPr/>
        </p:nvSpPr>
        <p:spPr>
          <a:xfrm>
            <a:off x="7406640" y="4663440"/>
            <a:ext cx="3977640" cy="114300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Every answer lists the tools used and whether the LLM or the rules answered.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300" kern="0" dirty="0">
                <a:solidFill>
                  <a:srgbClr val="9A5B00"/>
                </a:solidFill>
                <a:latin typeface="Calibri" pitchFamily="34" charset="0"/>
                <a:ea typeface="Calibri" pitchFamily="34" charset="-122"/>
                <a:cs typeface="Calibri" pitchFamily="34" charset="-120"/>
              </a:rPr>
              <a:t>SECURITY</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3203A"/>
                </a:solidFill>
                <a:latin typeface="Cambria" pitchFamily="34" charset="0"/>
                <a:ea typeface="Cambria" pitchFamily="34" charset="-122"/>
                <a:cs typeface="Cambria" pitchFamily="34" charset="-120"/>
              </a:rPr>
              <a:t>Safeguards built in from day one</a:t>
            </a:r>
            <a:endParaRPr lang="en-US" sz="3400" dirty="0"/>
          </a:p>
        </p:txBody>
      </p:sp>
      <p:sp>
        <p:nvSpPr>
          <p:cNvPr id="4" name="Text 2"/>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4A5568"/>
                </a:solidFill>
                <a:latin typeface="Calibri" pitchFamily="34" charset="0"/>
                <a:ea typeface="Calibri" pitchFamily="34" charset="-122"/>
                <a:cs typeface="Calibri" pitchFamily="34" charset="-120"/>
              </a:rPr>
              <a:t>18</a:t>
            </a:r>
            <a:endParaRPr lang="en-US" sz="1000" dirty="0"/>
          </a:p>
        </p:txBody>
      </p:sp>
      <p:sp>
        <p:nvSpPr>
          <p:cNvPr id="5" name="Shape 3"/>
          <p:cNvSpPr/>
          <p:nvPr/>
        </p:nvSpPr>
        <p:spPr>
          <a:xfrm>
            <a:off x="548640" y="1691640"/>
            <a:ext cx="3520440" cy="1691640"/>
          </a:xfrm>
          <a:prstGeom prst="roundRect">
            <a:avLst>
              <a:gd name="adj" fmla="val 5405"/>
            </a:avLst>
          </a:prstGeom>
          <a:solidFill>
            <a:srgbClr val="F3F5F8"/>
          </a:solidFill>
          <a:ln w="12700">
            <a:solidFill>
              <a:srgbClr val="F3F5F8"/>
            </a:solidFill>
            <a:prstDash val="solid"/>
          </a:ln>
        </p:spPr>
      </p:sp>
      <p:sp>
        <p:nvSpPr>
          <p:cNvPr id="6" name="Shape 4"/>
          <p:cNvSpPr/>
          <p:nvPr/>
        </p:nvSpPr>
        <p:spPr>
          <a:xfrm>
            <a:off x="822960" y="1965960"/>
            <a:ext cx="548640" cy="548640"/>
          </a:xfrm>
          <a:prstGeom prst="ellipse">
            <a:avLst/>
          </a:prstGeom>
          <a:solidFill>
            <a:srgbClr val="F2A541"/>
          </a:solidFill>
          <a:ln w="12700">
            <a:solidFill>
              <a:srgbClr val="F2A541"/>
            </a:solidFill>
            <a:prstDash val="solid"/>
          </a:ln>
        </p:spPr>
      </p:sp>
      <p:pic>
        <p:nvPicPr>
          <p:cNvPr id="7" name="Image 0" descr="preencoded.png">    </p:cNvPr>
          <p:cNvPicPr>
            <a:picLocks noChangeAspect="1"/>
          </p:cNvPicPr>
          <p:nvPr/>
        </p:nvPicPr>
        <p:blipFill>
          <a:blip r:embed="rId1"/>
          <a:stretch>
            <a:fillRect/>
          </a:stretch>
        </p:blipFill>
        <p:spPr>
          <a:xfrm>
            <a:off x="960120" y="2103120"/>
            <a:ext cx="274320" cy="274320"/>
          </a:xfrm>
          <a:prstGeom prst="rect">
            <a:avLst/>
          </a:prstGeom>
        </p:spPr>
      </p:pic>
      <p:sp>
        <p:nvSpPr>
          <p:cNvPr id="8" name="Text 5"/>
          <p:cNvSpPr txBox="1"/>
          <p:nvPr/>
        </p:nvSpPr>
        <p:spPr>
          <a:xfrm>
            <a:off x="1554480" y="1965960"/>
            <a:ext cx="2331720" cy="548640"/>
          </a:xfrm>
          <a:prstGeom prst="rect">
            <a:avLst/>
          </a:prstGeom>
          <a:noFill/>
          <a:ln/>
        </p:spPr>
        <p:txBody>
          <a:bodyPr wrap="square" lIns="0" tIns="0" rIns="0" bIns="0" rtlCol="0" anchor="ctr"/>
          <a:lstStyle/>
          <a:p>
            <a:pPr indent="0" marL="0">
              <a:buNone/>
            </a:pPr>
            <a:r>
              <a:rPr lang="en-US" sz="1500" b="1" dirty="0">
                <a:solidFill>
                  <a:srgbClr val="13203A"/>
                </a:solidFill>
                <a:latin typeface="Calibri" pitchFamily="34" charset="0"/>
                <a:ea typeface="Calibri" pitchFamily="34" charset="-122"/>
                <a:cs typeface="Calibri" pitchFamily="34" charset="-120"/>
              </a:rPr>
              <a:t>Password hashing</a:t>
            </a:r>
            <a:endParaRPr lang="en-US" sz="1500" dirty="0"/>
          </a:p>
        </p:txBody>
      </p:sp>
      <p:sp>
        <p:nvSpPr>
          <p:cNvPr id="9" name="Text 6"/>
          <p:cNvSpPr txBox="1"/>
          <p:nvPr/>
        </p:nvSpPr>
        <p:spPr>
          <a:xfrm>
            <a:off x="822960" y="2606040"/>
            <a:ext cx="2971800" cy="68580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BCrypt; hashes are never returned by the API</a:t>
            </a:r>
            <a:endParaRPr lang="en-US" sz="1250" dirty="0"/>
          </a:p>
        </p:txBody>
      </p:sp>
      <p:sp>
        <p:nvSpPr>
          <p:cNvPr id="10" name="Shape 7"/>
          <p:cNvSpPr/>
          <p:nvPr/>
        </p:nvSpPr>
        <p:spPr>
          <a:xfrm>
            <a:off x="4297680" y="1691640"/>
            <a:ext cx="3520440" cy="1691640"/>
          </a:xfrm>
          <a:prstGeom prst="roundRect">
            <a:avLst>
              <a:gd name="adj" fmla="val 5405"/>
            </a:avLst>
          </a:prstGeom>
          <a:solidFill>
            <a:srgbClr val="F3F5F8"/>
          </a:solidFill>
          <a:ln w="12700">
            <a:solidFill>
              <a:srgbClr val="F3F5F8"/>
            </a:solidFill>
            <a:prstDash val="solid"/>
          </a:ln>
        </p:spPr>
      </p:sp>
      <p:sp>
        <p:nvSpPr>
          <p:cNvPr id="11" name="Shape 8"/>
          <p:cNvSpPr/>
          <p:nvPr/>
        </p:nvSpPr>
        <p:spPr>
          <a:xfrm>
            <a:off x="4572000" y="1965960"/>
            <a:ext cx="548640" cy="548640"/>
          </a:xfrm>
          <a:prstGeom prst="ellipse">
            <a:avLst/>
          </a:prstGeom>
          <a:solidFill>
            <a:srgbClr val="F2A541"/>
          </a:solidFill>
          <a:ln w="12700">
            <a:solidFill>
              <a:srgbClr val="F2A541"/>
            </a:solidFill>
            <a:prstDash val="solid"/>
          </a:ln>
        </p:spPr>
      </p:sp>
      <p:pic>
        <p:nvPicPr>
          <p:cNvPr id="12" name="Image 1" descr="preencoded.png">    </p:cNvPr>
          <p:cNvPicPr>
            <a:picLocks noChangeAspect="1"/>
          </p:cNvPicPr>
          <p:nvPr/>
        </p:nvPicPr>
        <p:blipFill>
          <a:blip r:embed="rId2"/>
          <a:stretch>
            <a:fillRect/>
          </a:stretch>
        </p:blipFill>
        <p:spPr>
          <a:xfrm>
            <a:off x="4709160" y="2103120"/>
            <a:ext cx="274320" cy="274320"/>
          </a:xfrm>
          <a:prstGeom prst="rect">
            <a:avLst/>
          </a:prstGeom>
        </p:spPr>
      </p:pic>
      <p:sp>
        <p:nvSpPr>
          <p:cNvPr id="13" name="Text 9"/>
          <p:cNvSpPr txBox="1"/>
          <p:nvPr/>
        </p:nvSpPr>
        <p:spPr>
          <a:xfrm>
            <a:off x="5303520" y="1965960"/>
            <a:ext cx="2331720" cy="548640"/>
          </a:xfrm>
          <a:prstGeom prst="rect">
            <a:avLst/>
          </a:prstGeom>
          <a:noFill/>
          <a:ln/>
        </p:spPr>
        <p:txBody>
          <a:bodyPr wrap="square" lIns="0" tIns="0" rIns="0" bIns="0" rtlCol="0" anchor="ctr"/>
          <a:lstStyle/>
          <a:p>
            <a:pPr indent="0" marL="0">
              <a:buNone/>
            </a:pPr>
            <a:r>
              <a:rPr lang="en-US" sz="1500" b="1" dirty="0">
                <a:solidFill>
                  <a:srgbClr val="13203A"/>
                </a:solidFill>
                <a:latin typeface="Calibri" pitchFamily="34" charset="0"/>
                <a:ea typeface="Calibri" pitchFamily="34" charset="-122"/>
                <a:cs typeface="Calibri" pitchFamily="34" charset="-120"/>
              </a:rPr>
              <a:t>Input validation</a:t>
            </a:r>
            <a:endParaRPr lang="en-US" sz="1500" dirty="0"/>
          </a:p>
        </p:txBody>
      </p:sp>
      <p:sp>
        <p:nvSpPr>
          <p:cNvPr id="14" name="Text 10"/>
          <p:cNvSpPr txBox="1"/>
          <p:nvPr/>
        </p:nvSpPr>
        <p:spPr>
          <a:xfrm>
            <a:off x="4572000" y="2606040"/>
            <a:ext cx="2971800" cy="68580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Bean Validation on every request body</a:t>
            </a:r>
            <a:endParaRPr lang="en-US" sz="1250" dirty="0"/>
          </a:p>
        </p:txBody>
      </p:sp>
      <p:sp>
        <p:nvSpPr>
          <p:cNvPr id="15" name="Shape 11"/>
          <p:cNvSpPr/>
          <p:nvPr/>
        </p:nvSpPr>
        <p:spPr>
          <a:xfrm>
            <a:off x="8046720" y="1691640"/>
            <a:ext cx="3520440" cy="1691640"/>
          </a:xfrm>
          <a:prstGeom prst="roundRect">
            <a:avLst>
              <a:gd name="adj" fmla="val 5405"/>
            </a:avLst>
          </a:prstGeom>
          <a:solidFill>
            <a:srgbClr val="F3F5F8"/>
          </a:solidFill>
          <a:ln w="12700">
            <a:solidFill>
              <a:srgbClr val="F3F5F8"/>
            </a:solidFill>
            <a:prstDash val="solid"/>
          </a:ln>
        </p:spPr>
      </p:sp>
      <p:sp>
        <p:nvSpPr>
          <p:cNvPr id="16" name="Shape 12"/>
          <p:cNvSpPr/>
          <p:nvPr/>
        </p:nvSpPr>
        <p:spPr>
          <a:xfrm>
            <a:off x="8321040" y="1965960"/>
            <a:ext cx="548640" cy="548640"/>
          </a:xfrm>
          <a:prstGeom prst="ellipse">
            <a:avLst/>
          </a:prstGeom>
          <a:solidFill>
            <a:srgbClr val="F2A541"/>
          </a:solidFill>
          <a:ln w="12700">
            <a:solidFill>
              <a:srgbClr val="F2A541"/>
            </a:solidFill>
            <a:prstDash val="solid"/>
          </a:ln>
        </p:spPr>
      </p:sp>
      <p:pic>
        <p:nvPicPr>
          <p:cNvPr id="17" name="Image 2" descr="preencoded.png">    </p:cNvPr>
          <p:cNvPicPr>
            <a:picLocks noChangeAspect="1"/>
          </p:cNvPicPr>
          <p:nvPr/>
        </p:nvPicPr>
        <p:blipFill>
          <a:blip r:embed="rId3"/>
          <a:stretch>
            <a:fillRect/>
          </a:stretch>
        </p:blipFill>
        <p:spPr>
          <a:xfrm>
            <a:off x="8458200" y="2103120"/>
            <a:ext cx="274320" cy="274320"/>
          </a:xfrm>
          <a:prstGeom prst="rect">
            <a:avLst/>
          </a:prstGeom>
        </p:spPr>
      </p:pic>
      <p:sp>
        <p:nvSpPr>
          <p:cNvPr id="18" name="Text 13"/>
          <p:cNvSpPr txBox="1"/>
          <p:nvPr/>
        </p:nvSpPr>
        <p:spPr>
          <a:xfrm>
            <a:off x="9052560" y="1965960"/>
            <a:ext cx="2331720" cy="548640"/>
          </a:xfrm>
          <a:prstGeom prst="rect">
            <a:avLst/>
          </a:prstGeom>
          <a:noFill/>
          <a:ln/>
        </p:spPr>
        <p:txBody>
          <a:bodyPr wrap="square" lIns="0" tIns="0" rIns="0" bIns="0" rtlCol="0" anchor="ctr"/>
          <a:lstStyle/>
          <a:p>
            <a:pPr indent="0" marL="0">
              <a:buNone/>
            </a:pPr>
            <a:r>
              <a:rPr lang="en-US" sz="1500" b="1" dirty="0">
                <a:solidFill>
                  <a:srgbClr val="13203A"/>
                </a:solidFill>
                <a:latin typeface="Calibri" pitchFamily="34" charset="0"/>
                <a:ea typeface="Calibri" pitchFamily="34" charset="-122"/>
                <a:cs typeface="Calibri" pitchFamily="34" charset="-120"/>
              </a:rPr>
              <a:t>Read-only AI</a:t>
            </a:r>
            <a:endParaRPr lang="en-US" sz="1500" dirty="0"/>
          </a:p>
        </p:txBody>
      </p:sp>
      <p:sp>
        <p:nvSpPr>
          <p:cNvPr id="19" name="Text 14"/>
          <p:cNvSpPr txBox="1"/>
          <p:nvPr/>
        </p:nvSpPr>
        <p:spPr>
          <a:xfrm>
            <a:off x="8321040" y="2606040"/>
            <a:ext cx="2971800" cy="68580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The model can query, never modify, data</a:t>
            </a:r>
            <a:endParaRPr lang="en-US" sz="1250" dirty="0"/>
          </a:p>
        </p:txBody>
      </p:sp>
      <p:sp>
        <p:nvSpPr>
          <p:cNvPr id="20" name="Shape 15"/>
          <p:cNvSpPr/>
          <p:nvPr/>
        </p:nvSpPr>
        <p:spPr>
          <a:xfrm>
            <a:off x="548640" y="3611880"/>
            <a:ext cx="3520440" cy="1691640"/>
          </a:xfrm>
          <a:prstGeom prst="roundRect">
            <a:avLst>
              <a:gd name="adj" fmla="val 5405"/>
            </a:avLst>
          </a:prstGeom>
          <a:solidFill>
            <a:srgbClr val="F3F5F8"/>
          </a:solidFill>
          <a:ln w="12700">
            <a:solidFill>
              <a:srgbClr val="F3F5F8"/>
            </a:solidFill>
            <a:prstDash val="solid"/>
          </a:ln>
        </p:spPr>
      </p:sp>
      <p:sp>
        <p:nvSpPr>
          <p:cNvPr id="21" name="Shape 16"/>
          <p:cNvSpPr/>
          <p:nvPr/>
        </p:nvSpPr>
        <p:spPr>
          <a:xfrm>
            <a:off x="822960" y="3886200"/>
            <a:ext cx="548640" cy="548640"/>
          </a:xfrm>
          <a:prstGeom prst="ellipse">
            <a:avLst/>
          </a:prstGeom>
          <a:solidFill>
            <a:srgbClr val="F2A541"/>
          </a:solidFill>
          <a:ln w="12700">
            <a:solidFill>
              <a:srgbClr val="F2A541"/>
            </a:solidFill>
            <a:prstDash val="solid"/>
          </a:ln>
        </p:spPr>
      </p:sp>
      <p:pic>
        <p:nvPicPr>
          <p:cNvPr id="22" name="Image 3" descr="preencoded.png">    </p:cNvPr>
          <p:cNvPicPr>
            <a:picLocks noChangeAspect="1"/>
          </p:cNvPicPr>
          <p:nvPr/>
        </p:nvPicPr>
        <p:blipFill>
          <a:blip r:embed="rId4"/>
          <a:stretch>
            <a:fillRect/>
          </a:stretch>
        </p:blipFill>
        <p:spPr>
          <a:xfrm>
            <a:off x="960120" y="4023360"/>
            <a:ext cx="274320" cy="274320"/>
          </a:xfrm>
          <a:prstGeom prst="rect">
            <a:avLst/>
          </a:prstGeom>
        </p:spPr>
      </p:pic>
      <p:sp>
        <p:nvSpPr>
          <p:cNvPr id="23" name="Text 17"/>
          <p:cNvSpPr txBox="1"/>
          <p:nvPr/>
        </p:nvSpPr>
        <p:spPr>
          <a:xfrm>
            <a:off x="1554480" y="3886200"/>
            <a:ext cx="2331720" cy="548640"/>
          </a:xfrm>
          <a:prstGeom prst="rect">
            <a:avLst/>
          </a:prstGeom>
          <a:noFill/>
          <a:ln/>
        </p:spPr>
        <p:txBody>
          <a:bodyPr wrap="square" lIns="0" tIns="0" rIns="0" bIns="0" rtlCol="0" anchor="ctr"/>
          <a:lstStyle/>
          <a:p>
            <a:pPr indent="0" marL="0">
              <a:buNone/>
            </a:pPr>
            <a:r>
              <a:rPr lang="en-US" sz="1500" b="1" dirty="0">
                <a:solidFill>
                  <a:srgbClr val="13203A"/>
                </a:solidFill>
                <a:latin typeface="Calibri" pitchFamily="34" charset="0"/>
                <a:ea typeface="Calibri" pitchFamily="34" charset="-122"/>
                <a:cs typeface="Calibri" pitchFamily="34" charset="-120"/>
              </a:rPr>
              <a:t>No secrets in code</a:t>
            </a:r>
            <a:endParaRPr lang="en-US" sz="1500" dirty="0"/>
          </a:p>
        </p:txBody>
      </p:sp>
      <p:sp>
        <p:nvSpPr>
          <p:cNvPr id="24" name="Text 18"/>
          <p:cNvSpPr txBox="1"/>
          <p:nvPr/>
        </p:nvSpPr>
        <p:spPr>
          <a:xfrm>
            <a:off x="822960" y="4526280"/>
            <a:ext cx="2971800" cy="68580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DB password generated on the server into a private .env</a:t>
            </a:r>
            <a:endParaRPr lang="en-US" sz="1250" dirty="0"/>
          </a:p>
        </p:txBody>
      </p:sp>
      <p:sp>
        <p:nvSpPr>
          <p:cNvPr id="25" name="Shape 19"/>
          <p:cNvSpPr/>
          <p:nvPr/>
        </p:nvSpPr>
        <p:spPr>
          <a:xfrm>
            <a:off x="4297680" y="3611880"/>
            <a:ext cx="3520440" cy="1691640"/>
          </a:xfrm>
          <a:prstGeom prst="roundRect">
            <a:avLst>
              <a:gd name="adj" fmla="val 5405"/>
            </a:avLst>
          </a:prstGeom>
          <a:solidFill>
            <a:srgbClr val="F3F5F8"/>
          </a:solidFill>
          <a:ln w="12700">
            <a:solidFill>
              <a:srgbClr val="F3F5F8"/>
            </a:solidFill>
            <a:prstDash val="solid"/>
          </a:ln>
        </p:spPr>
      </p:sp>
      <p:sp>
        <p:nvSpPr>
          <p:cNvPr id="26" name="Shape 20"/>
          <p:cNvSpPr/>
          <p:nvPr/>
        </p:nvSpPr>
        <p:spPr>
          <a:xfrm>
            <a:off x="4572000" y="3886200"/>
            <a:ext cx="548640" cy="548640"/>
          </a:xfrm>
          <a:prstGeom prst="ellipse">
            <a:avLst/>
          </a:prstGeom>
          <a:solidFill>
            <a:srgbClr val="F2A541"/>
          </a:solidFill>
          <a:ln w="12700">
            <a:solidFill>
              <a:srgbClr val="F2A541"/>
            </a:solidFill>
            <a:prstDash val="solid"/>
          </a:ln>
        </p:spPr>
      </p:sp>
      <p:pic>
        <p:nvPicPr>
          <p:cNvPr id="27" name="Image 4" descr="preencoded.png">    </p:cNvPr>
          <p:cNvPicPr>
            <a:picLocks noChangeAspect="1"/>
          </p:cNvPicPr>
          <p:nvPr/>
        </p:nvPicPr>
        <p:blipFill>
          <a:blip r:embed="rId5"/>
          <a:stretch>
            <a:fillRect/>
          </a:stretch>
        </p:blipFill>
        <p:spPr>
          <a:xfrm>
            <a:off x="4709160" y="4023360"/>
            <a:ext cx="274320" cy="274320"/>
          </a:xfrm>
          <a:prstGeom prst="rect">
            <a:avLst/>
          </a:prstGeom>
        </p:spPr>
      </p:pic>
      <p:sp>
        <p:nvSpPr>
          <p:cNvPr id="28" name="Text 21"/>
          <p:cNvSpPr txBox="1"/>
          <p:nvPr/>
        </p:nvSpPr>
        <p:spPr>
          <a:xfrm>
            <a:off x="5303520" y="3886200"/>
            <a:ext cx="2331720" cy="548640"/>
          </a:xfrm>
          <a:prstGeom prst="rect">
            <a:avLst/>
          </a:prstGeom>
          <a:noFill/>
          <a:ln/>
        </p:spPr>
        <p:txBody>
          <a:bodyPr wrap="square" lIns="0" tIns="0" rIns="0" bIns="0" rtlCol="0" anchor="ctr"/>
          <a:lstStyle/>
          <a:p>
            <a:pPr indent="0" marL="0">
              <a:buNone/>
            </a:pPr>
            <a:r>
              <a:rPr lang="en-US" sz="1500" b="1" dirty="0">
                <a:solidFill>
                  <a:srgbClr val="13203A"/>
                </a:solidFill>
                <a:latin typeface="Calibri" pitchFamily="34" charset="0"/>
                <a:ea typeface="Calibri" pitchFamily="34" charset="-122"/>
                <a:cs typeface="Calibri" pitchFamily="34" charset="-120"/>
              </a:rPr>
              <a:t>Secret scanning</a:t>
            </a:r>
            <a:endParaRPr lang="en-US" sz="1500" dirty="0"/>
          </a:p>
        </p:txBody>
      </p:sp>
      <p:sp>
        <p:nvSpPr>
          <p:cNvPr id="29" name="Text 22"/>
          <p:cNvSpPr txBox="1"/>
          <p:nvPr/>
        </p:nvSpPr>
        <p:spPr>
          <a:xfrm>
            <a:off x="4572000" y="4526280"/>
            <a:ext cx="2971800" cy="68580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GitGuardian checks every pull request</a:t>
            </a:r>
            <a:endParaRPr lang="en-US" sz="1250" dirty="0"/>
          </a:p>
        </p:txBody>
      </p:sp>
      <p:sp>
        <p:nvSpPr>
          <p:cNvPr id="30" name="Shape 23"/>
          <p:cNvSpPr/>
          <p:nvPr/>
        </p:nvSpPr>
        <p:spPr>
          <a:xfrm>
            <a:off x="8046720" y="3611880"/>
            <a:ext cx="3520440" cy="1691640"/>
          </a:xfrm>
          <a:prstGeom prst="roundRect">
            <a:avLst>
              <a:gd name="adj" fmla="val 5405"/>
            </a:avLst>
          </a:prstGeom>
          <a:solidFill>
            <a:srgbClr val="F3F5F8"/>
          </a:solidFill>
          <a:ln w="12700">
            <a:solidFill>
              <a:srgbClr val="F3F5F8"/>
            </a:solidFill>
            <a:prstDash val="solid"/>
          </a:ln>
        </p:spPr>
      </p:sp>
      <p:sp>
        <p:nvSpPr>
          <p:cNvPr id="31" name="Shape 24"/>
          <p:cNvSpPr/>
          <p:nvPr/>
        </p:nvSpPr>
        <p:spPr>
          <a:xfrm>
            <a:off x="8321040" y="3886200"/>
            <a:ext cx="548640" cy="548640"/>
          </a:xfrm>
          <a:prstGeom prst="ellipse">
            <a:avLst/>
          </a:prstGeom>
          <a:solidFill>
            <a:srgbClr val="F2A541"/>
          </a:solidFill>
          <a:ln w="12700">
            <a:solidFill>
              <a:srgbClr val="F2A541"/>
            </a:solidFill>
            <a:prstDash val="solid"/>
          </a:ln>
        </p:spPr>
      </p:sp>
      <p:pic>
        <p:nvPicPr>
          <p:cNvPr id="32" name="Image 5" descr="preencoded.png">    </p:cNvPr>
          <p:cNvPicPr>
            <a:picLocks noChangeAspect="1"/>
          </p:cNvPicPr>
          <p:nvPr/>
        </p:nvPicPr>
        <p:blipFill>
          <a:blip r:embed="rId6"/>
          <a:stretch>
            <a:fillRect/>
          </a:stretch>
        </p:blipFill>
        <p:spPr>
          <a:xfrm>
            <a:off x="8458200" y="4023360"/>
            <a:ext cx="274320" cy="274320"/>
          </a:xfrm>
          <a:prstGeom prst="rect">
            <a:avLst/>
          </a:prstGeom>
        </p:spPr>
      </p:pic>
      <p:sp>
        <p:nvSpPr>
          <p:cNvPr id="33" name="Text 25"/>
          <p:cNvSpPr txBox="1"/>
          <p:nvPr/>
        </p:nvSpPr>
        <p:spPr>
          <a:xfrm>
            <a:off x="9052560" y="3886200"/>
            <a:ext cx="2331720" cy="548640"/>
          </a:xfrm>
          <a:prstGeom prst="rect">
            <a:avLst/>
          </a:prstGeom>
          <a:noFill/>
          <a:ln/>
        </p:spPr>
        <p:txBody>
          <a:bodyPr wrap="square" lIns="0" tIns="0" rIns="0" bIns="0" rtlCol="0" anchor="ctr"/>
          <a:lstStyle/>
          <a:p>
            <a:pPr indent="0" marL="0">
              <a:buNone/>
            </a:pPr>
            <a:r>
              <a:rPr lang="en-US" sz="1500" b="1" dirty="0">
                <a:solidFill>
                  <a:srgbClr val="13203A"/>
                </a:solidFill>
                <a:latin typeface="Calibri" pitchFamily="34" charset="0"/>
                <a:ea typeface="Calibri" pitchFamily="34" charset="-122"/>
                <a:cs typeface="Calibri" pitchFamily="34" charset="-120"/>
              </a:rPr>
              <a:t>Minimal exposure</a:t>
            </a:r>
            <a:endParaRPr lang="en-US" sz="1500" dirty="0"/>
          </a:p>
        </p:txBody>
      </p:sp>
      <p:sp>
        <p:nvSpPr>
          <p:cNvPr id="34" name="Text 26"/>
          <p:cNvSpPr txBox="1"/>
          <p:nvPr/>
        </p:nvSpPr>
        <p:spPr>
          <a:xfrm>
            <a:off x="8321040" y="4526280"/>
            <a:ext cx="2971800" cy="68580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Only port 80 is public; DB and LLM stay internal; CORS restricted</a:t>
            </a:r>
            <a:endParaRPr lang="en-US" sz="1250" dirty="0"/>
          </a:p>
        </p:txBody>
      </p:sp>
      <p:sp>
        <p:nvSpPr>
          <p:cNvPr id="35" name="Text 27"/>
          <p:cNvSpPr txBox="1"/>
          <p:nvPr/>
        </p:nvSpPr>
        <p:spPr>
          <a:xfrm>
            <a:off x="548640" y="5760720"/>
            <a:ext cx="10972800" cy="365760"/>
          </a:xfrm>
          <a:prstGeom prst="rect">
            <a:avLst/>
          </a:prstGeom>
          <a:noFill/>
          <a:ln/>
        </p:spPr>
        <p:txBody>
          <a:bodyPr wrap="square" lIns="0" tIns="0" rIns="0" bIns="0" rtlCol="0" anchor="t"/>
          <a:lstStyle/>
          <a:p>
            <a:pPr indent="0" marL="0">
              <a:buNone/>
            </a:pPr>
            <a:r>
              <a:rPr lang="en-US" sz="1300" i="1" dirty="0">
                <a:solidFill>
                  <a:srgbClr val="9B2323"/>
                </a:solidFill>
                <a:latin typeface="Calibri" pitchFamily="34" charset="0"/>
                <a:ea typeface="Calibri" pitchFamily="34" charset="-122"/>
                <a:cs typeface="Calibri" pitchFamily="34" charset="-120"/>
              </a:rPr>
              <a:t>Known gap: admin pages do not require login yet; Spring Security with JWT is planned (see Future scope).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300" kern="0" dirty="0">
                <a:solidFill>
                  <a:srgbClr val="9A5B00"/>
                </a:solidFill>
                <a:latin typeface="Calibri" pitchFamily="34" charset="0"/>
                <a:ea typeface="Calibri" pitchFamily="34" charset="-122"/>
                <a:cs typeface="Calibri" pitchFamily="34" charset="-120"/>
              </a:rPr>
              <a:t>QUALITY</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3203A"/>
                </a:solidFill>
                <a:latin typeface="Cambria" pitchFamily="34" charset="0"/>
                <a:ea typeface="Cambria" pitchFamily="34" charset="-122"/>
                <a:cs typeface="Cambria" pitchFamily="34" charset="-120"/>
              </a:rPr>
              <a:t>Tested automatically on every change</a:t>
            </a:r>
            <a:endParaRPr lang="en-US" sz="3400" dirty="0"/>
          </a:p>
        </p:txBody>
      </p:sp>
      <p:sp>
        <p:nvSpPr>
          <p:cNvPr id="4" name="Text 2"/>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4A5568"/>
                </a:solidFill>
                <a:latin typeface="Calibri" pitchFamily="34" charset="0"/>
                <a:ea typeface="Calibri" pitchFamily="34" charset="-122"/>
                <a:cs typeface="Calibri" pitchFamily="34" charset="-120"/>
              </a:rPr>
              <a:t>19</a:t>
            </a:r>
            <a:endParaRPr lang="en-US" sz="1000" dirty="0"/>
          </a:p>
        </p:txBody>
      </p:sp>
      <p:sp>
        <p:nvSpPr>
          <p:cNvPr id="5" name="Shape 3"/>
          <p:cNvSpPr/>
          <p:nvPr/>
        </p:nvSpPr>
        <p:spPr>
          <a:xfrm>
            <a:off x="548640" y="1645920"/>
            <a:ext cx="2606040" cy="1600200"/>
          </a:xfrm>
          <a:prstGeom prst="roundRect">
            <a:avLst>
              <a:gd name="adj" fmla="val 5714"/>
            </a:avLst>
          </a:prstGeom>
          <a:solidFill>
            <a:srgbClr val="13203A"/>
          </a:solidFill>
          <a:ln w="12700">
            <a:solidFill>
              <a:srgbClr val="13203A"/>
            </a:solidFill>
            <a:prstDash val="solid"/>
          </a:ln>
        </p:spPr>
      </p:sp>
      <p:sp>
        <p:nvSpPr>
          <p:cNvPr id="6" name="Text 4"/>
          <p:cNvSpPr txBox="1"/>
          <p:nvPr/>
        </p:nvSpPr>
        <p:spPr>
          <a:xfrm>
            <a:off x="822960" y="1783080"/>
            <a:ext cx="2057400" cy="868680"/>
          </a:xfrm>
          <a:prstGeom prst="rect">
            <a:avLst/>
          </a:prstGeom>
          <a:noFill/>
          <a:ln/>
        </p:spPr>
        <p:txBody>
          <a:bodyPr wrap="square" lIns="0" tIns="0" rIns="0" bIns="0" rtlCol="0" anchor="t"/>
          <a:lstStyle/>
          <a:p>
            <a:pPr indent="0" marL="0">
              <a:buNone/>
            </a:pPr>
            <a:r>
              <a:rPr lang="en-US" sz="4800" b="1" dirty="0">
                <a:solidFill>
                  <a:srgbClr val="F2A541"/>
                </a:solidFill>
                <a:latin typeface="Cambria" pitchFamily="34" charset="0"/>
                <a:ea typeface="Cambria" pitchFamily="34" charset="-122"/>
                <a:cs typeface="Cambria" pitchFamily="34" charset="-120"/>
              </a:rPr>
              <a:t>17</a:t>
            </a:r>
            <a:endParaRPr lang="en-US" sz="4800" dirty="0"/>
          </a:p>
        </p:txBody>
      </p:sp>
      <p:sp>
        <p:nvSpPr>
          <p:cNvPr id="7" name="Text 5"/>
          <p:cNvSpPr txBox="1"/>
          <p:nvPr/>
        </p:nvSpPr>
        <p:spPr>
          <a:xfrm>
            <a:off x="822960" y="2651760"/>
            <a:ext cx="2057400" cy="457200"/>
          </a:xfrm>
          <a:prstGeom prst="rect">
            <a:avLst/>
          </a:prstGeom>
          <a:noFill/>
          <a:ln/>
        </p:spPr>
        <p:txBody>
          <a:bodyPr wrap="square" lIns="0" tIns="0" rIns="0" bIns="0" rtlCol="0" anchor="t"/>
          <a:lstStyle/>
          <a:p>
            <a:pPr indent="0" marL="0">
              <a:buNone/>
            </a:pPr>
            <a:r>
              <a:rPr lang="en-US" sz="1300" dirty="0">
                <a:solidFill>
                  <a:srgbClr val="B8C4D9"/>
                </a:solidFill>
                <a:latin typeface="Calibri" pitchFamily="34" charset="0"/>
                <a:ea typeface="Calibri" pitchFamily="34" charset="-122"/>
                <a:cs typeface="Calibri" pitchFamily="34" charset="-120"/>
              </a:rPr>
              <a:t>automated backend tests</a:t>
            </a:r>
            <a:endParaRPr lang="en-US" sz="1300" dirty="0"/>
          </a:p>
        </p:txBody>
      </p:sp>
      <p:sp>
        <p:nvSpPr>
          <p:cNvPr id="8" name="Shape 6"/>
          <p:cNvSpPr/>
          <p:nvPr/>
        </p:nvSpPr>
        <p:spPr>
          <a:xfrm>
            <a:off x="3337560" y="1645920"/>
            <a:ext cx="2606040" cy="1600200"/>
          </a:xfrm>
          <a:prstGeom prst="roundRect">
            <a:avLst>
              <a:gd name="adj" fmla="val 5714"/>
            </a:avLst>
          </a:prstGeom>
          <a:solidFill>
            <a:srgbClr val="F3F5F8"/>
          </a:solidFill>
          <a:ln w="12700">
            <a:solidFill>
              <a:srgbClr val="F3F5F8"/>
            </a:solidFill>
            <a:prstDash val="solid"/>
          </a:ln>
        </p:spPr>
      </p:sp>
      <p:sp>
        <p:nvSpPr>
          <p:cNvPr id="9" name="Text 7"/>
          <p:cNvSpPr txBox="1"/>
          <p:nvPr/>
        </p:nvSpPr>
        <p:spPr>
          <a:xfrm>
            <a:off x="3611880" y="1783080"/>
            <a:ext cx="2057400" cy="868680"/>
          </a:xfrm>
          <a:prstGeom prst="rect">
            <a:avLst/>
          </a:prstGeom>
          <a:noFill/>
          <a:ln/>
        </p:spPr>
        <p:txBody>
          <a:bodyPr wrap="square" lIns="0" tIns="0" rIns="0" bIns="0" rtlCol="0" anchor="t"/>
          <a:lstStyle/>
          <a:p>
            <a:pPr indent="0" marL="0">
              <a:buNone/>
            </a:pPr>
            <a:r>
              <a:rPr lang="en-US" sz="4800" b="1" dirty="0">
                <a:solidFill>
                  <a:srgbClr val="13203A"/>
                </a:solidFill>
                <a:latin typeface="Cambria" pitchFamily="34" charset="0"/>
                <a:ea typeface="Cambria" pitchFamily="34" charset="-122"/>
                <a:cs typeface="Cambria" pitchFamily="34" charset="-120"/>
              </a:rPr>
              <a:t>4</a:t>
            </a:r>
            <a:endParaRPr lang="en-US" sz="4800" dirty="0"/>
          </a:p>
        </p:txBody>
      </p:sp>
      <p:sp>
        <p:nvSpPr>
          <p:cNvPr id="10" name="Text 8"/>
          <p:cNvSpPr txBox="1"/>
          <p:nvPr/>
        </p:nvSpPr>
        <p:spPr>
          <a:xfrm>
            <a:off x="3611880" y="2651760"/>
            <a:ext cx="2057400" cy="45720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test suites</a:t>
            </a:r>
            <a:endParaRPr lang="en-US" sz="1300" dirty="0"/>
          </a:p>
        </p:txBody>
      </p:sp>
      <p:sp>
        <p:nvSpPr>
          <p:cNvPr id="11" name="Shape 9"/>
          <p:cNvSpPr/>
          <p:nvPr/>
        </p:nvSpPr>
        <p:spPr>
          <a:xfrm>
            <a:off x="6126480" y="1645920"/>
            <a:ext cx="2606040" cy="1600200"/>
          </a:xfrm>
          <a:prstGeom prst="roundRect">
            <a:avLst>
              <a:gd name="adj" fmla="val 5714"/>
            </a:avLst>
          </a:prstGeom>
          <a:solidFill>
            <a:srgbClr val="F3F5F8"/>
          </a:solidFill>
          <a:ln w="12700">
            <a:solidFill>
              <a:srgbClr val="F3F5F8"/>
            </a:solidFill>
            <a:prstDash val="solid"/>
          </a:ln>
        </p:spPr>
      </p:sp>
      <p:sp>
        <p:nvSpPr>
          <p:cNvPr id="12" name="Text 10"/>
          <p:cNvSpPr txBox="1"/>
          <p:nvPr/>
        </p:nvSpPr>
        <p:spPr>
          <a:xfrm>
            <a:off x="6400800" y="1783080"/>
            <a:ext cx="2057400" cy="868680"/>
          </a:xfrm>
          <a:prstGeom prst="rect">
            <a:avLst/>
          </a:prstGeom>
          <a:noFill/>
          <a:ln/>
        </p:spPr>
        <p:txBody>
          <a:bodyPr wrap="square" lIns="0" tIns="0" rIns="0" bIns="0" rtlCol="0" anchor="t"/>
          <a:lstStyle/>
          <a:p>
            <a:pPr indent="0" marL="0">
              <a:buNone/>
            </a:pPr>
            <a:r>
              <a:rPr lang="en-US" sz="4800" b="1" dirty="0">
                <a:solidFill>
                  <a:srgbClr val="13203A"/>
                </a:solidFill>
                <a:latin typeface="Cambria" pitchFamily="34" charset="0"/>
                <a:ea typeface="Cambria" pitchFamily="34" charset="-122"/>
                <a:cs typeface="Cambria" pitchFamily="34" charset="-120"/>
              </a:rPr>
              <a:t>2</a:t>
            </a:r>
            <a:endParaRPr lang="en-US" sz="4800" dirty="0"/>
          </a:p>
        </p:txBody>
      </p:sp>
      <p:sp>
        <p:nvSpPr>
          <p:cNvPr id="13" name="Text 11"/>
          <p:cNvSpPr txBox="1"/>
          <p:nvPr/>
        </p:nvSpPr>
        <p:spPr>
          <a:xfrm>
            <a:off x="6400800" y="2651760"/>
            <a:ext cx="2057400" cy="45720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CI jobs per pull request</a:t>
            </a:r>
            <a:endParaRPr lang="en-US" sz="1300" dirty="0"/>
          </a:p>
        </p:txBody>
      </p:sp>
      <p:sp>
        <p:nvSpPr>
          <p:cNvPr id="14" name="Shape 12"/>
          <p:cNvSpPr/>
          <p:nvPr/>
        </p:nvSpPr>
        <p:spPr>
          <a:xfrm>
            <a:off x="8915400" y="1645920"/>
            <a:ext cx="2606040" cy="1600200"/>
          </a:xfrm>
          <a:prstGeom prst="roundRect">
            <a:avLst>
              <a:gd name="adj" fmla="val 5714"/>
            </a:avLst>
          </a:prstGeom>
          <a:solidFill>
            <a:srgbClr val="F3F5F8"/>
          </a:solidFill>
          <a:ln w="12700">
            <a:solidFill>
              <a:srgbClr val="F3F5F8"/>
            </a:solidFill>
            <a:prstDash val="solid"/>
          </a:ln>
        </p:spPr>
      </p:sp>
      <p:sp>
        <p:nvSpPr>
          <p:cNvPr id="15" name="Text 13"/>
          <p:cNvSpPr txBox="1"/>
          <p:nvPr/>
        </p:nvSpPr>
        <p:spPr>
          <a:xfrm>
            <a:off x="9189720" y="1783080"/>
            <a:ext cx="2057400" cy="868680"/>
          </a:xfrm>
          <a:prstGeom prst="rect">
            <a:avLst/>
          </a:prstGeom>
          <a:noFill/>
          <a:ln/>
        </p:spPr>
        <p:txBody>
          <a:bodyPr wrap="square" lIns="0" tIns="0" rIns="0" bIns="0" rtlCol="0" anchor="t"/>
          <a:lstStyle/>
          <a:p>
            <a:pPr indent="0" marL="0">
              <a:buNone/>
            </a:pPr>
            <a:r>
              <a:rPr lang="en-US" sz="4800" b="1" dirty="0">
                <a:solidFill>
                  <a:srgbClr val="13203A"/>
                </a:solidFill>
                <a:latin typeface="Cambria" pitchFamily="34" charset="0"/>
                <a:ea typeface="Cambria" pitchFamily="34" charset="-122"/>
                <a:cs typeface="Cambria" pitchFamily="34" charset="-120"/>
              </a:rPr>
              <a:t>0</a:t>
            </a:r>
            <a:endParaRPr lang="en-US" sz="4800" dirty="0"/>
          </a:p>
        </p:txBody>
      </p:sp>
      <p:sp>
        <p:nvSpPr>
          <p:cNvPr id="16" name="Text 14"/>
          <p:cNvSpPr txBox="1"/>
          <p:nvPr/>
        </p:nvSpPr>
        <p:spPr>
          <a:xfrm>
            <a:off x="9189720" y="2651760"/>
            <a:ext cx="2057400" cy="45720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failing tests at release</a:t>
            </a:r>
            <a:endParaRPr lang="en-US" sz="1300" dirty="0"/>
          </a:p>
        </p:txBody>
      </p:sp>
      <p:sp>
        <p:nvSpPr>
          <p:cNvPr id="17" name="Shape 15"/>
          <p:cNvSpPr/>
          <p:nvPr/>
        </p:nvSpPr>
        <p:spPr>
          <a:xfrm>
            <a:off x="548640" y="3520440"/>
            <a:ext cx="457200" cy="457200"/>
          </a:xfrm>
          <a:prstGeom prst="ellipse">
            <a:avLst/>
          </a:prstGeom>
          <a:solidFill>
            <a:srgbClr val="F2A541"/>
          </a:solidFill>
          <a:ln w="12700">
            <a:solidFill>
              <a:srgbClr val="F2A541"/>
            </a:solidFill>
            <a:prstDash val="solid"/>
          </a:ln>
        </p:spPr>
      </p:sp>
      <p:pic>
        <p:nvPicPr>
          <p:cNvPr id="18" name="Image 0" descr="preencoded.png">    </p:cNvPr>
          <p:cNvPicPr>
            <a:picLocks noChangeAspect="1"/>
          </p:cNvPicPr>
          <p:nvPr/>
        </p:nvPicPr>
        <p:blipFill>
          <a:blip r:embed="rId1"/>
          <a:stretch>
            <a:fillRect/>
          </a:stretch>
        </p:blipFill>
        <p:spPr>
          <a:xfrm>
            <a:off x="662940" y="3634740"/>
            <a:ext cx="228600" cy="228600"/>
          </a:xfrm>
          <a:prstGeom prst="rect">
            <a:avLst/>
          </a:prstGeom>
        </p:spPr>
      </p:pic>
      <p:sp>
        <p:nvSpPr>
          <p:cNvPr id="19" name="Text 16"/>
          <p:cNvSpPr txBox="1"/>
          <p:nvPr/>
        </p:nvSpPr>
        <p:spPr>
          <a:xfrm>
            <a:off x="1188720" y="3520440"/>
            <a:ext cx="3291840" cy="457200"/>
          </a:xfrm>
          <a:prstGeom prst="rect">
            <a:avLst/>
          </a:prstGeom>
          <a:noFill/>
          <a:ln/>
        </p:spPr>
        <p:txBody>
          <a:bodyPr wrap="square" lIns="0" tIns="0" rIns="0" bIns="0" rtlCol="0" anchor="ctr"/>
          <a:lstStyle/>
          <a:p>
            <a:pPr indent="0" marL="0">
              <a:buNone/>
            </a:pPr>
            <a:r>
              <a:rPr lang="en-US" sz="1300" b="1" dirty="0">
                <a:solidFill>
                  <a:srgbClr val="13203A"/>
                </a:solidFill>
                <a:latin typeface="Courier New" pitchFamily="34" charset="0"/>
                <a:ea typeface="Courier New" pitchFamily="34" charset="-122"/>
                <a:cs typeface="Courier New" pitchFamily="34" charset="-120"/>
              </a:rPr>
              <a:t>AssignmentServiceTest</a:t>
            </a:r>
            <a:endParaRPr lang="en-US" sz="1300" dirty="0"/>
          </a:p>
        </p:txBody>
      </p:sp>
      <p:sp>
        <p:nvSpPr>
          <p:cNvPr id="20" name="Text 17"/>
          <p:cNvSpPr txBox="1"/>
          <p:nvPr/>
        </p:nvSpPr>
        <p:spPr>
          <a:xfrm>
            <a:off x="4572000" y="3520440"/>
            <a:ext cx="7040880" cy="45720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Overlap rules for vehicles and drivers, time validation, nearby-driver search</a:t>
            </a:r>
            <a:endParaRPr lang="en-US" sz="1300" dirty="0"/>
          </a:p>
        </p:txBody>
      </p:sp>
      <p:sp>
        <p:nvSpPr>
          <p:cNvPr id="21" name="Shape 18"/>
          <p:cNvSpPr/>
          <p:nvPr/>
        </p:nvSpPr>
        <p:spPr>
          <a:xfrm>
            <a:off x="548640" y="4142232"/>
            <a:ext cx="457200" cy="457200"/>
          </a:xfrm>
          <a:prstGeom prst="ellipse">
            <a:avLst/>
          </a:prstGeom>
          <a:solidFill>
            <a:srgbClr val="F2A541"/>
          </a:solidFill>
          <a:ln w="12700">
            <a:solidFill>
              <a:srgbClr val="F2A541"/>
            </a:solidFill>
            <a:prstDash val="solid"/>
          </a:ln>
        </p:spPr>
      </p:sp>
      <p:pic>
        <p:nvPicPr>
          <p:cNvPr id="22" name="Image 1" descr="preencoded.png">    </p:cNvPr>
          <p:cNvPicPr>
            <a:picLocks noChangeAspect="1"/>
          </p:cNvPicPr>
          <p:nvPr/>
        </p:nvPicPr>
        <p:blipFill>
          <a:blip r:embed="rId2"/>
          <a:stretch>
            <a:fillRect/>
          </a:stretch>
        </p:blipFill>
        <p:spPr>
          <a:xfrm>
            <a:off x="662940" y="4256532"/>
            <a:ext cx="228600" cy="228600"/>
          </a:xfrm>
          <a:prstGeom prst="rect">
            <a:avLst/>
          </a:prstGeom>
        </p:spPr>
      </p:pic>
      <p:sp>
        <p:nvSpPr>
          <p:cNvPr id="23" name="Text 19"/>
          <p:cNvSpPr txBox="1"/>
          <p:nvPr/>
        </p:nvSpPr>
        <p:spPr>
          <a:xfrm>
            <a:off x="1188720" y="4142232"/>
            <a:ext cx="3291840" cy="457200"/>
          </a:xfrm>
          <a:prstGeom prst="rect">
            <a:avLst/>
          </a:prstGeom>
          <a:noFill/>
          <a:ln/>
        </p:spPr>
        <p:txBody>
          <a:bodyPr wrap="square" lIns="0" tIns="0" rIns="0" bIns="0" rtlCol="0" anchor="ctr"/>
          <a:lstStyle/>
          <a:p>
            <a:pPr indent="0" marL="0">
              <a:buNone/>
            </a:pPr>
            <a:r>
              <a:rPr lang="en-US" sz="1300" b="1" dirty="0">
                <a:solidFill>
                  <a:srgbClr val="13203A"/>
                </a:solidFill>
                <a:latin typeface="Courier New" pitchFamily="34" charset="0"/>
                <a:ea typeface="Courier New" pitchFamily="34" charset="-122"/>
                <a:cs typeface="Courier New" pitchFamily="34" charset="-120"/>
              </a:rPr>
              <a:t>ApiIntegrationTest</a:t>
            </a:r>
            <a:endParaRPr lang="en-US" sz="1300" dirty="0"/>
          </a:p>
        </p:txBody>
      </p:sp>
      <p:sp>
        <p:nvSpPr>
          <p:cNvPr id="24" name="Text 20"/>
          <p:cNvSpPr txBox="1"/>
          <p:nvPr/>
        </p:nvSpPr>
        <p:spPr>
          <a:xfrm>
            <a:off x="4572000" y="4142232"/>
            <a:ext cx="7040880" cy="45720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Login checks the password, validation errors, duplicates (409), search endpoint</a:t>
            </a:r>
            <a:endParaRPr lang="en-US" sz="1300" dirty="0"/>
          </a:p>
        </p:txBody>
      </p:sp>
      <p:sp>
        <p:nvSpPr>
          <p:cNvPr id="25" name="Shape 21"/>
          <p:cNvSpPr/>
          <p:nvPr/>
        </p:nvSpPr>
        <p:spPr>
          <a:xfrm>
            <a:off x="548640" y="4764024"/>
            <a:ext cx="457200" cy="457200"/>
          </a:xfrm>
          <a:prstGeom prst="ellipse">
            <a:avLst/>
          </a:prstGeom>
          <a:solidFill>
            <a:srgbClr val="F2A541"/>
          </a:solidFill>
          <a:ln w="12700">
            <a:solidFill>
              <a:srgbClr val="F2A541"/>
            </a:solidFill>
            <a:prstDash val="solid"/>
          </a:ln>
        </p:spPr>
      </p:sp>
      <p:pic>
        <p:nvPicPr>
          <p:cNvPr id="26" name="Image 2" descr="preencoded.png">    </p:cNvPr>
          <p:cNvPicPr>
            <a:picLocks noChangeAspect="1"/>
          </p:cNvPicPr>
          <p:nvPr/>
        </p:nvPicPr>
        <p:blipFill>
          <a:blip r:embed="rId3"/>
          <a:stretch>
            <a:fillRect/>
          </a:stretch>
        </p:blipFill>
        <p:spPr>
          <a:xfrm>
            <a:off x="662940" y="4878324"/>
            <a:ext cx="228600" cy="228600"/>
          </a:xfrm>
          <a:prstGeom prst="rect">
            <a:avLst/>
          </a:prstGeom>
        </p:spPr>
      </p:pic>
      <p:sp>
        <p:nvSpPr>
          <p:cNvPr id="27" name="Text 22"/>
          <p:cNvSpPr txBox="1"/>
          <p:nvPr/>
        </p:nvSpPr>
        <p:spPr>
          <a:xfrm>
            <a:off x="1188720" y="4764024"/>
            <a:ext cx="3291840" cy="457200"/>
          </a:xfrm>
          <a:prstGeom prst="rect">
            <a:avLst/>
          </a:prstGeom>
          <a:noFill/>
          <a:ln/>
        </p:spPr>
        <p:txBody>
          <a:bodyPr wrap="square" lIns="0" tIns="0" rIns="0" bIns="0" rtlCol="0" anchor="ctr"/>
          <a:lstStyle/>
          <a:p>
            <a:pPr indent="0" marL="0">
              <a:buNone/>
            </a:pPr>
            <a:r>
              <a:rPr lang="en-US" sz="1300" b="1" dirty="0">
                <a:solidFill>
                  <a:srgbClr val="13203A"/>
                </a:solidFill>
                <a:latin typeface="Courier New" pitchFamily="34" charset="0"/>
                <a:ea typeface="Courier New" pitchFamily="34" charset="-122"/>
                <a:cs typeface="Courier New" pitchFamily="34" charset="-120"/>
              </a:rPr>
              <a:t>RuleBasedAssistantTest</a:t>
            </a:r>
            <a:endParaRPr lang="en-US" sz="1300" dirty="0"/>
          </a:p>
        </p:txBody>
      </p:sp>
      <p:sp>
        <p:nvSpPr>
          <p:cNvPr id="28" name="Text 23"/>
          <p:cNvSpPr txBox="1"/>
          <p:nvPr/>
        </p:nvSpPr>
        <p:spPr>
          <a:xfrm>
            <a:off x="4572000" y="4764024"/>
            <a:ext cx="7040880" cy="45720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“Who is driving the Alto…”, “time assigned to Priya”, availability, summary</a:t>
            </a:r>
            <a:endParaRPr lang="en-US" sz="1300" dirty="0"/>
          </a:p>
        </p:txBody>
      </p:sp>
      <p:sp>
        <p:nvSpPr>
          <p:cNvPr id="29" name="Shape 24"/>
          <p:cNvSpPr/>
          <p:nvPr/>
        </p:nvSpPr>
        <p:spPr>
          <a:xfrm>
            <a:off x="548640" y="5385816"/>
            <a:ext cx="457200" cy="457200"/>
          </a:xfrm>
          <a:prstGeom prst="ellipse">
            <a:avLst/>
          </a:prstGeom>
          <a:solidFill>
            <a:srgbClr val="F2A541"/>
          </a:solidFill>
          <a:ln w="12700">
            <a:solidFill>
              <a:srgbClr val="F2A541"/>
            </a:solidFill>
            <a:prstDash val="solid"/>
          </a:ln>
        </p:spPr>
      </p:sp>
      <p:pic>
        <p:nvPicPr>
          <p:cNvPr id="30" name="Image 3" descr="preencoded.png">    </p:cNvPr>
          <p:cNvPicPr>
            <a:picLocks noChangeAspect="1"/>
          </p:cNvPicPr>
          <p:nvPr/>
        </p:nvPicPr>
        <p:blipFill>
          <a:blip r:embed="rId4"/>
          <a:stretch>
            <a:fillRect/>
          </a:stretch>
        </p:blipFill>
        <p:spPr>
          <a:xfrm>
            <a:off x="662940" y="5500116"/>
            <a:ext cx="228600" cy="228600"/>
          </a:xfrm>
          <a:prstGeom prst="rect">
            <a:avLst/>
          </a:prstGeom>
        </p:spPr>
      </p:pic>
      <p:sp>
        <p:nvSpPr>
          <p:cNvPr id="31" name="Text 25"/>
          <p:cNvSpPr txBox="1"/>
          <p:nvPr/>
        </p:nvSpPr>
        <p:spPr>
          <a:xfrm>
            <a:off x="1188720" y="5385816"/>
            <a:ext cx="3291840" cy="457200"/>
          </a:xfrm>
          <a:prstGeom prst="rect">
            <a:avLst/>
          </a:prstGeom>
          <a:noFill/>
          <a:ln/>
        </p:spPr>
        <p:txBody>
          <a:bodyPr wrap="square" lIns="0" tIns="0" rIns="0" bIns="0" rtlCol="0" anchor="ctr"/>
          <a:lstStyle/>
          <a:p>
            <a:pPr indent="0" marL="0">
              <a:buNone/>
            </a:pPr>
            <a:r>
              <a:rPr lang="en-US" sz="1300" b="1" dirty="0">
                <a:solidFill>
                  <a:srgbClr val="13203A"/>
                </a:solidFill>
                <a:latin typeface="Courier New" pitchFamily="34" charset="0"/>
                <a:ea typeface="Courier New" pitchFamily="34" charset="-122"/>
                <a:cs typeface="Courier New" pitchFamily="34" charset="-120"/>
              </a:rPr>
              <a:t>FleetAssistantTest</a:t>
            </a:r>
            <a:endParaRPr lang="en-US" sz="1300" dirty="0"/>
          </a:p>
        </p:txBody>
      </p:sp>
      <p:sp>
        <p:nvSpPr>
          <p:cNvPr id="32" name="Text 26"/>
          <p:cNvSpPr txBox="1"/>
          <p:nvPr/>
        </p:nvSpPr>
        <p:spPr>
          <a:xfrm>
            <a:off x="4572000" y="5385816"/>
            <a:ext cx="7040880" cy="45720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Tool-calling loop with a scripted LLM, text tool calls, bad arguments, fallback</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300" kern="0" dirty="0">
                <a:solidFill>
                  <a:srgbClr val="9A5B00"/>
                </a:solidFill>
                <a:latin typeface="Calibri" pitchFamily="34" charset="0"/>
                <a:ea typeface="Calibri" pitchFamily="34" charset="-122"/>
                <a:cs typeface="Calibri" pitchFamily="34" charset="-120"/>
              </a:rPr>
              <a:t>DEPLOYMENT</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3203A"/>
                </a:solidFill>
                <a:latin typeface="Cambria" pitchFamily="34" charset="0"/>
                <a:ea typeface="Cambria" pitchFamily="34" charset="-122"/>
                <a:cs typeface="Cambria" pitchFamily="34" charset="-120"/>
              </a:rPr>
              <a:t>One command, locally or in the cloud</a:t>
            </a:r>
            <a:endParaRPr lang="en-US" sz="3400" dirty="0"/>
          </a:p>
        </p:txBody>
      </p:sp>
      <p:sp>
        <p:nvSpPr>
          <p:cNvPr id="4" name="Text 2"/>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4A5568"/>
                </a:solidFill>
                <a:latin typeface="Calibri" pitchFamily="34" charset="0"/>
                <a:ea typeface="Calibri" pitchFamily="34" charset="-122"/>
                <a:cs typeface="Calibri" pitchFamily="34" charset="-120"/>
              </a:rPr>
              <a:t>20</a:t>
            </a:r>
            <a:endParaRPr lang="en-US" sz="1000" dirty="0"/>
          </a:p>
        </p:txBody>
      </p:sp>
      <p:sp>
        <p:nvSpPr>
          <p:cNvPr id="5" name="Shape 3"/>
          <p:cNvSpPr/>
          <p:nvPr/>
        </p:nvSpPr>
        <p:spPr>
          <a:xfrm>
            <a:off x="548640" y="1645920"/>
            <a:ext cx="5394960" cy="4434840"/>
          </a:xfrm>
          <a:prstGeom prst="roundRect">
            <a:avLst>
              <a:gd name="adj" fmla="val 2062"/>
            </a:avLst>
          </a:prstGeom>
          <a:solidFill>
            <a:srgbClr val="F3F5F8"/>
          </a:solidFill>
          <a:ln w="12700">
            <a:solidFill>
              <a:srgbClr val="F3F5F8"/>
            </a:solidFill>
            <a:prstDash val="solid"/>
          </a:ln>
        </p:spPr>
      </p:sp>
      <p:sp>
        <p:nvSpPr>
          <p:cNvPr id="6" name="Text 4"/>
          <p:cNvSpPr txBox="1"/>
          <p:nvPr/>
        </p:nvSpPr>
        <p:spPr>
          <a:xfrm>
            <a:off x="822960" y="1783080"/>
            <a:ext cx="4846320" cy="365760"/>
          </a:xfrm>
          <a:prstGeom prst="rect">
            <a:avLst/>
          </a:prstGeom>
          <a:noFill/>
          <a:ln/>
        </p:spPr>
        <p:txBody>
          <a:bodyPr wrap="square" lIns="0" tIns="0" rIns="0" bIns="0" rtlCol="0" anchor="t"/>
          <a:lstStyle/>
          <a:p>
            <a:pPr indent="0" marL="0">
              <a:buNone/>
            </a:pPr>
            <a:r>
              <a:rPr lang="en-US" sz="1600" b="1" dirty="0">
                <a:solidFill>
                  <a:srgbClr val="13203A"/>
                </a:solidFill>
                <a:latin typeface="Calibri" pitchFamily="34" charset="0"/>
                <a:ea typeface="Calibri" pitchFamily="34" charset="-122"/>
                <a:cs typeface="Calibri" pitchFamily="34" charset="-120"/>
              </a:rPr>
              <a:t>Docker Compose stack</a:t>
            </a:r>
            <a:endParaRPr lang="en-US" sz="1600" dirty="0"/>
          </a:p>
        </p:txBody>
      </p:sp>
      <p:sp>
        <p:nvSpPr>
          <p:cNvPr id="7" name="Shape 5"/>
          <p:cNvSpPr/>
          <p:nvPr/>
        </p:nvSpPr>
        <p:spPr>
          <a:xfrm>
            <a:off x="822960" y="2286000"/>
            <a:ext cx="502920" cy="502920"/>
          </a:xfrm>
          <a:prstGeom prst="ellipse">
            <a:avLst/>
          </a:prstGeom>
          <a:solidFill>
            <a:srgbClr val="F2A541"/>
          </a:solidFill>
          <a:ln w="12700">
            <a:solidFill>
              <a:srgbClr val="F2A541"/>
            </a:solidFill>
            <a:prstDash val="solid"/>
          </a:ln>
        </p:spPr>
      </p:sp>
      <p:pic>
        <p:nvPicPr>
          <p:cNvPr id="8" name="Image 0" descr="preencoded.png">    </p:cNvPr>
          <p:cNvPicPr>
            <a:picLocks noChangeAspect="1"/>
          </p:cNvPicPr>
          <p:nvPr/>
        </p:nvPicPr>
        <p:blipFill>
          <a:blip r:embed="rId1"/>
          <a:stretch>
            <a:fillRect/>
          </a:stretch>
        </p:blipFill>
        <p:spPr>
          <a:xfrm>
            <a:off x="948690" y="2411730"/>
            <a:ext cx="251460" cy="251460"/>
          </a:xfrm>
          <a:prstGeom prst="rect">
            <a:avLst/>
          </a:prstGeom>
        </p:spPr>
      </p:pic>
      <p:sp>
        <p:nvSpPr>
          <p:cNvPr id="9" name="Text 6"/>
          <p:cNvSpPr txBox="1"/>
          <p:nvPr/>
        </p:nvSpPr>
        <p:spPr>
          <a:xfrm>
            <a:off x="1508760" y="2286000"/>
            <a:ext cx="2560320" cy="502920"/>
          </a:xfrm>
          <a:prstGeom prst="rect">
            <a:avLst/>
          </a:prstGeom>
          <a:noFill/>
          <a:ln/>
        </p:spPr>
        <p:txBody>
          <a:bodyPr wrap="square" lIns="0" tIns="0" rIns="0" bIns="0" rtlCol="0" anchor="ctr"/>
          <a:lstStyle/>
          <a:p>
            <a:pPr indent="0" marL="0">
              <a:buNone/>
            </a:pPr>
            <a:r>
              <a:rPr lang="en-US" sz="1400" b="1" dirty="0">
                <a:solidFill>
                  <a:srgbClr val="13203A"/>
                </a:solidFill>
                <a:latin typeface="Calibri" pitchFamily="34" charset="0"/>
                <a:ea typeface="Calibri" pitchFamily="34" charset="-122"/>
                <a:cs typeface="Calibri" pitchFamily="34" charset="-120"/>
              </a:rPr>
              <a:t>nginx + Angular</a:t>
            </a:r>
            <a:endParaRPr lang="en-US" sz="1400" dirty="0"/>
          </a:p>
        </p:txBody>
      </p:sp>
      <p:sp>
        <p:nvSpPr>
          <p:cNvPr id="10" name="Text 7"/>
          <p:cNvSpPr txBox="1"/>
          <p:nvPr/>
        </p:nvSpPr>
        <p:spPr>
          <a:xfrm>
            <a:off x="4023360" y="2286000"/>
            <a:ext cx="1737360" cy="50292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:80 public</a:t>
            </a:r>
            <a:endParaRPr lang="en-US" sz="1200" dirty="0"/>
          </a:p>
        </p:txBody>
      </p:sp>
      <p:sp>
        <p:nvSpPr>
          <p:cNvPr id="11" name="Shape 8"/>
          <p:cNvSpPr/>
          <p:nvPr/>
        </p:nvSpPr>
        <p:spPr>
          <a:xfrm>
            <a:off x="822960" y="2999232"/>
            <a:ext cx="502920" cy="502920"/>
          </a:xfrm>
          <a:prstGeom prst="ellipse">
            <a:avLst/>
          </a:prstGeom>
          <a:solidFill>
            <a:srgbClr val="F2A541"/>
          </a:solidFill>
          <a:ln w="12700">
            <a:solidFill>
              <a:srgbClr val="F2A541"/>
            </a:solidFill>
            <a:prstDash val="solid"/>
          </a:ln>
        </p:spPr>
      </p:sp>
      <p:pic>
        <p:nvPicPr>
          <p:cNvPr id="12" name="Image 1" descr="preencoded.png">    </p:cNvPr>
          <p:cNvPicPr>
            <a:picLocks noChangeAspect="1"/>
          </p:cNvPicPr>
          <p:nvPr/>
        </p:nvPicPr>
        <p:blipFill>
          <a:blip r:embed="rId2"/>
          <a:stretch>
            <a:fillRect/>
          </a:stretch>
        </p:blipFill>
        <p:spPr>
          <a:xfrm>
            <a:off x="948690" y="3124962"/>
            <a:ext cx="251460" cy="251460"/>
          </a:xfrm>
          <a:prstGeom prst="rect">
            <a:avLst/>
          </a:prstGeom>
        </p:spPr>
      </p:pic>
      <p:sp>
        <p:nvSpPr>
          <p:cNvPr id="13" name="Text 9"/>
          <p:cNvSpPr txBox="1"/>
          <p:nvPr/>
        </p:nvSpPr>
        <p:spPr>
          <a:xfrm>
            <a:off x="1508760" y="2999232"/>
            <a:ext cx="2560320" cy="502920"/>
          </a:xfrm>
          <a:prstGeom prst="rect">
            <a:avLst/>
          </a:prstGeom>
          <a:noFill/>
          <a:ln/>
        </p:spPr>
        <p:txBody>
          <a:bodyPr wrap="square" lIns="0" tIns="0" rIns="0" bIns="0" rtlCol="0" anchor="ctr"/>
          <a:lstStyle/>
          <a:p>
            <a:pPr indent="0" marL="0">
              <a:buNone/>
            </a:pPr>
            <a:r>
              <a:rPr lang="en-US" sz="1400" b="1" dirty="0">
                <a:solidFill>
                  <a:srgbClr val="13203A"/>
                </a:solidFill>
                <a:latin typeface="Calibri" pitchFamily="34" charset="0"/>
                <a:ea typeface="Calibri" pitchFamily="34" charset="-122"/>
                <a:cs typeface="Calibri" pitchFamily="34" charset="-120"/>
              </a:rPr>
              <a:t>Spring Boot API</a:t>
            </a:r>
            <a:endParaRPr lang="en-US" sz="1400" dirty="0"/>
          </a:p>
        </p:txBody>
      </p:sp>
      <p:sp>
        <p:nvSpPr>
          <p:cNvPr id="14" name="Text 10"/>
          <p:cNvSpPr txBox="1"/>
          <p:nvPr/>
        </p:nvSpPr>
        <p:spPr>
          <a:xfrm>
            <a:off x="4023360" y="2999232"/>
            <a:ext cx="1737360" cy="50292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internal</a:t>
            </a:r>
            <a:endParaRPr lang="en-US" sz="1200" dirty="0"/>
          </a:p>
        </p:txBody>
      </p:sp>
      <p:sp>
        <p:nvSpPr>
          <p:cNvPr id="15" name="Shape 11"/>
          <p:cNvSpPr/>
          <p:nvPr/>
        </p:nvSpPr>
        <p:spPr>
          <a:xfrm>
            <a:off x="822960" y="3712464"/>
            <a:ext cx="502920" cy="502920"/>
          </a:xfrm>
          <a:prstGeom prst="ellipse">
            <a:avLst/>
          </a:prstGeom>
          <a:solidFill>
            <a:srgbClr val="F2A541"/>
          </a:solidFill>
          <a:ln w="12700">
            <a:solidFill>
              <a:srgbClr val="F2A541"/>
            </a:solidFill>
            <a:prstDash val="solid"/>
          </a:ln>
        </p:spPr>
      </p:sp>
      <p:pic>
        <p:nvPicPr>
          <p:cNvPr id="16" name="Image 2" descr="preencoded.png">    </p:cNvPr>
          <p:cNvPicPr>
            <a:picLocks noChangeAspect="1"/>
          </p:cNvPicPr>
          <p:nvPr/>
        </p:nvPicPr>
        <p:blipFill>
          <a:blip r:embed="rId3"/>
          <a:stretch>
            <a:fillRect/>
          </a:stretch>
        </p:blipFill>
        <p:spPr>
          <a:xfrm>
            <a:off x="948690" y="3838194"/>
            <a:ext cx="251460" cy="251460"/>
          </a:xfrm>
          <a:prstGeom prst="rect">
            <a:avLst/>
          </a:prstGeom>
        </p:spPr>
      </p:pic>
      <p:sp>
        <p:nvSpPr>
          <p:cNvPr id="17" name="Text 12"/>
          <p:cNvSpPr txBox="1"/>
          <p:nvPr/>
        </p:nvSpPr>
        <p:spPr>
          <a:xfrm>
            <a:off x="1508760" y="3712464"/>
            <a:ext cx="2560320" cy="502920"/>
          </a:xfrm>
          <a:prstGeom prst="rect">
            <a:avLst/>
          </a:prstGeom>
          <a:noFill/>
          <a:ln/>
        </p:spPr>
        <p:txBody>
          <a:bodyPr wrap="square" lIns="0" tIns="0" rIns="0" bIns="0" rtlCol="0" anchor="ctr"/>
          <a:lstStyle/>
          <a:p>
            <a:pPr indent="0" marL="0">
              <a:buNone/>
            </a:pPr>
            <a:r>
              <a:rPr lang="en-US" sz="1400" b="1" dirty="0">
                <a:solidFill>
                  <a:srgbClr val="13203A"/>
                </a:solidFill>
                <a:latin typeface="Calibri" pitchFamily="34" charset="0"/>
                <a:ea typeface="Calibri" pitchFamily="34" charset="-122"/>
                <a:cs typeface="Calibri" pitchFamily="34" charset="-120"/>
              </a:rPr>
              <a:t>PostgreSQL</a:t>
            </a:r>
            <a:endParaRPr lang="en-US" sz="1400" dirty="0"/>
          </a:p>
        </p:txBody>
      </p:sp>
      <p:sp>
        <p:nvSpPr>
          <p:cNvPr id="18" name="Text 13"/>
          <p:cNvSpPr txBox="1"/>
          <p:nvPr/>
        </p:nvSpPr>
        <p:spPr>
          <a:xfrm>
            <a:off x="4023360" y="3712464"/>
            <a:ext cx="1737360" cy="50292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internal volume</a:t>
            </a:r>
            <a:endParaRPr lang="en-US" sz="1200" dirty="0"/>
          </a:p>
        </p:txBody>
      </p:sp>
      <p:sp>
        <p:nvSpPr>
          <p:cNvPr id="19" name="Shape 14"/>
          <p:cNvSpPr/>
          <p:nvPr/>
        </p:nvSpPr>
        <p:spPr>
          <a:xfrm>
            <a:off x="822960" y="4425696"/>
            <a:ext cx="502920" cy="502920"/>
          </a:xfrm>
          <a:prstGeom prst="ellipse">
            <a:avLst/>
          </a:prstGeom>
          <a:solidFill>
            <a:srgbClr val="F2A541"/>
          </a:solidFill>
          <a:ln w="12700">
            <a:solidFill>
              <a:srgbClr val="F2A541"/>
            </a:solidFill>
            <a:prstDash val="solid"/>
          </a:ln>
        </p:spPr>
      </p:sp>
      <p:pic>
        <p:nvPicPr>
          <p:cNvPr id="20" name="Image 3" descr="preencoded.png">    </p:cNvPr>
          <p:cNvPicPr>
            <a:picLocks noChangeAspect="1"/>
          </p:cNvPicPr>
          <p:nvPr/>
        </p:nvPicPr>
        <p:blipFill>
          <a:blip r:embed="rId4"/>
          <a:stretch>
            <a:fillRect/>
          </a:stretch>
        </p:blipFill>
        <p:spPr>
          <a:xfrm>
            <a:off x="948690" y="4551426"/>
            <a:ext cx="251460" cy="251460"/>
          </a:xfrm>
          <a:prstGeom prst="rect">
            <a:avLst/>
          </a:prstGeom>
        </p:spPr>
      </p:pic>
      <p:sp>
        <p:nvSpPr>
          <p:cNvPr id="21" name="Text 15"/>
          <p:cNvSpPr txBox="1"/>
          <p:nvPr/>
        </p:nvSpPr>
        <p:spPr>
          <a:xfrm>
            <a:off x="1508760" y="4425696"/>
            <a:ext cx="2560320" cy="502920"/>
          </a:xfrm>
          <a:prstGeom prst="rect">
            <a:avLst/>
          </a:prstGeom>
          <a:noFill/>
          <a:ln/>
        </p:spPr>
        <p:txBody>
          <a:bodyPr wrap="square" lIns="0" tIns="0" rIns="0" bIns="0" rtlCol="0" anchor="ctr"/>
          <a:lstStyle/>
          <a:p>
            <a:pPr indent="0" marL="0">
              <a:buNone/>
            </a:pPr>
            <a:r>
              <a:rPr lang="en-US" sz="1400" b="1" dirty="0">
                <a:solidFill>
                  <a:srgbClr val="13203A"/>
                </a:solidFill>
                <a:latin typeface="Calibri" pitchFamily="34" charset="0"/>
                <a:ea typeface="Calibri" pitchFamily="34" charset="-122"/>
                <a:cs typeface="Calibri" pitchFamily="34" charset="-120"/>
              </a:rPr>
              <a:t>Ollama</a:t>
            </a:r>
            <a:endParaRPr lang="en-US" sz="1400" dirty="0"/>
          </a:p>
        </p:txBody>
      </p:sp>
      <p:sp>
        <p:nvSpPr>
          <p:cNvPr id="22" name="Text 16"/>
          <p:cNvSpPr txBox="1"/>
          <p:nvPr/>
        </p:nvSpPr>
        <p:spPr>
          <a:xfrm>
            <a:off x="4023360" y="4425696"/>
            <a:ext cx="1737360" cy="50292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internal volume</a:t>
            </a:r>
            <a:endParaRPr lang="en-US" sz="1200" dirty="0"/>
          </a:p>
        </p:txBody>
      </p:sp>
      <p:sp>
        <p:nvSpPr>
          <p:cNvPr id="23" name="Shape 17"/>
          <p:cNvSpPr/>
          <p:nvPr/>
        </p:nvSpPr>
        <p:spPr>
          <a:xfrm>
            <a:off x="822960" y="5138928"/>
            <a:ext cx="502920" cy="502920"/>
          </a:xfrm>
          <a:prstGeom prst="ellipse">
            <a:avLst/>
          </a:prstGeom>
          <a:solidFill>
            <a:srgbClr val="F2A541"/>
          </a:solidFill>
          <a:ln w="12700">
            <a:solidFill>
              <a:srgbClr val="F2A541"/>
            </a:solidFill>
            <a:prstDash val="solid"/>
          </a:ln>
        </p:spPr>
      </p:sp>
      <p:pic>
        <p:nvPicPr>
          <p:cNvPr id="24" name="Image 4" descr="preencoded.png">    </p:cNvPr>
          <p:cNvPicPr>
            <a:picLocks noChangeAspect="1"/>
          </p:cNvPicPr>
          <p:nvPr/>
        </p:nvPicPr>
        <p:blipFill>
          <a:blip r:embed="rId5"/>
          <a:stretch>
            <a:fillRect/>
          </a:stretch>
        </p:blipFill>
        <p:spPr>
          <a:xfrm>
            <a:off x="948690" y="5264658"/>
            <a:ext cx="251460" cy="251460"/>
          </a:xfrm>
          <a:prstGeom prst="rect">
            <a:avLst/>
          </a:prstGeom>
        </p:spPr>
      </p:pic>
      <p:sp>
        <p:nvSpPr>
          <p:cNvPr id="25" name="Text 18"/>
          <p:cNvSpPr txBox="1"/>
          <p:nvPr/>
        </p:nvSpPr>
        <p:spPr>
          <a:xfrm>
            <a:off x="1508760" y="5138928"/>
            <a:ext cx="2560320" cy="502920"/>
          </a:xfrm>
          <a:prstGeom prst="rect">
            <a:avLst/>
          </a:prstGeom>
          <a:noFill/>
          <a:ln/>
        </p:spPr>
        <p:txBody>
          <a:bodyPr wrap="square" lIns="0" tIns="0" rIns="0" bIns="0" rtlCol="0" anchor="ctr"/>
          <a:lstStyle/>
          <a:p>
            <a:pPr indent="0" marL="0">
              <a:buNone/>
            </a:pPr>
            <a:r>
              <a:rPr lang="en-US" sz="1400" b="1" dirty="0">
                <a:solidFill>
                  <a:srgbClr val="13203A"/>
                </a:solidFill>
                <a:latin typeface="Calibri" pitchFamily="34" charset="0"/>
                <a:ea typeface="Calibri" pitchFamily="34" charset="-122"/>
                <a:cs typeface="Calibri" pitchFamily="34" charset="-120"/>
              </a:rPr>
              <a:t>Model pull</a:t>
            </a:r>
            <a:endParaRPr lang="en-US" sz="1400" dirty="0"/>
          </a:p>
        </p:txBody>
      </p:sp>
      <p:sp>
        <p:nvSpPr>
          <p:cNvPr id="26" name="Text 19"/>
          <p:cNvSpPr txBox="1"/>
          <p:nvPr/>
        </p:nvSpPr>
        <p:spPr>
          <a:xfrm>
            <a:off x="4023360" y="5138928"/>
            <a:ext cx="1737360" cy="50292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one-off job</a:t>
            </a:r>
            <a:endParaRPr lang="en-US" sz="1200" dirty="0"/>
          </a:p>
        </p:txBody>
      </p:sp>
      <p:sp>
        <p:nvSpPr>
          <p:cNvPr id="27" name="Shape 20"/>
          <p:cNvSpPr/>
          <p:nvPr/>
        </p:nvSpPr>
        <p:spPr>
          <a:xfrm>
            <a:off x="6217920" y="1645920"/>
            <a:ext cx="5394960" cy="2057400"/>
          </a:xfrm>
          <a:prstGeom prst="roundRect">
            <a:avLst>
              <a:gd name="adj" fmla="val 4444"/>
            </a:avLst>
          </a:prstGeom>
          <a:solidFill>
            <a:srgbClr val="13203A"/>
          </a:solidFill>
          <a:ln w="12700">
            <a:solidFill>
              <a:srgbClr val="13203A"/>
            </a:solidFill>
            <a:prstDash val="solid"/>
          </a:ln>
        </p:spPr>
      </p:sp>
      <p:sp>
        <p:nvSpPr>
          <p:cNvPr id="28" name="Text 21"/>
          <p:cNvSpPr txBox="1"/>
          <p:nvPr/>
        </p:nvSpPr>
        <p:spPr>
          <a:xfrm>
            <a:off x="6492240" y="1783080"/>
            <a:ext cx="4572000" cy="320040"/>
          </a:xfrm>
          <a:prstGeom prst="rect">
            <a:avLst/>
          </a:prstGeom>
          <a:noFill/>
          <a:ln/>
        </p:spPr>
        <p:txBody>
          <a:bodyPr wrap="square" lIns="0" tIns="0" rIns="0" bIns="0" rtlCol="0" anchor="t"/>
          <a:lstStyle/>
          <a:p>
            <a:pPr indent="0" marL="0">
              <a:buNone/>
            </a:pPr>
            <a:r>
              <a:rPr lang="en-US" sz="1500" b="1" dirty="0">
                <a:solidFill>
                  <a:srgbClr val="F2A541"/>
                </a:solidFill>
                <a:latin typeface="Calibri" pitchFamily="34" charset="0"/>
                <a:ea typeface="Calibri" pitchFamily="34" charset="-122"/>
                <a:cs typeface="Calibri" pitchFamily="34" charset="-120"/>
              </a:rPr>
              <a:t>Local</a:t>
            </a:r>
            <a:endParaRPr lang="en-US" sz="1500" dirty="0"/>
          </a:p>
        </p:txBody>
      </p:sp>
      <p:sp>
        <p:nvSpPr>
          <p:cNvPr id="29" name="Shape 22"/>
          <p:cNvSpPr/>
          <p:nvPr/>
        </p:nvSpPr>
        <p:spPr>
          <a:xfrm>
            <a:off x="6492240" y="2194560"/>
            <a:ext cx="4846320" cy="502920"/>
          </a:xfrm>
          <a:prstGeom prst="roundRect">
            <a:avLst>
              <a:gd name="adj" fmla="val 18182"/>
            </a:avLst>
          </a:prstGeom>
          <a:solidFill>
            <a:srgbClr val="22325A"/>
          </a:solidFill>
          <a:ln w="12700">
            <a:solidFill>
              <a:srgbClr val="22325A"/>
            </a:solidFill>
            <a:prstDash val="solid"/>
          </a:ln>
        </p:spPr>
      </p:sp>
      <p:sp>
        <p:nvSpPr>
          <p:cNvPr id="30" name="Text 23"/>
          <p:cNvSpPr txBox="1"/>
          <p:nvPr/>
        </p:nvSpPr>
        <p:spPr>
          <a:xfrm>
            <a:off x="6629400" y="2194560"/>
            <a:ext cx="4572000" cy="50292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docker compose up --build</a:t>
            </a:r>
            <a:endParaRPr lang="en-US" sz="1400" dirty="0"/>
          </a:p>
        </p:txBody>
      </p:sp>
      <p:sp>
        <p:nvSpPr>
          <p:cNvPr id="31" name="Text 24"/>
          <p:cNvSpPr txBox="1"/>
          <p:nvPr/>
        </p:nvSpPr>
        <p:spPr>
          <a:xfrm>
            <a:off x="6492240" y="2834640"/>
            <a:ext cx="4846320" cy="640080"/>
          </a:xfrm>
          <a:prstGeom prst="rect">
            <a:avLst/>
          </a:prstGeom>
          <a:noFill/>
          <a:ln/>
        </p:spPr>
        <p:txBody>
          <a:bodyPr wrap="square" lIns="0" tIns="0" rIns="0" bIns="0" rtlCol="0" anchor="t"/>
          <a:lstStyle/>
          <a:p>
            <a:pPr indent="0" marL="0">
              <a:buNone/>
            </a:pPr>
            <a:r>
              <a:rPr lang="en-US" sz="1300" dirty="0">
                <a:solidFill>
                  <a:srgbClr val="B8C4D9"/>
                </a:solidFill>
                <a:latin typeface="Calibri" pitchFamily="34" charset="0"/>
                <a:ea typeface="Calibri" pitchFamily="34" charset="-122"/>
                <a:cs typeface="Calibri" pitchFamily="34" charset="-120"/>
              </a:rPr>
              <a:t>UI on http://localhost:4200, API on :8080</a:t>
            </a:r>
            <a:endParaRPr lang="en-US" sz="1300" dirty="0"/>
          </a:p>
        </p:txBody>
      </p:sp>
      <p:sp>
        <p:nvSpPr>
          <p:cNvPr id="32" name="Shape 25"/>
          <p:cNvSpPr/>
          <p:nvPr/>
        </p:nvSpPr>
        <p:spPr>
          <a:xfrm>
            <a:off x="6217920" y="3886200"/>
            <a:ext cx="5394960" cy="2194560"/>
          </a:xfrm>
          <a:prstGeom prst="roundRect">
            <a:avLst>
              <a:gd name="adj" fmla="val 4167"/>
            </a:avLst>
          </a:prstGeom>
          <a:solidFill>
            <a:srgbClr val="F3F5F8"/>
          </a:solidFill>
          <a:ln w="12700">
            <a:solidFill>
              <a:srgbClr val="F3F5F8"/>
            </a:solidFill>
            <a:prstDash val="solid"/>
          </a:ln>
        </p:spPr>
      </p:sp>
      <p:sp>
        <p:nvSpPr>
          <p:cNvPr id="33" name="Text 26"/>
          <p:cNvSpPr txBox="1"/>
          <p:nvPr/>
        </p:nvSpPr>
        <p:spPr>
          <a:xfrm>
            <a:off x="6492240" y="4023360"/>
            <a:ext cx="4846320" cy="320040"/>
          </a:xfrm>
          <a:prstGeom prst="rect">
            <a:avLst/>
          </a:prstGeom>
          <a:noFill/>
          <a:ln/>
        </p:spPr>
        <p:txBody>
          <a:bodyPr wrap="square" lIns="0" tIns="0" rIns="0" bIns="0" rtlCol="0" anchor="t"/>
          <a:lstStyle/>
          <a:p>
            <a:pPr indent="0" marL="0">
              <a:buNone/>
            </a:pPr>
            <a:r>
              <a:rPr lang="en-US" sz="1500" b="1" dirty="0">
                <a:solidFill>
                  <a:srgbClr val="13203A"/>
                </a:solidFill>
                <a:latin typeface="Calibri" pitchFamily="34" charset="0"/>
                <a:ea typeface="Calibri" pitchFamily="34" charset="-122"/>
                <a:cs typeface="Calibri" pitchFamily="34" charset="-120"/>
              </a:rPr>
              <a:t>Free cloud: Oracle Cloud Always Free VM</a:t>
            </a:r>
            <a:endParaRPr lang="en-US" sz="1500" dirty="0"/>
          </a:p>
        </p:txBody>
      </p:sp>
      <p:sp>
        <p:nvSpPr>
          <p:cNvPr id="34" name="Shape 27"/>
          <p:cNvSpPr/>
          <p:nvPr/>
        </p:nvSpPr>
        <p:spPr>
          <a:xfrm>
            <a:off x="6492240" y="4434840"/>
            <a:ext cx="4846320" cy="502920"/>
          </a:xfrm>
          <a:prstGeom prst="roundRect">
            <a:avLst>
              <a:gd name="adj" fmla="val 18182"/>
            </a:avLst>
          </a:prstGeom>
          <a:solidFill>
            <a:srgbClr val="13203A"/>
          </a:solidFill>
          <a:ln w="12700">
            <a:solidFill>
              <a:srgbClr val="13203A"/>
            </a:solidFill>
            <a:prstDash val="solid"/>
          </a:ln>
        </p:spPr>
      </p:sp>
      <p:sp>
        <p:nvSpPr>
          <p:cNvPr id="35" name="Text 28"/>
          <p:cNvSpPr txBox="1"/>
          <p:nvPr/>
        </p:nvSpPr>
        <p:spPr>
          <a:xfrm>
            <a:off x="6629400" y="4434840"/>
            <a:ext cx="4572000" cy="50292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curl -fsSL …/deploy/oracle/setup.sh | bash</a:t>
            </a:r>
            <a:endParaRPr lang="en-US" sz="1300" dirty="0"/>
          </a:p>
        </p:txBody>
      </p:sp>
      <p:sp>
        <p:nvSpPr>
          <p:cNvPr id="36" name="Text 29"/>
          <p:cNvSpPr txBox="1"/>
          <p:nvPr/>
        </p:nvSpPr>
        <p:spPr>
          <a:xfrm>
            <a:off x="6492240" y="5029200"/>
            <a:ext cx="4846320" cy="96012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Ampere A1: 4 CPU, 24 GB RAM, enough for the LLM. The script opens the firewall, installs Docker, builds, and downloads the model. Re-run to update.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300" kern="0" dirty="0">
                <a:solidFill>
                  <a:srgbClr val="9A5B00"/>
                </a:solidFill>
                <a:latin typeface="Calibri" pitchFamily="34" charset="0"/>
                <a:ea typeface="Calibri" pitchFamily="34" charset="-122"/>
                <a:cs typeface="Calibri" pitchFamily="34" charset="-120"/>
              </a:rPr>
              <a:t>USER INTERFACE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3203A"/>
                </a:solidFill>
                <a:latin typeface="Cambria" pitchFamily="34" charset="0"/>
                <a:ea typeface="Cambria" pitchFamily="34" charset="-122"/>
                <a:cs typeface="Cambria" pitchFamily="34" charset="-120"/>
              </a:rPr>
              <a:t>Driver portal and mobile</a:t>
            </a:r>
            <a:endParaRPr lang="en-US" sz="3400" dirty="0"/>
          </a:p>
        </p:txBody>
      </p:sp>
      <p:sp>
        <p:nvSpPr>
          <p:cNvPr id="4" name="Text 2"/>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4A5568"/>
                </a:solidFill>
                <a:latin typeface="Calibri" pitchFamily="34" charset="0"/>
                <a:ea typeface="Calibri" pitchFamily="34" charset="-122"/>
                <a:cs typeface="Calibri" pitchFamily="34" charset="-120"/>
              </a:rPr>
              <a:t>21</a:t>
            </a:r>
            <a:endParaRPr lang="en-US" sz="1000" dirty="0"/>
          </a:p>
        </p:txBody>
      </p:sp>
      <p:pic>
        <p:nvPicPr>
          <p:cNvPr id="5" name="Image 0" descr="preencoded.png">    </p:cNvPr>
          <p:cNvPicPr>
            <a:picLocks noChangeAspect="1"/>
          </p:cNvPicPr>
          <p:nvPr/>
        </p:nvPicPr>
        <p:blipFill>
          <a:blip r:embed="rId1"/>
          <a:stretch>
            <a:fillRect/>
          </a:stretch>
        </p:blipFill>
        <p:spPr>
          <a:xfrm>
            <a:off x="548640" y="1600200"/>
            <a:ext cx="6766560" cy="4544568"/>
          </a:xfrm>
          <a:prstGeom prst="rect">
            <a:avLst/>
          </a:prstGeom>
        </p:spPr>
      </p:pic>
      <p:sp>
        <p:nvSpPr>
          <p:cNvPr id="6" name="Shape 3"/>
          <p:cNvSpPr/>
          <p:nvPr/>
        </p:nvSpPr>
        <p:spPr>
          <a:xfrm>
            <a:off x="548640" y="1600200"/>
            <a:ext cx="6766560" cy="4544568"/>
          </a:xfrm>
          <a:prstGeom prst="rect">
            <a:avLst/>
          </a:prstGeom>
          <a:ln w="12700">
            <a:solidFill>
              <a:srgbClr val="DDE1E8"/>
            </a:solidFill>
            <a:prstDash val="solid"/>
          </a:ln>
        </p:spPr>
      </p:sp>
      <p:pic>
        <p:nvPicPr>
          <p:cNvPr id="7" name="Image 1" descr="preencoded.png">    </p:cNvPr>
          <p:cNvPicPr>
            <a:picLocks noChangeAspect="1"/>
          </p:cNvPicPr>
          <p:nvPr/>
        </p:nvPicPr>
        <p:blipFill>
          <a:blip r:embed="rId2"/>
          <a:stretch>
            <a:fillRect/>
          </a:stretch>
        </p:blipFill>
        <p:spPr>
          <a:xfrm>
            <a:off x="8229600" y="1600200"/>
            <a:ext cx="2231136" cy="4572000"/>
          </a:xfrm>
          <a:prstGeom prst="rect">
            <a:avLst/>
          </a:prstGeom>
        </p:spPr>
      </p:pic>
      <p:sp>
        <p:nvSpPr>
          <p:cNvPr id="8" name="Shape 4"/>
          <p:cNvSpPr/>
          <p:nvPr/>
        </p:nvSpPr>
        <p:spPr>
          <a:xfrm>
            <a:off x="8229600" y="1600200"/>
            <a:ext cx="2231136" cy="4572000"/>
          </a:xfrm>
          <a:prstGeom prst="rect">
            <a:avLst/>
          </a:prstGeom>
          <a:ln w="12700">
            <a:solidFill>
              <a:srgbClr val="DDE1E8"/>
            </a:solidFill>
            <a:prstDash val="solid"/>
          </a:ln>
        </p:spPr>
      </p:sp>
      <p:sp>
        <p:nvSpPr>
          <p:cNvPr id="9" name="Text 5"/>
          <p:cNvSpPr txBox="1"/>
          <p:nvPr/>
        </p:nvSpPr>
        <p:spPr>
          <a:xfrm>
            <a:off x="548640" y="6217920"/>
            <a:ext cx="6766560" cy="274320"/>
          </a:xfrm>
          <a:prstGeom prst="rect">
            <a:avLst/>
          </a:prstGeom>
          <a:noFill/>
          <a:ln/>
        </p:spPr>
        <p:txBody>
          <a:bodyPr wrap="square" lIns="0" tIns="0" rIns="0" bIns="0" rtlCol="0" anchor="t"/>
          <a:lstStyle/>
          <a:p>
            <a:pPr algn="ctr" indent="0" marL="0">
              <a:buNone/>
            </a:pPr>
            <a:r>
              <a:rPr lang="en-US" sz="1100" i="1" dirty="0">
                <a:solidFill>
                  <a:srgbClr val="4A5568"/>
                </a:solidFill>
                <a:latin typeface="Calibri" pitchFamily="34" charset="0"/>
                <a:ea typeface="Calibri" pitchFamily="34" charset="-122"/>
                <a:cs typeface="Calibri" pitchFamily="34" charset="-120"/>
              </a:rPr>
              <a:t>Driver accepts a request (status turns ACCEPTED)</a:t>
            </a:r>
            <a:endParaRPr lang="en-US" sz="1100" dirty="0"/>
          </a:p>
        </p:txBody>
      </p:sp>
      <p:sp>
        <p:nvSpPr>
          <p:cNvPr id="10" name="Text 6"/>
          <p:cNvSpPr txBox="1"/>
          <p:nvPr/>
        </p:nvSpPr>
        <p:spPr>
          <a:xfrm>
            <a:off x="7863840" y="6217920"/>
            <a:ext cx="2962656" cy="274320"/>
          </a:xfrm>
          <a:prstGeom prst="rect">
            <a:avLst/>
          </a:prstGeom>
          <a:noFill/>
          <a:ln/>
        </p:spPr>
        <p:txBody>
          <a:bodyPr wrap="square" lIns="0" tIns="0" rIns="0" bIns="0" rtlCol="0" anchor="t"/>
          <a:lstStyle/>
          <a:p>
            <a:pPr algn="ctr" indent="0" marL="0">
              <a:buNone/>
            </a:pPr>
            <a:r>
              <a:rPr lang="en-US" sz="1100" i="1" dirty="0">
                <a:solidFill>
                  <a:srgbClr val="4A5568"/>
                </a:solidFill>
                <a:latin typeface="Calibri" pitchFamily="34" charset="0"/>
                <a:ea typeface="Calibri" pitchFamily="34" charset="-122"/>
                <a:cs typeface="Calibri" pitchFamily="34" charset="-120"/>
              </a:rPr>
              <a:t>AI assistant on a phone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300" kern="0" dirty="0">
                <a:solidFill>
                  <a:srgbClr val="9A5B00"/>
                </a:solidFill>
                <a:latin typeface="Calibri" pitchFamily="34" charset="0"/>
                <a:ea typeface="Calibri" pitchFamily="34" charset="-122"/>
                <a:cs typeface="Calibri" pitchFamily="34" charset="-120"/>
              </a:rPr>
              <a:t>ENGINEERING</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3203A"/>
                </a:solidFill>
                <a:latin typeface="Cambria" pitchFamily="34" charset="0"/>
                <a:ea typeface="Cambria" pitchFamily="34" charset="-122"/>
                <a:cs typeface="Cambria" pitchFamily="34" charset="-120"/>
              </a:rPr>
              <a:t>Challenges and how we solved them</a:t>
            </a:r>
            <a:endParaRPr lang="en-US" sz="3400" dirty="0"/>
          </a:p>
        </p:txBody>
      </p:sp>
      <p:sp>
        <p:nvSpPr>
          <p:cNvPr id="4" name="Text 2"/>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4A5568"/>
                </a:solidFill>
                <a:latin typeface="Calibri" pitchFamily="34" charset="0"/>
                <a:ea typeface="Calibri" pitchFamily="34" charset="-122"/>
                <a:cs typeface="Calibri" pitchFamily="34" charset="-120"/>
              </a:rPr>
              <a:t>22</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4206240"/>
                <a:gridCol w="6858000"/>
              </a:tblGrid>
              <a:tr h="548640">
                <a:tc>
                  <a:txBody>
                    <a:bodyPr/>
                    <a:lstStyle/>
                    <a:p>
                      <a:pPr indent="0" marL="0">
                        <a:buNone/>
                      </a:pPr>
                      <a:r>
                        <a:rPr lang="en-US" sz="1300" b="1" dirty="0">
                          <a:solidFill>
                            <a:srgbClr val="FFFFFF"/>
                          </a:solidFill>
                        </a:rPr>
                        <a:t>Challenge</a:t>
                      </a:r>
                      <a:endParaRPr lang="en-US" sz="1300" dirty="0"/>
                    </a:p>
                  </a:txBody>
                  <a:tcPr marL="137160" marR="13716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13203A"/>
                    </a:solidFill>
                  </a:tcPr>
                </a:tc>
                <a:tc>
                  <a:txBody>
                    <a:bodyPr/>
                    <a:lstStyle/>
                    <a:p>
                      <a:pPr indent="0" marL="0">
                        <a:buNone/>
                      </a:pPr>
                      <a:r>
                        <a:rPr lang="en-US" sz="1300" b="1" dirty="0">
                          <a:solidFill>
                            <a:srgbClr val="FFFFFF"/>
                          </a:solidFill>
                        </a:rPr>
                        <a:t>Solution</a:t>
                      </a:r>
                      <a:endParaRPr lang="en-US" sz="1300" dirty="0"/>
                    </a:p>
                  </a:txBody>
                  <a:tcPr marL="137160" marR="13716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13203A"/>
                    </a:solidFill>
                  </a:tcPr>
                </a:tc>
              </a:tr>
              <a:tr h="548640">
                <a:tc>
                  <a:txBody>
                    <a:bodyPr/>
                    <a:lstStyle/>
                    <a:p>
                      <a:pPr indent="0" marL="0">
                        <a:buNone/>
                      </a:pPr>
                      <a:r>
                        <a:rPr lang="en-US" sz="1300" b="1" dirty="0">
                          <a:solidFill>
                            <a:srgbClr val="13203A"/>
                          </a:solidFill>
                        </a:rPr>
                        <a:t>LLMs can invent answers</a:t>
                      </a:r>
                      <a:endParaRPr lang="en-US" sz="1300" dirty="0"/>
                    </a:p>
                  </a:txBody>
                  <a:tcPr marL="137160" marR="13716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300" dirty="0">
                          <a:solidFill>
                            <a:srgbClr val="4A5568"/>
                          </a:solidFill>
                        </a:rPr>
                        <a:t>Tool calling + strict system prompt: answers only from database results</a:t>
                      </a:r>
                      <a:endParaRPr lang="en-US" sz="1300" dirty="0"/>
                    </a:p>
                  </a:txBody>
                  <a:tcPr marL="137160" marR="13716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3203A"/>
                          </a:solidFill>
                        </a:rPr>
                        <a:t>Small models sometimes print tool calls as text</a:t>
                      </a:r>
                      <a:endParaRPr lang="en-US" sz="1300" dirty="0"/>
                    </a:p>
                  </a:txBody>
                  <a:tcPr marL="137160" marR="13716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c>
                  <a:txBody>
                    <a:bodyPr/>
                    <a:lstStyle/>
                    <a:p>
                      <a:pPr indent="0" marL="0">
                        <a:buNone/>
                      </a:pPr>
                      <a:r>
                        <a:rPr lang="en-US" sz="1300" dirty="0">
                          <a:solidFill>
                            <a:srgbClr val="4A5568"/>
                          </a:solidFill>
                        </a:rPr>
                        <a:t>Detect JSON tool calls in the reply and execute them anyway</a:t>
                      </a:r>
                      <a:endParaRPr lang="en-US" sz="1300" dirty="0"/>
                    </a:p>
                  </a:txBody>
                  <a:tcPr marL="137160" marR="13716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r>
              <a:tr h="548640">
                <a:tc>
                  <a:txBody>
                    <a:bodyPr/>
                    <a:lstStyle/>
                    <a:p>
                      <a:pPr indent="0" marL="0">
                        <a:buNone/>
                      </a:pPr>
                      <a:r>
                        <a:rPr lang="en-US" sz="1300" b="1" dirty="0">
                          <a:solidFill>
                            <a:srgbClr val="13203A"/>
                          </a:solidFill>
                        </a:rPr>
                        <a:t>Model may be offline or slow</a:t>
                      </a:r>
                      <a:endParaRPr lang="en-US" sz="1300" dirty="0"/>
                    </a:p>
                  </a:txBody>
                  <a:tcPr marL="137160" marR="13716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300" dirty="0">
                          <a:solidFill>
                            <a:srgbClr val="4A5568"/>
                          </a:solidFill>
                        </a:rPr>
                        <a:t>Timeouts + rule-based fallback using the same tools</a:t>
                      </a:r>
                      <a:endParaRPr lang="en-US" sz="1300" dirty="0"/>
                    </a:p>
                  </a:txBody>
                  <a:tcPr marL="137160" marR="13716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3203A"/>
                          </a:solidFill>
                        </a:rPr>
                        <a:t>Plates typed many ways (“ts09ab1234”)</a:t>
                      </a:r>
                      <a:endParaRPr lang="en-US" sz="1300" dirty="0"/>
                    </a:p>
                  </a:txBody>
                  <a:tcPr marL="137160" marR="13716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c>
                  <a:txBody>
                    <a:bodyPr/>
                    <a:lstStyle/>
                    <a:p>
                      <a:pPr indent="0" marL="0">
                        <a:buNone/>
                      </a:pPr>
                      <a:r>
                        <a:rPr lang="en-US" sz="1300" dirty="0">
                          <a:solidFill>
                            <a:srgbClr val="4A5568"/>
                          </a:solidFill>
                        </a:rPr>
                        <a:t>Normalise plates; match ignoring spaces, dashes and case</a:t>
                      </a:r>
                      <a:endParaRPr lang="en-US" sz="1300" dirty="0"/>
                    </a:p>
                  </a:txBody>
                  <a:tcPr marL="137160" marR="13716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r>
              <a:tr h="548640">
                <a:tc>
                  <a:txBody>
                    <a:bodyPr/>
                    <a:lstStyle/>
                    <a:p>
                      <a:pPr indent="0" marL="0">
                        <a:buNone/>
                      </a:pPr>
                      <a:r>
                        <a:rPr lang="en-US" sz="1300" b="1" dirty="0">
                          <a:solidFill>
                            <a:srgbClr val="13203A"/>
                          </a:solidFill>
                        </a:rPr>
                        <a:t>“Now” makes tests flaky</a:t>
                      </a:r>
                      <a:endParaRPr lang="en-US" sz="1300" dirty="0"/>
                    </a:p>
                  </a:txBody>
                  <a:tcPr marL="137160" marR="13716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300" dirty="0">
                          <a:solidFill>
                            <a:srgbClr val="4A5568"/>
                          </a:solidFill>
                        </a:rPr>
                        <a:t>Injected Clock; tests pin time to a fixed instant</a:t>
                      </a:r>
                      <a:endParaRPr lang="en-US" sz="1300" dirty="0"/>
                    </a:p>
                  </a:txBody>
                  <a:tcPr marL="137160" marR="13716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3203A"/>
                          </a:solidFill>
                        </a:rPr>
                        <a:t>Free hosting that can run an LLM</a:t>
                      </a:r>
                      <a:endParaRPr lang="en-US" sz="1300" dirty="0"/>
                    </a:p>
                  </a:txBody>
                  <a:tcPr marL="137160" marR="13716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c>
                  <a:txBody>
                    <a:bodyPr/>
                    <a:lstStyle/>
                    <a:p>
                      <a:pPr indent="0" marL="0">
                        <a:buNone/>
                      </a:pPr>
                      <a:r>
                        <a:rPr lang="en-US" sz="1300" dirty="0">
                          <a:solidFill>
                            <a:srgbClr val="4A5568"/>
                          </a:solidFill>
                        </a:rPr>
                        <a:t>Oracle Always Free ARM VM (24 GB) with one-command setup</a:t>
                      </a:r>
                      <a:endParaRPr lang="en-US" sz="1300" dirty="0"/>
                    </a:p>
                  </a:txBody>
                  <a:tcPr marL="137160" marR="13716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3F5F8"/>
                    </a:solidFill>
                  </a:tcPr>
                </a:tc>
              </a:tr>
              <a:tr h="548640">
                <a:tc>
                  <a:txBody>
                    <a:bodyPr/>
                    <a:lstStyle/>
                    <a:p>
                      <a:pPr indent="0" marL="0">
                        <a:buNone/>
                      </a:pPr>
                      <a:r>
                        <a:rPr lang="en-US" sz="1300" b="1" dirty="0">
                          <a:solidFill>
                            <a:srgbClr val="13203A"/>
                          </a:solidFill>
                        </a:rPr>
                        <a:t>Keeping credentials out of Git</a:t>
                      </a:r>
                      <a:endParaRPr lang="en-US" sz="1300" dirty="0"/>
                    </a:p>
                  </a:txBody>
                  <a:tcPr marL="137160" marR="13716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300" dirty="0">
                          <a:solidFill>
                            <a:srgbClr val="4A5568"/>
                          </a:solidFill>
                        </a:rPr>
                        <a:t>Env-based config; server-generated password; secret scanning in CI</a:t>
                      </a:r>
                      <a:endParaRPr lang="en-US" sz="1300" dirty="0"/>
                    </a:p>
                  </a:txBody>
                  <a:tcPr marL="137160" marR="137160" marT="0" marB="0" anchor="ctr">
                    <a:lnL w="6350" cap="flat" cmpd="sng" algn="ctr">
                      <a:solidFill>
                        <a:srgbClr val="DDE1E8"/>
                      </a:solidFill>
                      <a:prstDash val="solid"/>
                      <a:round/>
                      <a:headEnd type="none" w="med" len="med"/>
                      <a:tailEnd type="none" w="med" len="med"/>
                    </a:lnL>
                    <a:lnR w="6350" cap="flat" cmpd="sng" algn="ctr">
                      <a:solidFill>
                        <a:srgbClr val="DDE1E8"/>
                      </a:solidFill>
                      <a:prstDash val="solid"/>
                      <a:round/>
                      <a:headEnd type="none" w="med" len="med"/>
                      <a:tailEnd type="none" w="med" len="med"/>
                    </a:lnR>
                    <a:lnT w="6350" cap="flat" cmpd="sng" algn="ctr">
                      <a:solidFill>
                        <a:srgbClr val="DDE1E8"/>
                      </a:solidFill>
                      <a:prstDash val="solid"/>
                      <a:round/>
                      <a:headEnd type="none" w="med" len="med"/>
                      <a:tailEnd type="none" w="med" len="med"/>
                    </a:lnT>
                    <a:lnB w="6350" cap="flat" cmpd="sng" algn="ctr">
                      <a:solidFill>
                        <a:srgbClr val="DDE1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3203A"/>
        </a:solidFill>
      </p:bgPr>
    </p:bg>
    <p:spTree>
      <p:nvGrpSpPr>
        <p:cNvPr id="1" name=""/>
        <p:cNvGrpSpPr/>
        <p:nvPr/>
      </p:nvGrpSpPr>
      <p:grpSpPr>
        <a:xfrm>
          <a:off x="0" y="0"/>
          <a:ext cx="0" cy="0"/>
          <a:chOff x="0" y="0"/>
          <a:chExt cx="0" cy="0"/>
        </a:xfrm>
      </p:grpSpPr>
      <p:sp>
        <p:nvSpPr>
          <p:cNvPr id="2" name="Text 0"/>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B8C4D9"/>
                </a:solidFill>
                <a:latin typeface="Calibri" pitchFamily="34" charset="0"/>
                <a:ea typeface="Calibri" pitchFamily="34" charset="-122"/>
                <a:cs typeface="Calibri" pitchFamily="34" charset="-120"/>
              </a:rPr>
              <a:t>23</a:t>
            </a:r>
            <a:endParaRPr lang="en-US" sz="1000" dirty="0"/>
          </a:p>
        </p:txBody>
      </p:sp>
      <p:sp>
        <p:nvSpPr>
          <p:cNvPr id="3" name="Text 1"/>
          <p:cNvSpPr txBox="1"/>
          <p:nvPr/>
        </p:nvSpPr>
        <p:spPr>
          <a:xfrm>
            <a:off x="548640" y="457200"/>
            <a:ext cx="5486400" cy="320040"/>
          </a:xfrm>
          <a:prstGeom prst="rect">
            <a:avLst/>
          </a:prstGeom>
          <a:noFill/>
          <a:ln/>
        </p:spPr>
        <p:txBody>
          <a:bodyPr wrap="square" lIns="0" tIns="0" rIns="0" bIns="0" rtlCol="0" anchor="t"/>
          <a:lstStyle/>
          <a:p>
            <a:pPr indent="0" marL="0">
              <a:buNone/>
            </a:pPr>
            <a:r>
              <a:rPr lang="en-US" sz="1300" b="1" spc="400" kern="0" dirty="0">
                <a:solidFill>
                  <a:srgbClr val="F2A541"/>
                </a:solidFill>
                <a:latin typeface="Calibri" pitchFamily="34" charset="0"/>
                <a:ea typeface="Calibri" pitchFamily="34" charset="-122"/>
                <a:cs typeface="Calibri" pitchFamily="34" charset="-120"/>
              </a:rPr>
              <a:t>RESULTS</a:t>
            </a:r>
            <a:endParaRPr lang="en-US" sz="1300" dirty="0"/>
          </a:p>
        </p:txBody>
      </p:sp>
      <p:sp>
        <p:nvSpPr>
          <p:cNvPr id="4" name="Text 2"/>
          <p:cNvSpPr txBox="1"/>
          <p:nvPr/>
        </p:nvSpPr>
        <p:spPr>
          <a:xfrm>
            <a:off x="548640" y="777240"/>
            <a:ext cx="109728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the finished system delivers</a:t>
            </a:r>
            <a:endParaRPr lang="en-US" sz="3400" dirty="0"/>
          </a:p>
        </p:txBody>
      </p:sp>
      <p:sp>
        <p:nvSpPr>
          <p:cNvPr id="5" name="Shape 3"/>
          <p:cNvSpPr/>
          <p:nvPr/>
        </p:nvSpPr>
        <p:spPr>
          <a:xfrm>
            <a:off x="548640" y="1828800"/>
            <a:ext cx="3520440" cy="1828800"/>
          </a:xfrm>
          <a:prstGeom prst="roundRect">
            <a:avLst>
              <a:gd name="adj" fmla="val 5000"/>
            </a:avLst>
          </a:prstGeom>
          <a:solidFill>
            <a:srgbClr val="22325A"/>
          </a:solidFill>
          <a:ln w="12700">
            <a:solidFill>
              <a:srgbClr val="22325A"/>
            </a:solidFill>
            <a:prstDash val="solid"/>
          </a:ln>
        </p:spPr>
      </p:sp>
      <p:sp>
        <p:nvSpPr>
          <p:cNvPr id="6" name="Text 4"/>
          <p:cNvSpPr txBox="1"/>
          <p:nvPr/>
        </p:nvSpPr>
        <p:spPr>
          <a:xfrm>
            <a:off x="868680" y="2011680"/>
            <a:ext cx="2880360" cy="960120"/>
          </a:xfrm>
          <a:prstGeom prst="rect">
            <a:avLst/>
          </a:prstGeom>
          <a:noFill/>
          <a:ln/>
        </p:spPr>
        <p:txBody>
          <a:bodyPr wrap="square" lIns="0" tIns="0" rIns="0" bIns="0" rtlCol="0" anchor="t"/>
          <a:lstStyle/>
          <a:p>
            <a:pPr indent="0" marL="0">
              <a:buNone/>
            </a:pPr>
            <a:r>
              <a:rPr lang="en-US" sz="5400" b="1" dirty="0">
                <a:solidFill>
                  <a:srgbClr val="F2A541"/>
                </a:solidFill>
                <a:latin typeface="Cambria" pitchFamily="34" charset="0"/>
                <a:ea typeface="Cambria" pitchFamily="34" charset="-122"/>
                <a:cs typeface="Cambria" pitchFamily="34" charset="-120"/>
              </a:rPr>
              <a:t>22</a:t>
            </a:r>
            <a:endParaRPr lang="en-US" sz="5400" dirty="0"/>
          </a:p>
        </p:txBody>
      </p:sp>
      <p:sp>
        <p:nvSpPr>
          <p:cNvPr id="7" name="Text 5"/>
          <p:cNvSpPr txBox="1"/>
          <p:nvPr/>
        </p:nvSpPr>
        <p:spPr>
          <a:xfrm>
            <a:off x="868680" y="3017520"/>
            <a:ext cx="2880360" cy="411480"/>
          </a:xfrm>
          <a:prstGeom prst="rect">
            <a:avLst/>
          </a:prstGeom>
          <a:noFill/>
          <a:ln/>
        </p:spPr>
        <p:txBody>
          <a:bodyPr wrap="square" lIns="0" tIns="0" rIns="0" bIns="0" rtlCol="0" anchor="t"/>
          <a:lstStyle/>
          <a:p>
            <a:pPr indent="0" marL="0">
              <a:buNone/>
            </a:pPr>
            <a:r>
              <a:rPr lang="en-US" sz="1600" dirty="0">
                <a:solidFill>
                  <a:srgbClr val="B8C4D9"/>
                </a:solidFill>
                <a:latin typeface="Calibri" pitchFamily="34" charset="0"/>
                <a:ea typeface="Calibri" pitchFamily="34" charset="-122"/>
                <a:cs typeface="Calibri" pitchFamily="34" charset="-120"/>
              </a:rPr>
              <a:t>REST endpoints</a:t>
            </a:r>
            <a:endParaRPr lang="en-US" sz="1600" dirty="0"/>
          </a:p>
        </p:txBody>
      </p:sp>
      <p:sp>
        <p:nvSpPr>
          <p:cNvPr id="8" name="Shape 6"/>
          <p:cNvSpPr/>
          <p:nvPr/>
        </p:nvSpPr>
        <p:spPr>
          <a:xfrm>
            <a:off x="4297680" y="1828800"/>
            <a:ext cx="3520440" cy="1828800"/>
          </a:xfrm>
          <a:prstGeom prst="roundRect">
            <a:avLst>
              <a:gd name="adj" fmla="val 5000"/>
            </a:avLst>
          </a:prstGeom>
          <a:solidFill>
            <a:srgbClr val="22325A"/>
          </a:solidFill>
          <a:ln w="12700">
            <a:solidFill>
              <a:srgbClr val="22325A"/>
            </a:solidFill>
            <a:prstDash val="solid"/>
          </a:ln>
        </p:spPr>
      </p:sp>
      <p:sp>
        <p:nvSpPr>
          <p:cNvPr id="9" name="Text 7"/>
          <p:cNvSpPr txBox="1"/>
          <p:nvPr/>
        </p:nvSpPr>
        <p:spPr>
          <a:xfrm>
            <a:off x="4617720" y="2011680"/>
            <a:ext cx="2880360" cy="960120"/>
          </a:xfrm>
          <a:prstGeom prst="rect">
            <a:avLst/>
          </a:prstGeom>
          <a:noFill/>
          <a:ln/>
        </p:spPr>
        <p:txBody>
          <a:bodyPr wrap="square" lIns="0" tIns="0" rIns="0" bIns="0" rtlCol="0" anchor="t"/>
          <a:lstStyle/>
          <a:p>
            <a:pPr indent="0" marL="0">
              <a:buNone/>
            </a:pPr>
            <a:r>
              <a:rPr lang="en-US" sz="5400" b="1" dirty="0">
                <a:solidFill>
                  <a:srgbClr val="F2A541"/>
                </a:solidFill>
                <a:latin typeface="Cambria" pitchFamily="34" charset="0"/>
                <a:ea typeface="Cambria" pitchFamily="34" charset="-122"/>
                <a:cs typeface="Cambria" pitchFamily="34" charset="-120"/>
              </a:rPr>
              <a:t>12</a:t>
            </a:r>
            <a:endParaRPr lang="en-US" sz="5400" dirty="0"/>
          </a:p>
        </p:txBody>
      </p:sp>
      <p:sp>
        <p:nvSpPr>
          <p:cNvPr id="10" name="Text 8"/>
          <p:cNvSpPr txBox="1"/>
          <p:nvPr/>
        </p:nvSpPr>
        <p:spPr>
          <a:xfrm>
            <a:off x="4617720" y="3017520"/>
            <a:ext cx="2880360" cy="411480"/>
          </a:xfrm>
          <a:prstGeom prst="rect">
            <a:avLst/>
          </a:prstGeom>
          <a:noFill/>
          <a:ln/>
        </p:spPr>
        <p:txBody>
          <a:bodyPr wrap="square" lIns="0" tIns="0" rIns="0" bIns="0" rtlCol="0" anchor="t"/>
          <a:lstStyle/>
          <a:p>
            <a:pPr indent="0" marL="0">
              <a:buNone/>
            </a:pPr>
            <a:r>
              <a:rPr lang="en-US" sz="1600" dirty="0">
                <a:solidFill>
                  <a:srgbClr val="B8C4D9"/>
                </a:solidFill>
                <a:latin typeface="Calibri" pitchFamily="34" charset="0"/>
                <a:ea typeface="Calibri" pitchFamily="34" charset="-122"/>
                <a:cs typeface="Calibri" pitchFamily="34" charset="-120"/>
              </a:rPr>
              <a:t>UI pages</a:t>
            </a:r>
            <a:endParaRPr lang="en-US" sz="1600" dirty="0"/>
          </a:p>
        </p:txBody>
      </p:sp>
      <p:sp>
        <p:nvSpPr>
          <p:cNvPr id="11" name="Shape 9"/>
          <p:cNvSpPr/>
          <p:nvPr/>
        </p:nvSpPr>
        <p:spPr>
          <a:xfrm>
            <a:off x="8046720" y="1828800"/>
            <a:ext cx="3520440" cy="1828800"/>
          </a:xfrm>
          <a:prstGeom prst="roundRect">
            <a:avLst>
              <a:gd name="adj" fmla="val 5000"/>
            </a:avLst>
          </a:prstGeom>
          <a:solidFill>
            <a:srgbClr val="22325A"/>
          </a:solidFill>
          <a:ln w="12700">
            <a:solidFill>
              <a:srgbClr val="22325A"/>
            </a:solidFill>
            <a:prstDash val="solid"/>
          </a:ln>
        </p:spPr>
      </p:sp>
      <p:sp>
        <p:nvSpPr>
          <p:cNvPr id="12" name="Text 10"/>
          <p:cNvSpPr txBox="1"/>
          <p:nvPr/>
        </p:nvSpPr>
        <p:spPr>
          <a:xfrm>
            <a:off x="8366760" y="2011680"/>
            <a:ext cx="2880360" cy="960120"/>
          </a:xfrm>
          <a:prstGeom prst="rect">
            <a:avLst/>
          </a:prstGeom>
          <a:noFill/>
          <a:ln/>
        </p:spPr>
        <p:txBody>
          <a:bodyPr wrap="square" lIns="0" tIns="0" rIns="0" bIns="0" rtlCol="0" anchor="t"/>
          <a:lstStyle/>
          <a:p>
            <a:pPr indent="0" marL="0">
              <a:buNone/>
            </a:pPr>
            <a:r>
              <a:rPr lang="en-US" sz="5400" b="1" dirty="0">
                <a:solidFill>
                  <a:srgbClr val="F2A541"/>
                </a:solidFill>
                <a:latin typeface="Cambria" pitchFamily="34" charset="0"/>
                <a:ea typeface="Cambria" pitchFamily="34" charset="-122"/>
                <a:cs typeface="Cambria" pitchFamily="34" charset="-120"/>
              </a:rPr>
              <a:t>5</a:t>
            </a:r>
            <a:endParaRPr lang="en-US" sz="5400" dirty="0"/>
          </a:p>
        </p:txBody>
      </p:sp>
      <p:sp>
        <p:nvSpPr>
          <p:cNvPr id="13" name="Text 11"/>
          <p:cNvSpPr txBox="1"/>
          <p:nvPr/>
        </p:nvSpPr>
        <p:spPr>
          <a:xfrm>
            <a:off x="8366760" y="3017520"/>
            <a:ext cx="2880360" cy="411480"/>
          </a:xfrm>
          <a:prstGeom prst="rect">
            <a:avLst/>
          </a:prstGeom>
          <a:noFill/>
          <a:ln/>
        </p:spPr>
        <p:txBody>
          <a:bodyPr wrap="square" lIns="0" tIns="0" rIns="0" bIns="0" rtlCol="0" anchor="t"/>
          <a:lstStyle/>
          <a:p>
            <a:pPr indent="0" marL="0">
              <a:buNone/>
            </a:pPr>
            <a:r>
              <a:rPr lang="en-US" sz="1600" dirty="0">
                <a:solidFill>
                  <a:srgbClr val="B8C4D9"/>
                </a:solidFill>
                <a:latin typeface="Calibri" pitchFamily="34" charset="0"/>
                <a:ea typeface="Calibri" pitchFamily="34" charset="-122"/>
                <a:cs typeface="Calibri" pitchFamily="34" charset="-120"/>
              </a:rPr>
              <a:t>AI tools</a:t>
            </a:r>
            <a:endParaRPr lang="en-US" sz="1600" dirty="0"/>
          </a:p>
        </p:txBody>
      </p:sp>
      <p:sp>
        <p:nvSpPr>
          <p:cNvPr id="14" name="Shape 12"/>
          <p:cNvSpPr/>
          <p:nvPr/>
        </p:nvSpPr>
        <p:spPr>
          <a:xfrm>
            <a:off x="548640" y="3931920"/>
            <a:ext cx="3520440" cy="1828800"/>
          </a:xfrm>
          <a:prstGeom prst="roundRect">
            <a:avLst>
              <a:gd name="adj" fmla="val 5000"/>
            </a:avLst>
          </a:prstGeom>
          <a:solidFill>
            <a:srgbClr val="22325A"/>
          </a:solidFill>
          <a:ln w="12700">
            <a:solidFill>
              <a:srgbClr val="22325A"/>
            </a:solidFill>
            <a:prstDash val="solid"/>
          </a:ln>
        </p:spPr>
      </p:sp>
      <p:sp>
        <p:nvSpPr>
          <p:cNvPr id="15" name="Text 13"/>
          <p:cNvSpPr txBox="1"/>
          <p:nvPr/>
        </p:nvSpPr>
        <p:spPr>
          <a:xfrm>
            <a:off x="868680" y="4114800"/>
            <a:ext cx="2880360" cy="960120"/>
          </a:xfrm>
          <a:prstGeom prst="rect">
            <a:avLst/>
          </a:prstGeom>
          <a:noFill/>
          <a:ln/>
        </p:spPr>
        <p:txBody>
          <a:bodyPr wrap="square" lIns="0" tIns="0" rIns="0" bIns="0" rtlCol="0" anchor="t"/>
          <a:lstStyle/>
          <a:p>
            <a:pPr indent="0" marL="0">
              <a:buNone/>
            </a:pPr>
            <a:r>
              <a:rPr lang="en-US" sz="5400" b="1" dirty="0">
                <a:solidFill>
                  <a:srgbClr val="F2A541"/>
                </a:solidFill>
                <a:latin typeface="Cambria" pitchFamily="34" charset="0"/>
                <a:ea typeface="Cambria" pitchFamily="34" charset="-122"/>
                <a:cs typeface="Cambria" pitchFamily="34" charset="-120"/>
              </a:rPr>
              <a:t>3</a:t>
            </a:r>
            <a:endParaRPr lang="en-US" sz="5400" dirty="0"/>
          </a:p>
        </p:txBody>
      </p:sp>
      <p:sp>
        <p:nvSpPr>
          <p:cNvPr id="16" name="Text 14"/>
          <p:cNvSpPr txBox="1"/>
          <p:nvPr/>
        </p:nvSpPr>
        <p:spPr>
          <a:xfrm>
            <a:off x="868680" y="5120640"/>
            <a:ext cx="2880360" cy="411480"/>
          </a:xfrm>
          <a:prstGeom prst="rect">
            <a:avLst/>
          </a:prstGeom>
          <a:noFill/>
          <a:ln/>
        </p:spPr>
        <p:txBody>
          <a:bodyPr wrap="square" lIns="0" tIns="0" rIns="0" bIns="0" rtlCol="0" anchor="t"/>
          <a:lstStyle/>
          <a:p>
            <a:pPr indent="0" marL="0">
              <a:buNone/>
            </a:pPr>
            <a:r>
              <a:rPr lang="en-US" sz="1600" dirty="0">
                <a:solidFill>
                  <a:srgbClr val="B8C4D9"/>
                </a:solidFill>
                <a:latin typeface="Calibri" pitchFamily="34" charset="0"/>
                <a:ea typeface="Calibri" pitchFamily="34" charset="-122"/>
                <a:cs typeface="Calibri" pitchFamily="34" charset="-120"/>
              </a:rPr>
              <a:t>database tables</a:t>
            </a:r>
            <a:endParaRPr lang="en-US" sz="1600" dirty="0"/>
          </a:p>
        </p:txBody>
      </p:sp>
      <p:sp>
        <p:nvSpPr>
          <p:cNvPr id="17" name="Shape 15"/>
          <p:cNvSpPr/>
          <p:nvPr/>
        </p:nvSpPr>
        <p:spPr>
          <a:xfrm>
            <a:off x="4297680" y="3931920"/>
            <a:ext cx="3520440" cy="1828800"/>
          </a:xfrm>
          <a:prstGeom prst="roundRect">
            <a:avLst>
              <a:gd name="adj" fmla="val 5000"/>
            </a:avLst>
          </a:prstGeom>
          <a:solidFill>
            <a:srgbClr val="22325A"/>
          </a:solidFill>
          <a:ln w="12700">
            <a:solidFill>
              <a:srgbClr val="22325A"/>
            </a:solidFill>
            <a:prstDash val="solid"/>
          </a:ln>
        </p:spPr>
      </p:sp>
      <p:sp>
        <p:nvSpPr>
          <p:cNvPr id="18" name="Text 16"/>
          <p:cNvSpPr txBox="1"/>
          <p:nvPr/>
        </p:nvSpPr>
        <p:spPr>
          <a:xfrm>
            <a:off x="4617720" y="4114800"/>
            <a:ext cx="2880360" cy="960120"/>
          </a:xfrm>
          <a:prstGeom prst="rect">
            <a:avLst/>
          </a:prstGeom>
          <a:noFill/>
          <a:ln/>
        </p:spPr>
        <p:txBody>
          <a:bodyPr wrap="square" lIns="0" tIns="0" rIns="0" bIns="0" rtlCol="0" anchor="t"/>
          <a:lstStyle/>
          <a:p>
            <a:pPr indent="0" marL="0">
              <a:buNone/>
            </a:pPr>
            <a:r>
              <a:rPr lang="en-US" sz="5400" b="1" dirty="0">
                <a:solidFill>
                  <a:srgbClr val="F2A541"/>
                </a:solidFill>
                <a:latin typeface="Cambria" pitchFamily="34" charset="0"/>
                <a:ea typeface="Cambria" pitchFamily="34" charset="-122"/>
                <a:cs typeface="Cambria" pitchFamily="34" charset="-120"/>
              </a:rPr>
              <a:t>17</a:t>
            </a:r>
            <a:endParaRPr lang="en-US" sz="5400" dirty="0"/>
          </a:p>
        </p:txBody>
      </p:sp>
      <p:sp>
        <p:nvSpPr>
          <p:cNvPr id="19" name="Text 17"/>
          <p:cNvSpPr txBox="1"/>
          <p:nvPr/>
        </p:nvSpPr>
        <p:spPr>
          <a:xfrm>
            <a:off x="4617720" y="5120640"/>
            <a:ext cx="2880360" cy="411480"/>
          </a:xfrm>
          <a:prstGeom prst="rect">
            <a:avLst/>
          </a:prstGeom>
          <a:noFill/>
          <a:ln/>
        </p:spPr>
        <p:txBody>
          <a:bodyPr wrap="square" lIns="0" tIns="0" rIns="0" bIns="0" rtlCol="0" anchor="t"/>
          <a:lstStyle/>
          <a:p>
            <a:pPr indent="0" marL="0">
              <a:buNone/>
            </a:pPr>
            <a:r>
              <a:rPr lang="en-US" sz="1600" dirty="0">
                <a:solidFill>
                  <a:srgbClr val="B8C4D9"/>
                </a:solidFill>
                <a:latin typeface="Calibri" pitchFamily="34" charset="0"/>
                <a:ea typeface="Calibri" pitchFamily="34" charset="-122"/>
                <a:cs typeface="Calibri" pitchFamily="34" charset="-120"/>
              </a:rPr>
              <a:t>automated tests</a:t>
            </a:r>
            <a:endParaRPr lang="en-US" sz="1600" dirty="0"/>
          </a:p>
        </p:txBody>
      </p:sp>
      <p:sp>
        <p:nvSpPr>
          <p:cNvPr id="20" name="Shape 18"/>
          <p:cNvSpPr/>
          <p:nvPr/>
        </p:nvSpPr>
        <p:spPr>
          <a:xfrm>
            <a:off x="8046720" y="3931920"/>
            <a:ext cx="3520440" cy="1828800"/>
          </a:xfrm>
          <a:prstGeom prst="roundRect">
            <a:avLst>
              <a:gd name="adj" fmla="val 5000"/>
            </a:avLst>
          </a:prstGeom>
          <a:solidFill>
            <a:srgbClr val="22325A"/>
          </a:solidFill>
          <a:ln w="12700">
            <a:solidFill>
              <a:srgbClr val="22325A"/>
            </a:solidFill>
            <a:prstDash val="solid"/>
          </a:ln>
        </p:spPr>
      </p:sp>
      <p:sp>
        <p:nvSpPr>
          <p:cNvPr id="21" name="Text 19"/>
          <p:cNvSpPr txBox="1"/>
          <p:nvPr/>
        </p:nvSpPr>
        <p:spPr>
          <a:xfrm>
            <a:off x="8366760" y="4114800"/>
            <a:ext cx="2880360" cy="960120"/>
          </a:xfrm>
          <a:prstGeom prst="rect">
            <a:avLst/>
          </a:prstGeom>
          <a:noFill/>
          <a:ln/>
        </p:spPr>
        <p:txBody>
          <a:bodyPr wrap="square" lIns="0" tIns="0" rIns="0" bIns="0" rtlCol="0" anchor="t"/>
          <a:lstStyle/>
          <a:p>
            <a:pPr indent="0" marL="0">
              <a:buNone/>
            </a:pPr>
            <a:r>
              <a:rPr lang="en-US" sz="5400" b="1" dirty="0">
                <a:solidFill>
                  <a:srgbClr val="F2A541"/>
                </a:solidFill>
                <a:latin typeface="Cambria" pitchFamily="34" charset="0"/>
                <a:ea typeface="Cambria" pitchFamily="34" charset="-122"/>
                <a:cs typeface="Cambria" pitchFamily="34" charset="-120"/>
              </a:rPr>
              <a:t>Free</a:t>
            </a:r>
            <a:endParaRPr lang="en-US" sz="5400" dirty="0"/>
          </a:p>
        </p:txBody>
      </p:sp>
      <p:sp>
        <p:nvSpPr>
          <p:cNvPr id="22" name="Text 20"/>
          <p:cNvSpPr txBox="1"/>
          <p:nvPr/>
        </p:nvSpPr>
        <p:spPr>
          <a:xfrm>
            <a:off x="8366760" y="5120640"/>
            <a:ext cx="2880360" cy="411480"/>
          </a:xfrm>
          <a:prstGeom prst="rect">
            <a:avLst/>
          </a:prstGeom>
          <a:noFill/>
          <a:ln/>
        </p:spPr>
        <p:txBody>
          <a:bodyPr wrap="square" lIns="0" tIns="0" rIns="0" bIns="0" rtlCol="0" anchor="t"/>
          <a:lstStyle/>
          <a:p>
            <a:pPr indent="0" marL="0">
              <a:buNone/>
            </a:pPr>
            <a:r>
              <a:rPr lang="en-US" sz="1600" dirty="0">
                <a:solidFill>
                  <a:srgbClr val="B8C4D9"/>
                </a:solidFill>
                <a:latin typeface="Calibri" pitchFamily="34" charset="0"/>
                <a:ea typeface="Calibri" pitchFamily="34" charset="-122"/>
                <a:cs typeface="Calibri" pitchFamily="34" charset="-120"/>
              </a:rPr>
              <a:t>hosting and AI costs</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t"/>
          <a:lstStyle/>
          <a:p>
            <a:pPr indent="0" marL="0">
              <a:buNone/>
            </a:pPr>
            <a:r>
              <a:rPr lang="en-US" sz="1200" b="1" spc="300" kern="0" dirty="0">
                <a:solidFill>
                  <a:srgbClr val="9A5B00"/>
                </a:solidFill>
                <a:latin typeface="Calibri" pitchFamily="34" charset="0"/>
                <a:ea typeface="Calibri" pitchFamily="34" charset="-122"/>
                <a:cs typeface="Calibri" pitchFamily="34" charset="-120"/>
              </a:rPr>
              <a:t>FUTURE SCOPE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3203A"/>
                </a:solidFill>
                <a:latin typeface="Cambria" pitchFamily="34" charset="0"/>
                <a:ea typeface="Cambria" pitchFamily="34" charset="-122"/>
                <a:cs typeface="Cambria" pitchFamily="34" charset="-120"/>
              </a:rPr>
              <a:t>Where the project goes next</a:t>
            </a:r>
            <a:endParaRPr lang="en-US" sz="3400" dirty="0"/>
          </a:p>
        </p:txBody>
      </p:sp>
      <p:sp>
        <p:nvSpPr>
          <p:cNvPr id="4" name="Text 2"/>
          <p:cNvSpPr txBox="1"/>
          <p:nvPr/>
        </p:nvSpPr>
        <p:spPr>
          <a:xfrm>
            <a:off x="11094415" y="6446520"/>
            <a:ext cx="548640" cy="274320"/>
          </a:xfrm>
          <a:prstGeom prst="rect">
            <a:avLst/>
          </a:prstGeom>
          <a:noFill/>
          <a:ln/>
        </p:spPr>
        <p:txBody>
          <a:bodyPr wrap="square" lIns="0" tIns="0" rIns="0" bIns="0" rtlCol="0" anchor="t"/>
          <a:lstStyle/>
          <a:p>
            <a:pPr algn="r" indent="0" marL="0">
              <a:buNone/>
            </a:pPr>
            <a:r>
              <a:rPr lang="en-US" sz="1000" dirty="0">
                <a:solidFill>
                  <a:srgbClr val="4A5568"/>
                </a:solidFill>
                <a:latin typeface="Calibri" pitchFamily="34" charset="0"/>
                <a:ea typeface="Calibri" pitchFamily="34" charset="-122"/>
                <a:cs typeface="Calibri" pitchFamily="34" charset="-120"/>
              </a:rPr>
              <a:t>24</a:t>
            </a:r>
            <a:endParaRPr lang="en-US" sz="1000" dirty="0"/>
          </a:p>
        </p:txBody>
      </p:sp>
      <p:sp>
        <p:nvSpPr>
          <p:cNvPr id="5" name="Shape 3"/>
          <p:cNvSpPr/>
          <p:nvPr/>
        </p:nvSpPr>
        <p:spPr>
          <a:xfrm>
            <a:off x="548640" y="1691640"/>
            <a:ext cx="731520" cy="731520"/>
          </a:xfrm>
          <a:prstGeom prst="ellipse">
            <a:avLst/>
          </a:prstGeom>
          <a:solidFill>
            <a:srgbClr val="F2A541"/>
          </a:solidFill>
          <a:ln w="12700">
            <a:solidFill>
              <a:srgbClr val="F2A541"/>
            </a:solidFill>
            <a:prstDash val="solid"/>
          </a:ln>
        </p:spPr>
      </p:sp>
      <p:pic>
        <p:nvPicPr>
          <p:cNvPr id="6" name="Image 0" descr="preencoded.png">    </p:cNvPr>
          <p:cNvPicPr>
            <a:picLocks noChangeAspect="1"/>
          </p:cNvPicPr>
          <p:nvPr/>
        </p:nvPicPr>
        <p:blipFill>
          <a:blip r:embed="rId1"/>
          <a:stretch>
            <a:fillRect/>
          </a:stretch>
        </p:blipFill>
        <p:spPr>
          <a:xfrm>
            <a:off x="731520" y="1874520"/>
            <a:ext cx="365760" cy="365760"/>
          </a:xfrm>
          <a:prstGeom prst="rect">
            <a:avLst/>
          </a:prstGeom>
        </p:spPr>
      </p:pic>
      <p:sp>
        <p:nvSpPr>
          <p:cNvPr id="7" name="Text 4"/>
          <p:cNvSpPr txBox="1"/>
          <p:nvPr/>
        </p:nvSpPr>
        <p:spPr>
          <a:xfrm>
            <a:off x="1508760" y="1709928"/>
            <a:ext cx="4389120" cy="365760"/>
          </a:xfrm>
          <a:prstGeom prst="rect">
            <a:avLst/>
          </a:prstGeom>
          <a:noFill/>
          <a:ln/>
        </p:spPr>
        <p:txBody>
          <a:bodyPr wrap="square" lIns="0" tIns="0" rIns="0" bIns="0" rtlCol="0" anchor="t"/>
          <a:lstStyle/>
          <a:p>
            <a:pPr indent="0" marL="0">
              <a:buNone/>
            </a:pPr>
            <a:r>
              <a:rPr lang="en-US" sz="1700" b="1" dirty="0">
                <a:solidFill>
                  <a:srgbClr val="13203A"/>
                </a:solidFill>
                <a:latin typeface="Calibri" pitchFamily="34" charset="0"/>
                <a:ea typeface="Calibri" pitchFamily="34" charset="-122"/>
                <a:cs typeface="Calibri" pitchFamily="34" charset="-120"/>
              </a:rPr>
              <a:t>Admin authentication</a:t>
            </a:r>
            <a:endParaRPr lang="en-US" sz="1700" dirty="0"/>
          </a:p>
        </p:txBody>
      </p:sp>
      <p:sp>
        <p:nvSpPr>
          <p:cNvPr id="8" name="Text 5"/>
          <p:cNvSpPr txBox="1"/>
          <p:nvPr/>
        </p:nvSpPr>
        <p:spPr>
          <a:xfrm>
            <a:off x="1508760" y="2075688"/>
            <a:ext cx="4389120" cy="457200"/>
          </a:xfrm>
          <a:prstGeom prst="rect">
            <a:avLst/>
          </a:prstGeom>
          <a:noFill/>
          <a:ln/>
        </p:spPr>
        <p:txBody>
          <a:bodyPr wrap="square" lIns="0" tIns="0" rIns="0" bIns="0" rtlCol="0" anchor="t"/>
          <a:lstStyle/>
          <a:p>
            <a:pPr indent="0" marL="0">
              <a:buNone/>
            </a:pPr>
            <a:r>
              <a:rPr lang="en-US" sz="1350" dirty="0">
                <a:solidFill>
                  <a:srgbClr val="4A5568"/>
                </a:solidFill>
                <a:latin typeface="Calibri" pitchFamily="34" charset="0"/>
                <a:ea typeface="Calibri" pitchFamily="34" charset="-122"/>
                <a:cs typeface="Calibri" pitchFamily="34" charset="-120"/>
              </a:rPr>
              <a:t>Spring Security with JWT and roles</a:t>
            </a:r>
            <a:endParaRPr lang="en-US" sz="1350" dirty="0"/>
          </a:p>
        </p:txBody>
      </p:sp>
      <p:sp>
        <p:nvSpPr>
          <p:cNvPr id="9" name="Shape 6"/>
          <p:cNvSpPr/>
          <p:nvPr/>
        </p:nvSpPr>
        <p:spPr>
          <a:xfrm>
            <a:off x="6172200" y="1691640"/>
            <a:ext cx="731520" cy="731520"/>
          </a:xfrm>
          <a:prstGeom prst="ellipse">
            <a:avLst/>
          </a:prstGeom>
          <a:solidFill>
            <a:srgbClr val="F2A541"/>
          </a:solidFill>
          <a:ln w="12700">
            <a:solidFill>
              <a:srgbClr val="F2A541"/>
            </a:solidFill>
            <a:prstDash val="solid"/>
          </a:ln>
        </p:spPr>
      </p:sp>
      <p:pic>
        <p:nvPicPr>
          <p:cNvPr id="10" name="Image 1" descr="preencoded.png">    </p:cNvPr>
          <p:cNvPicPr>
            <a:picLocks noChangeAspect="1"/>
          </p:cNvPicPr>
          <p:nvPr/>
        </p:nvPicPr>
        <p:blipFill>
          <a:blip r:embed="rId2"/>
          <a:stretch>
            <a:fillRect/>
          </a:stretch>
        </p:blipFill>
        <p:spPr>
          <a:xfrm>
            <a:off x="6355080" y="1874520"/>
            <a:ext cx="365760" cy="365760"/>
          </a:xfrm>
          <a:prstGeom prst="rect">
            <a:avLst/>
          </a:prstGeom>
        </p:spPr>
      </p:pic>
      <p:sp>
        <p:nvSpPr>
          <p:cNvPr id="11" name="Text 7"/>
          <p:cNvSpPr txBox="1"/>
          <p:nvPr/>
        </p:nvSpPr>
        <p:spPr>
          <a:xfrm>
            <a:off x="7132320" y="1709928"/>
            <a:ext cx="4389120" cy="365760"/>
          </a:xfrm>
          <a:prstGeom prst="rect">
            <a:avLst/>
          </a:prstGeom>
          <a:noFill/>
          <a:ln/>
        </p:spPr>
        <p:txBody>
          <a:bodyPr wrap="square" lIns="0" tIns="0" rIns="0" bIns="0" rtlCol="0" anchor="t"/>
          <a:lstStyle/>
          <a:p>
            <a:pPr indent="0" marL="0">
              <a:buNone/>
            </a:pPr>
            <a:r>
              <a:rPr lang="en-US" sz="1700" b="1" dirty="0">
                <a:solidFill>
                  <a:srgbClr val="13203A"/>
                </a:solidFill>
                <a:latin typeface="Calibri" pitchFamily="34" charset="0"/>
                <a:ea typeface="Calibri" pitchFamily="34" charset="-122"/>
                <a:cs typeface="Calibri" pitchFamily="34" charset="-120"/>
              </a:rPr>
              <a:t>Domain + HTTPS</a:t>
            </a:r>
            <a:endParaRPr lang="en-US" sz="1700" dirty="0"/>
          </a:p>
        </p:txBody>
      </p:sp>
      <p:sp>
        <p:nvSpPr>
          <p:cNvPr id="12" name="Text 8"/>
          <p:cNvSpPr txBox="1"/>
          <p:nvPr/>
        </p:nvSpPr>
        <p:spPr>
          <a:xfrm>
            <a:off x="7132320" y="2075688"/>
            <a:ext cx="4389120" cy="457200"/>
          </a:xfrm>
          <a:prstGeom prst="rect">
            <a:avLst/>
          </a:prstGeom>
          <a:noFill/>
          <a:ln/>
        </p:spPr>
        <p:txBody>
          <a:bodyPr wrap="square" lIns="0" tIns="0" rIns="0" bIns="0" rtlCol="0" anchor="t"/>
          <a:lstStyle/>
          <a:p>
            <a:pPr indent="0" marL="0">
              <a:buNone/>
            </a:pPr>
            <a:r>
              <a:rPr lang="en-US" sz="1350" dirty="0">
                <a:solidFill>
                  <a:srgbClr val="4A5568"/>
                </a:solidFill>
                <a:latin typeface="Calibri" pitchFamily="34" charset="0"/>
                <a:ea typeface="Calibri" pitchFamily="34" charset="-122"/>
                <a:cs typeface="Calibri" pitchFamily="34" charset="-120"/>
              </a:rPr>
              <a:t>Friendly address with a free TLS certificate</a:t>
            </a:r>
            <a:endParaRPr lang="en-US" sz="1350" dirty="0"/>
          </a:p>
        </p:txBody>
      </p:sp>
      <p:sp>
        <p:nvSpPr>
          <p:cNvPr id="13" name="Shape 9"/>
          <p:cNvSpPr/>
          <p:nvPr/>
        </p:nvSpPr>
        <p:spPr>
          <a:xfrm>
            <a:off x="548640" y="3154680"/>
            <a:ext cx="731520" cy="731520"/>
          </a:xfrm>
          <a:prstGeom prst="ellipse">
            <a:avLst/>
          </a:prstGeom>
          <a:solidFill>
            <a:srgbClr val="F2A541"/>
          </a:solidFill>
          <a:ln w="12700">
            <a:solidFill>
              <a:srgbClr val="F2A541"/>
            </a:solidFill>
            <a:prstDash val="solid"/>
          </a:ln>
        </p:spPr>
      </p:sp>
      <p:pic>
        <p:nvPicPr>
          <p:cNvPr id="14" name="Image 2" descr="preencoded.png">    </p:cNvPr>
          <p:cNvPicPr>
            <a:picLocks noChangeAspect="1"/>
          </p:cNvPicPr>
          <p:nvPr/>
        </p:nvPicPr>
        <p:blipFill>
          <a:blip r:embed="rId3"/>
          <a:stretch>
            <a:fillRect/>
          </a:stretch>
        </p:blipFill>
        <p:spPr>
          <a:xfrm>
            <a:off x="731520" y="3337560"/>
            <a:ext cx="365760" cy="365760"/>
          </a:xfrm>
          <a:prstGeom prst="rect">
            <a:avLst/>
          </a:prstGeom>
        </p:spPr>
      </p:pic>
      <p:sp>
        <p:nvSpPr>
          <p:cNvPr id="15" name="Text 10"/>
          <p:cNvSpPr txBox="1"/>
          <p:nvPr/>
        </p:nvSpPr>
        <p:spPr>
          <a:xfrm>
            <a:off x="1508760" y="3172968"/>
            <a:ext cx="4389120" cy="365760"/>
          </a:xfrm>
          <a:prstGeom prst="rect">
            <a:avLst/>
          </a:prstGeom>
          <a:noFill/>
          <a:ln/>
        </p:spPr>
        <p:txBody>
          <a:bodyPr wrap="square" lIns="0" tIns="0" rIns="0" bIns="0" rtlCol="0" anchor="t"/>
          <a:lstStyle/>
          <a:p>
            <a:pPr indent="0" marL="0">
              <a:buNone/>
            </a:pPr>
            <a:r>
              <a:rPr lang="en-US" sz="1700" b="1" dirty="0">
                <a:solidFill>
                  <a:srgbClr val="13203A"/>
                </a:solidFill>
                <a:latin typeface="Calibri" pitchFamily="34" charset="0"/>
                <a:ea typeface="Calibri" pitchFamily="34" charset="-122"/>
                <a:cs typeface="Calibri" pitchFamily="34" charset="-120"/>
              </a:rPr>
              <a:t>Live GPS</a:t>
            </a:r>
            <a:endParaRPr lang="en-US" sz="1700" dirty="0"/>
          </a:p>
        </p:txBody>
      </p:sp>
      <p:sp>
        <p:nvSpPr>
          <p:cNvPr id="16" name="Text 11"/>
          <p:cNvSpPr txBox="1"/>
          <p:nvPr/>
        </p:nvSpPr>
        <p:spPr>
          <a:xfrm>
            <a:off x="1508760" y="3538728"/>
            <a:ext cx="4389120" cy="457200"/>
          </a:xfrm>
          <a:prstGeom prst="rect">
            <a:avLst/>
          </a:prstGeom>
          <a:noFill/>
          <a:ln/>
        </p:spPr>
        <p:txBody>
          <a:bodyPr wrap="square" lIns="0" tIns="0" rIns="0" bIns="0" rtlCol="0" anchor="t"/>
          <a:lstStyle/>
          <a:p>
            <a:pPr indent="0" marL="0">
              <a:buNone/>
            </a:pPr>
            <a:r>
              <a:rPr lang="en-US" sz="1350" dirty="0">
                <a:solidFill>
                  <a:srgbClr val="4A5568"/>
                </a:solidFill>
                <a:latin typeface="Calibri" pitchFamily="34" charset="0"/>
                <a:ea typeface="Calibri" pitchFamily="34" charset="-122"/>
                <a:cs typeface="Calibri" pitchFamily="34" charset="-120"/>
              </a:rPr>
              <a:t>Real locations on a map instead of x/y coordinates</a:t>
            </a:r>
            <a:endParaRPr lang="en-US" sz="1350" dirty="0"/>
          </a:p>
        </p:txBody>
      </p:sp>
      <p:sp>
        <p:nvSpPr>
          <p:cNvPr id="17" name="Shape 12"/>
          <p:cNvSpPr/>
          <p:nvPr/>
        </p:nvSpPr>
        <p:spPr>
          <a:xfrm>
            <a:off x="6172200" y="3154680"/>
            <a:ext cx="731520" cy="731520"/>
          </a:xfrm>
          <a:prstGeom prst="ellipse">
            <a:avLst/>
          </a:prstGeom>
          <a:solidFill>
            <a:srgbClr val="F2A541"/>
          </a:solidFill>
          <a:ln w="12700">
            <a:solidFill>
              <a:srgbClr val="F2A541"/>
            </a:solidFill>
            <a:prstDash val="solid"/>
          </a:ln>
        </p:spPr>
      </p:sp>
      <p:pic>
        <p:nvPicPr>
          <p:cNvPr id="18" name="Image 3" descr="preencoded.png">    </p:cNvPr>
          <p:cNvPicPr>
            <a:picLocks noChangeAspect="1"/>
          </p:cNvPicPr>
          <p:nvPr/>
        </p:nvPicPr>
        <p:blipFill>
          <a:blip r:embed="rId4"/>
          <a:stretch>
            <a:fillRect/>
          </a:stretch>
        </p:blipFill>
        <p:spPr>
          <a:xfrm>
            <a:off x="6355080" y="3337560"/>
            <a:ext cx="365760" cy="365760"/>
          </a:xfrm>
          <a:prstGeom prst="rect">
            <a:avLst/>
          </a:prstGeom>
        </p:spPr>
      </p:pic>
      <p:sp>
        <p:nvSpPr>
          <p:cNvPr id="19" name="Text 13"/>
          <p:cNvSpPr txBox="1"/>
          <p:nvPr/>
        </p:nvSpPr>
        <p:spPr>
          <a:xfrm>
            <a:off x="7132320" y="3172968"/>
            <a:ext cx="4389120" cy="365760"/>
          </a:xfrm>
          <a:prstGeom prst="rect">
            <a:avLst/>
          </a:prstGeom>
          <a:noFill/>
          <a:ln/>
        </p:spPr>
        <p:txBody>
          <a:bodyPr wrap="square" lIns="0" tIns="0" rIns="0" bIns="0" rtlCol="0" anchor="t"/>
          <a:lstStyle/>
          <a:p>
            <a:pPr indent="0" marL="0">
              <a:buNone/>
            </a:pPr>
            <a:r>
              <a:rPr lang="en-US" sz="1700" b="1" dirty="0">
                <a:solidFill>
                  <a:srgbClr val="13203A"/>
                </a:solidFill>
                <a:latin typeface="Calibri" pitchFamily="34" charset="0"/>
                <a:ea typeface="Calibri" pitchFamily="34" charset="-122"/>
                <a:cs typeface="Calibri" pitchFamily="34" charset="-120"/>
              </a:rPr>
              <a:t>Faster AI</a:t>
            </a:r>
            <a:endParaRPr lang="en-US" sz="1700" dirty="0"/>
          </a:p>
        </p:txBody>
      </p:sp>
      <p:sp>
        <p:nvSpPr>
          <p:cNvPr id="20" name="Text 14"/>
          <p:cNvSpPr txBox="1"/>
          <p:nvPr/>
        </p:nvSpPr>
        <p:spPr>
          <a:xfrm>
            <a:off x="7132320" y="3538728"/>
            <a:ext cx="4389120" cy="457200"/>
          </a:xfrm>
          <a:prstGeom prst="rect">
            <a:avLst/>
          </a:prstGeom>
          <a:noFill/>
          <a:ln/>
        </p:spPr>
        <p:txBody>
          <a:bodyPr wrap="square" lIns="0" tIns="0" rIns="0" bIns="0" rtlCol="0" anchor="t"/>
          <a:lstStyle/>
          <a:p>
            <a:pPr indent="0" marL="0">
              <a:buNone/>
            </a:pPr>
            <a:r>
              <a:rPr lang="en-US" sz="1350" dirty="0">
                <a:solidFill>
                  <a:srgbClr val="4A5568"/>
                </a:solidFill>
                <a:latin typeface="Calibri" pitchFamily="34" charset="0"/>
                <a:ea typeface="Calibri" pitchFamily="34" charset="-122"/>
                <a:cs typeface="Calibri" pitchFamily="34" charset="-120"/>
              </a:rPr>
              <a:t>Larger model or GPU; streaming answers</a:t>
            </a:r>
            <a:endParaRPr lang="en-US" sz="1350" dirty="0"/>
          </a:p>
        </p:txBody>
      </p:sp>
      <p:sp>
        <p:nvSpPr>
          <p:cNvPr id="21" name="Shape 15"/>
          <p:cNvSpPr/>
          <p:nvPr/>
        </p:nvSpPr>
        <p:spPr>
          <a:xfrm>
            <a:off x="548640" y="4617720"/>
            <a:ext cx="731520" cy="731520"/>
          </a:xfrm>
          <a:prstGeom prst="ellipse">
            <a:avLst/>
          </a:prstGeom>
          <a:solidFill>
            <a:srgbClr val="F2A541"/>
          </a:solidFill>
          <a:ln w="12700">
            <a:solidFill>
              <a:srgbClr val="F2A541"/>
            </a:solidFill>
            <a:prstDash val="solid"/>
          </a:ln>
        </p:spPr>
      </p:sp>
      <p:pic>
        <p:nvPicPr>
          <p:cNvPr id="22" name="Image 4" descr="preencoded.png">    </p:cNvPr>
          <p:cNvPicPr>
            <a:picLocks noChangeAspect="1"/>
          </p:cNvPicPr>
          <p:nvPr/>
        </p:nvPicPr>
        <p:blipFill>
          <a:blip r:embed="rId5"/>
          <a:stretch>
            <a:fillRect/>
          </a:stretch>
        </p:blipFill>
        <p:spPr>
          <a:xfrm>
            <a:off x="731520" y="4800600"/>
            <a:ext cx="365760" cy="365760"/>
          </a:xfrm>
          <a:prstGeom prst="rect">
            <a:avLst/>
          </a:prstGeom>
        </p:spPr>
      </p:pic>
      <p:sp>
        <p:nvSpPr>
          <p:cNvPr id="23" name="Text 16"/>
          <p:cNvSpPr txBox="1"/>
          <p:nvPr/>
        </p:nvSpPr>
        <p:spPr>
          <a:xfrm>
            <a:off x="1508760" y="4636008"/>
            <a:ext cx="4389120" cy="365760"/>
          </a:xfrm>
          <a:prstGeom prst="rect">
            <a:avLst/>
          </a:prstGeom>
          <a:noFill/>
          <a:ln/>
        </p:spPr>
        <p:txBody>
          <a:bodyPr wrap="square" lIns="0" tIns="0" rIns="0" bIns="0" rtlCol="0" anchor="t"/>
          <a:lstStyle/>
          <a:p>
            <a:pPr indent="0" marL="0">
              <a:buNone/>
            </a:pPr>
            <a:r>
              <a:rPr lang="en-US" sz="1700" b="1" dirty="0">
                <a:solidFill>
                  <a:srgbClr val="13203A"/>
                </a:solidFill>
                <a:latin typeface="Calibri" pitchFamily="34" charset="0"/>
                <a:ea typeface="Calibri" pitchFamily="34" charset="-122"/>
                <a:cs typeface="Calibri" pitchFamily="34" charset="-120"/>
              </a:rPr>
              <a:t>Notifications</a:t>
            </a:r>
            <a:endParaRPr lang="en-US" sz="1700" dirty="0"/>
          </a:p>
        </p:txBody>
      </p:sp>
      <p:sp>
        <p:nvSpPr>
          <p:cNvPr id="24" name="Text 17"/>
          <p:cNvSpPr txBox="1"/>
          <p:nvPr/>
        </p:nvSpPr>
        <p:spPr>
          <a:xfrm>
            <a:off x="1508760" y="5001768"/>
            <a:ext cx="4389120" cy="457200"/>
          </a:xfrm>
          <a:prstGeom prst="rect">
            <a:avLst/>
          </a:prstGeom>
          <a:noFill/>
          <a:ln/>
        </p:spPr>
        <p:txBody>
          <a:bodyPr wrap="square" lIns="0" tIns="0" rIns="0" bIns="0" rtlCol="0" anchor="t"/>
          <a:lstStyle/>
          <a:p>
            <a:pPr indent="0" marL="0">
              <a:buNone/>
            </a:pPr>
            <a:r>
              <a:rPr lang="en-US" sz="1350" dirty="0">
                <a:solidFill>
                  <a:srgbClr val="4A5568"/>
                </a:solidFill>
                <a:latin typeface="Calibri" pitchFamily="34" charset="0"/>
                <a:ea typeface="Calibri" pitchFamily="34" charset="-122"/>
                <a:cs typeface="Calibri" pitchFamily="34" charset="-120"/>
              </a:rPr>
              <a:t>SMS / email when a request is sent or accepted</a:t>
            </a:r>
            <a:endParaRPr lang="en-US" sz="1350" dirty="0"/>
          </a:p>
        </p:txBody>
      </p:sp>
      <p:sp>
        <p:nvSpPr>
          <p:cNvPr id="25" name="Shape 18"/>
          <p:cNvSpPr/>
          <p:nvPr/>
        </p:nvSpPr>
        <p:spPr>
          <a:xfrm>
            <a:off x="6172200" y="4617720"/>
            <a:ext cx="731520" cy="731520"/>
          </a:xfrm>
          <a:prstGeom prst="ellipse">
            <a:avLst/>
          </a:prstGeom>
          <a:solidFill>
            <a:srgbClr val="F2A541"/>
          </a:solidFill>
          <a:ln w="12700">
            <a:solidFill>
              <a:srgbClr val="F2A541"/>
            </a:solidFill>
            <a:prstDash val="solid"/>
          </a:ln>
        </p:spPr>
      </p:sp>
      <p:pic>
        <p:nvPicPr>
          <p:cNvPr id="26" name="Image 5" descr="preencoded.png">    </p:cNvPr>
          <p:cNvPicPr>
            <a:picLocks noChangeAspect="1"/>
          </p:cNvPicPr>
          <p:nvPr/>
        </p:nvPicPr>
        <p:blipFill>
          <a:blip r:embed="rId6"/>
          <a:stretch>
            <a:fillRect/>
          </a:stretch>
        </p:blipFill>
        <p:spPr>
          <a:xfrm>
            <a:off x="6355080" y="4800600"/>
            <a:ext cx="365760" cy="365760"/>
          </a:xfrm>
          <a:prstGeom prst="rect">
            <a:avLst/>
          </a:prstGeom>
        </p:spPr>
      </p:pic>
      <p:sp>
        <p:nvSpPr>
          <p:cNvPr id="27" name="Text 19"/>
          <p:cNvSpPr txBox="1"/>
          <p:nvPr/>
        </p:nvSpPr>
        <p:spPr>
          <a:xfrm>
            <a:off x="7132320" y="4636008"/>
            <a:ext cx="4389120" cy="365760"/>
          </a:xfrm>
          <a:prstGeom prst="rect">
            <a:avLst/>
          </a:prstGeom>
          <a:noFill/>
          <a:ln/>
        </p:spPr>
        <p:txBody>
          <a:bodyPr wrap="square" lIns="0" tIns="0" rIns="0" bIns="0" rtlCol="0" anchor="t"/>
          <a:lstStyle/>
          <a:p>
            <a:pPr indent="0" marL="0">
              <a:buNone/>
            </a:pPr>
            <a:r>
              <a:rPr lang="en-US" sz="1700" b="1" dirty="0">
                <a:solidFill>
                  <a:srgbClr val="13203A"/>
                </a:solidFill>
                <a:latin typeface="Calibri" pitchFamily="34" charset="0"/>
                <a:ea typeface="Calibri" pitchFamily="34" charset="-122"/>
                <a:cs typeface="Calibri" pitchFamily="34" charset="-120"/>
              </a:rPr>
              <a:t>Voice &amp; languages</a:t>
            </a:r>
            <a:endParaRPr lang="en-US" sz="1700" dirty="0"/>
          </a:p>
        </p:txBody>
      </p:sp>
      <p:sp>
        <p:nvSpPr>
          <p:cNvPr id="28" name="Text 20"/>
          <p:cNvSpPr txBox="1"/>
          <p:nvPr/>
        </p:nvSpPr>
        <p:spPr>
          <a:xfrm>
            <a:off x="7132320" y="5001768"/>
            <a:ext cx="4389120" cy="457200"/>
          </a:xfrm>
          <a:prstGeom prst="rect">
            <a:avLst/>
          </a:prstGeom>
          <a:noFill/>
          <a:ln/>
        </p:spPr>
        <p:txBody>
          <a:bodyPr wrap="square" lIns="0" tIns="0" rIns="0" bIns="0" rtlCol="0" anchor="t"/>
          <a:lstStyle/>
          <a:p>
            <a:pPr indent="0" marL="0">
              <a:buNone/>
            </a:pPr>
            <a:r>
              <a:rPr lang="en-US" sz="1350" dirty="0">
                <a:solidFill>
                  <a:srgbClr val="4A5568"/>
                </a:solidFill>
                <a:latin typeface="Calibri" pitchFamily="34" charset="0"/>
                <a:ea typeface="Calibri" pitchFamily="34" charset="-122"/>
                <a:cs typeface="Calibri" pitchFamily="34" charset="-120"/>
              </a:rPr>
              <a:t>Ask in Telugu or Hindi; speech input</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3203A"/>
        </a:solidFill>
      </p:bgPr>
    </p:bg>
    <p:spTree>
      <p:nvGrpSpPr>
        <p:cNvPr id="1" name=""/>
        <p:cNvGrpSpPr/>
        <p:nvPr/>
      </p:nvGrpSpPr>
      <p:grpSpPr>
        <a:xfrm>
          <a:off x="0" y="0"/>
          <a:ext cx="0" cy="0"/>
          <a:chOff x="0" y="0"/>
          <a:chExt cx="0" cy="0"/>
        </a:xfrm>
      </p:grpSpPr>
      <p:sp>
        <p:nvSpPr>
          <p:cNvPr id="2" name="Shape 0"/>
          <p:cNvSpPr/>
          <p:nvPr/>
        </p:nvSpPr>
        <p:spPr>
          <a:xfrm>
            <a:off x="548640" y="914400"/>
            <a:ext cx="914400" cy="914400"/>
          </a:xfrm>
          <a:prstGeom prst="ellipse">
            <a:avLst/>
          </a:prstGeom>
          <a:solidFill>
            <a:srgbClr val="F2A541"/>
          </a:solidFill>
          <a:ln w="12700">
            <a:solidFill>
              <a:srgbClr val="F2A541"/>
            </a:solidFill>
            <a:prstDash val="solid"/>
          </a:ln>
        </p:spPr>
      </p:sp>
      <p:pic>
        <p:nvPicPr>
          <p:cNvPr id="3" name="Image 0" descr="preencoded.png">    </p:cNvPr>
          <p:cNvPicPr>
            <a:picLocks noChangeAspect="1"/>
          </p:cNvPicPr>
          <p:nvPr/>
        </p:nvPicPr>
        <p:blipFill>
          <a:blip r:embed="rId1"/>
          <a:stretch>
            <a:fillRect/>
          </a:stretch>
        </p:blipFill>
        <p:spPr>
          <a:xfrm>
            <a:off x="777240" y="1143000"/>
            <a:ext cx="457200" cy="457200"/>
          </a:xfrm>
          <a:prstGeom prst="rect">
            <a:avLst/>
          </a:prstGeom>
        </p:spPr>
      </p:pic>
      <p:sp>
        <p:nvSpPr>
          <p:cNvPr id="4" name="Text 1"/>
          <p:cNvSpPr txBox="1"/>
          <p:nvPr/>
        </p:nvSpPr>
        <p:spPr>
          <a:xfrm>
            <a:off x="548640" y="2148840"/>
            <a:ext cx="10972800" cy="1188720"/>
          </a:xfrm>
          <a:prstGeom prst="rect">
            <a:avLst/>
          </a:prstGeom>
          <a:noFill/>
          <a:ln/>
        </p:spPr>
        <p:txBody>
          <a:bodyPr wrap="square" lIns="0" tIns="0" rIns="0" bIns="0" rtlCol="0" anchor="t"/>
          <a:lstStyle/>
          <a:p>
            <a:pPr indent="0" marL="0">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5" name="Text 2"/>
          <p:cNvSpPr txBox="1"/>
          <p:nvPr/>
        </p:nvSpPr>
        <p:spPr>
          <a:xfrm>
            <a:off x="548640" y="3337560"/>
            <a:ext cx="10972800" cy="548640"/>
          </a:xfrm>
          <a:prstGeom prst="rect">
            <a:avLst/>
          </a:prstGeom>
          <a:noFill/>
          <a:ln/>
        </p:spPr>
        <p:txBody>
          <a:bodyPr wrap="square" lIns="0" tIns="0" rIns="0" bIns="0" rtlCol="0" anchor="t"/>
          <a:lstStyle/>
          <a:p>
            <a:pPr indent="0" marL="0">
              <a:buNone/>
            </a:pPr>
            <a:r>
              <a:rPr lang="en-US" sz="2400" dirty="0">
                <a:solidFill>
                  <a:srgbClr val="B8C4D9"/>
                </a:solidFill>
                <a:latin typeface="Calibri" pitchFamily="34" charset="0"/>
                <a:ea typeface="Calibri" pitchFamily="34" charset="-122"/>
                <a:cs typeface="Calibri" pitchFamily="34" charset="-120"/>
              </a:rPr>
              <a:t>Questions and live demo</a:t>
            </a:r>
            <a:endParaRPr lang="en-US" sz="2400" dirty="0"/>
          </a:p>
        </p:txBody>
      </p:sp>
      <p:pic>
        <p:nvPicPr>
          <p:cNvPr id="6" name="Image 1" descr="preencoded.png">    </p:cNvPr>
          <p:cNvPicPr>
            <a:picLocks noChangeAspect="1"/>
          </p:cNvPicPr>
          <p:nvPr/>
        </p:nvPicPr>
        <p:blipFill>
          <a:blip r:embed="rId2"/>
          <a:stretch>
            <a:fillRect/>
          </a:stretch>
        </p:blipFill>
        <p:spPr>
          <a:xfrm>
            <a:off x="548640" y="4480560"/>
            <a:ext cx="411480" cy="411480"/>
          </a:xfrm>
          <a:prstGeom prst="rect">
            <a:avLst/>
          </a:prstGeom>
        </p:spPr>
      </p:pic>
      <p:sp>
        <p:nvSpPr>
          <p:cNvPr id="7" name="Text 3"/>
          <p:cNvSpPr txBox="1"/>
          <p:nvPr/>
        </p:nvSpPr>
        <p:spPr>
          <a:xfrm>
            <a:off x="1143000" y="4480560"/>
            <a:ext cx="10058400" cy="411480"/>
          </a:xfrm>
          <a:prstGeom prst="rect">
            <a:avLst/>
          </a:prstGeom>
          <a:noFill/>
          <a:ln/>
        </p:spPr>
        <p:txBody>
          <a:bodyPr wrap="square" lIns="0" tIns="0" rIns="0" bIns="0" rtlCol="0" anchor="ctr"/>
          <a:lstStyle/>
          <a:p>
            <a:pPr indent="0" marL="0">
              <a:buNone/>
            </a:pPr>
            <a:r>
              <a:rPr lang="en-US" sz="1600" dirty="0">
                <a:solidFill>
                  <a:srgbClr val="F2A541"/>
                </a:solidFill>
                <a:latin typeface="Courier New" pitchFamily="34" charset="0"/>
                <a:ea typeface="Courier New" pitchFamily="34" charset="-122"/>
                <a:cs typeface="Courier New" pitchFamily="34" charset="-120"/>
              </a:rPr>
              <a:t>github.com/kanakamamidiakhil/Vehicle-Driver-Mapping-System</a:t>
            </a:r>
            <a:endParaRPr lang="en-US" sz="1600" dirty="0"/>
          </a:p>
        </p:txBody>
      </p:sp>
      <p:pic>
        <p:nvPicPr>
          <p:cNvPr id="8" name="Image 2" descr="preencoded.png">    </p:cNvPr>
          <p:cNvPicPr>
            <a:picLocks noChangeAspect="1"/>
          </p:cNvPicPr>
          <p:nvPr/>
        </p:nvPicPr>
        <p:blipFill>
          <a:blip r:embed="rId3"/>
          <a:stretch>
            <a:fillRect/>
          </a:stretch>
        </p:blipFill>
        <p:spPr>
          <a:xfrm>
            <a:off x="548640" y="5074920"/>
            <a:ext cx="411480" cy="411480"/>
          </a:xfrm>
          <a:prstGeom prst="rect">
            <a:avLst/>
          </a:prstGeom>
        </p:spPr>
      </p:pic>
      <p:sp>
        <p:nvSpPr>
          <p:cNvPr id="9" name="Text 4"/>
          <p:cNvSpPr txBox="1"/>
          <p:nvPr/>
        </p:nvSpPr>
        <p:spPr>
          <a:xfrm>
            <a:off x="1143000" y="5074920"/>
            <a:ext cx="10058400" cy="411480"/>
          </a:xfrm>
          <a:prstGeom prst="rect">
            <a:avLst/>
          </a:prstGeom>
          <a:noFill/>
          <a:ln/>
        </p:spPr>
        <p:txBody>
          <a:bodyPr wrap="square" lIns="0" tIns="0" rIns="0" bIns="0" rtlCol="0" anchor="ctr"/>
          <a:lstStyle/>
          <a:p>
            <a:pPr indent="0" marL="0">
              <a:buNone/>
            </a:pPr>
            <a:r>
              <a:rPr lang="en-US" sz="1600" dirty="0">
                <a:solidFill>
                  <a:srgbClr val="F2A541"/>
                </a:solidFill>
                <a:latin typeface="Courier New" pitchFamily="34" charset="0"/>
                <a:ea typeface="Courier New" pitchFamily="34" charset="-122"/>
                <a:cs typeface="Courier New" pitchFamily="34" charset="-120"/>
              </a:rPr>
              <a:t>Live app: http://[YOUR_VM_IP]</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Vehicle Driver Mapping System</dc:title>
  <dc:subject>PptxGenJS Presentation</dc:subject>
  <dc:creator>[Your name]</dc:creator>
  <cp:lastModifiedBy>[Your name]</cp:lastModifiedBy>
  <cp:revision>1</cp:revision>
  <dcterms:created xsi:type="dcterms:W3CDTF">2026-09-23T00:30:56Z</dcterms:created>
  <dcterms:modified xsi:type="dcterms:W3CDTF">2026-09-23T00:30:56Z</dcterms:modified>
</cp:coreProperties>
</file>